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Bovine trypsin, PDB 3PTB, with benzamidine. The harness decides whether a co-folding or docking result can support a declared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Score-only verdicts use the confidence values alone, so the FtsE superposition issue does not affect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Thresholds come from the specification and configs/, each recorded with its origin.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Wild type is valid when the medoid pose lies within 2.0 Å of the deposited ligand.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FtsE fact-file values in all three runs predate the superposition fix (commit de35af7).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CDK2 1B38 chain A, ATP. Proteins superposed by CA, one camera; red marks residues cut to glycine.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metadata:title-kicker"/>
          <p:cNvSpPr txBox="1"/>
          <p:nvPr/>
        </p:nvSpPr>
        <p:spPr>
          <a:xfrm>
            <a:off x="1645920" y="1265301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110" kern="0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PREDICTION ASSURANCE HARNESS (PAH)</a:t>
            </a:r>
            <a:endParaRPr lang="en-US" sz="900" dirty="0"/>
          </a:p>
        </p:txBody>
      </p:sp>
      <p:sp>
        <p:nvSpPr>
          <p:cNvPr id="9" name="decorative:role-contract-accent:title:heading"/>
          <p:cNvSpPr/>
          <p:nvPr/>
        </p:nvSpPr>
        <p:spPr>
          <a:xfrm>
            <a:off x="1645920" y="1484757"/>
            <a:ext cx="1051560" cy="4114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0" name="slide-title:title"/>
          <p:cNvSpPr txBox="1"/>
          <p:nvPr/>
        </p:nvSpPr>
        <p:spPr>
          <a:xfrm>
            <a:off x="1645920" y="1594485"/>
            <a:ext cx="5852160" cy="1543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Dock Harness</a:t>
            </a:r>
            <a:endParaRPr lang="en-US" sz="45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549015"/>
            <a:ext cx="585216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Does this prediction support the claim?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1/11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92024"/>
            <a:ext cx="50292" cy="528320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9" name="slide-title:content"/>
          <p:cNvSpPr txBox="1"/>
          <p:nvPr/>
        </p:nvSpPr>
        <p:spPr>
          <a:xfrm>
            <a:off x="640080" y="173736"/>
            <a:ext cx="804672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Confidence scores do not validate a pose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457200" y="756920"/>
            <a:ext cx="8229600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788010"/>
            <a:ext cx="1097280" cy="2377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2" name="support:scientific:A:title"/>
          <p:cNvSpPr txBox="1"/>
          <p:nvPr/>
        </p:nvSpPr>
        <p:spPr>
          <a:xfrm>
            <a:off x="530352" y="1113536"/>
            <a:ext cx="8083296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</a:t>
            </a:r>
            <a:endParaRPr lang="en-US" sz="1300" dirty="0"/>
          </a:p>
        </p:txBody>
      </p:sp>
      <p:pic>
        <p:nvPicPr>
          <p:cNvPr id="13" name="scientific:A:image" descr="Grid of nine perturbed Boltz-2 poses: all missed on confidence score, all caught with the harness fact 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" y="1556406"/>
            <a:ext cx="8119872" cy="2021545"/>
          </a:xfrm>
          <a:prstGeom prst="rect">
            <a:avLst/>
          </a:prstGeom>
        </p:spPr>
      </p:pic>
      <p:sp>
        <p:nvSpPr>
          <p:cNvPr id="14" name="scientific:complete-readout"/>
          <p:cNvSpPr txBox="1"/>
          <p:nvPr/>
        </p:nvSpPr>
        <p:spPr>
          <a:xfrm>
            <a:off x="585216" y="3937508"/>
            <a:ext cx="7973568" cy="657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Score only: 12 of 12 perturbed Boltz-2 poses called valid. Published: about 75 ROC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AUC for poses within 2 Å (489 complexes).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bench/finding/flip.csv; bench/runs/*/report.md (4 systems x 3 runs; FtsE not shown). S2: docs/SPECIFICATION.md · Sources: S1; S2</a:t>
            </a:r>
            <a:endParaRPr lang="en-US" sz="900" dirty="0"/>
          </a:p>
        </p:txBody>
      </p:sp>
      <p:sp>
        <p:nvSpPr>
          <p:cNvPr id="17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2/11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lide-title:content"/>
          <p:cNvSpPr txBox="1"/>
          <p:nvPr/>
        </p:nvSpPr>
        <p:spPr>
          <a:xfrm>
            <a:off x="457200" y="173736"/>
            <a:ext cx="82296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Six layers; each check carries evidence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745947"/>
            <a:ext cx="2377440" cy="31090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4368" y="756920"/>
            <a:ext cx="5742432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upport:scientific:A:title"/>
          <p:cNvSpPr txBox="1"/>
          <p:nvPr/>
        </p:nvSpPr>
        <p:spPr>
          <a:xfrm>
            <a:off x="530352" y="1113536"/>
            <a:ext cx="8083296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</a:t>
            </a:r>
            <a:endParaRPr lang="en-US" sz="1300" dirty="0"/>
          </a:p>
        </p:txBody>
      </p:sp>
      <p:pic>
        <p:nvPicPr>
          <p:cNvPr id="12" name="scientific:A:image" descr="Diagram of harness layers L0 to L5 and the four check outcomes pass, warn, stop, sk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703" y="1489456"/>
            <a:ext cx="6958594" cy="30688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docs/SPECIFICATION.md; README.md · Sources: S1</a:t>
            </a:r>
            <a:endParaRPr lang="en-US" sz="900" dirty="0"/>
          </a:p>
        </p:txBody>
      </p:sp>
      <p:sp>
        <p:nvSpPr>
          <p:cNvPr id="15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3/11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lide-title:content"/>
          <p:cNvSpPr txBox="1"/>
          <p:nvPr/>
        </p:nvSpPr>
        <p:spPr>
          <a:xfrm>
            <a:off x="457200" y="173736"/>
            <a:ext cx="82296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Executors, check tools and 34 sources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745947"/>
            <a:ext cx="2377440" cy="31090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4368" y="756920"/>
            <a:ext cx="5742432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role-contract-slot:evidence:0"/>
          <p:cNvSpPr/>
          <p:nvPr/>
        </p:nvSpPr>
        <p:spPr>
          <a:xfrm>
            <a:off x="457200" y="994664"/>
            <a:ext cx="4688312" cy="2087626"/>
          </a:xfrm>
          <a:prstGeom prst="rect">
            <a:avLst/>
          </a:prstGeom>
          <a:solidFill>
            <a:srgbClr val="0B2545"/>
          </a:solidFill>
          <a:ln w="7620">
            <a:solidFill>
              <a:srgbClr val="0B2545"/>
            </a:solidFill>
            <a:prstDash val="solid"/>
          </a:ln>
        </p:spPr>
      </p:sp>
      <p:sp>
        <p:nvSpPr>
          <p:cNvPr id="12" name="evidence:0:label"/>
          <p:cNvSpPr txBox="1"/>
          <p:nvPr/>
        </p:nvSpPr>
        <p:spPr>
          <a:xfrm>
            <a:off x="530352" y="1067816"/>
            <a:ext cx="4542008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Executors</a:t>
            </a:r>
            <a:endParaRPr lang="en-US" sz="1600" dirty="0"/>
          </a:p>
        </p:txBody>
      </p:sp>
      <p:sp>
        <p:nvSpPr>
          <p:cNvPr id="13" name="evidence:0:caption"/>
          <p:cNvSpPr txBox="1"/>
          <p:nvPr/>
        </p:nvSpPr>
        <p:spPr>
          <a:xfrm>
            <a:off x="530352" y="1547368"/>
            <a:ext cx="4542008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Boltz-1/2, Chai-1, Protenix, ColabFold,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OpenFold3, Gnina, DiffDock-L on GPU hosts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(Modal); AutoDock Vina on CPU</a:t>
            </a:r>
            <a:endParaRPr lang="en-US" sz="1600" dirty="0"/>
          </a:p>
        </p:txBody>
      </p:sp>
      <p:sp>
        <p:nvSpPr>
          <p:cNvPr id="14" name="role-contract-slot:evidence:1"/>
          <p:cNvSpPr/>
          <p:nvPr/>
        </p:nvSpPr>
        <p:spPr>
          <a:xfrm>
            <a:off x="5291816" y="994664"/>
            <a:ext cx="3394984" cy="0"/>
          </a:xfrm>
          <a:prstGeom prst="line">
            <a:avLst/>
          </a:prstGeom>
          <a:noFill/>
          <a:ln w="8890">
            <a:solidFill>
              <a:srgbClr val="C9302C"/>
            </a:solidFill>
            <a:prstDash val="solid"/>
          </a:ln>
        </p:spPr>
      </p:sp>
      <p:sp>
        <p:nvSpPr>
          <p:cNvPr id="15" name="evidence:1:label"/>
          <p:cNvSpPr txBox="1"/>
          <p:nvPr/>
        </p:nvSpPr>
        <p:spPr>
          <a:xfrm>
            <a:off x="5364968" y="1067816"/>
            <a:ext cx="3248680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Checks</a:t>
            </a:r>
            <a:endParaRPr lang="en-US" sz="1600" dirty="0"/>
          </a:p>
        </p:txBody>
      </p:sp>
      <p:sp>
        <p:nvSpPr>
          <p:cNvPr id="16" name="evidence:1:caption"/>
          <p:cNvSpPr txBox="1"/>
          <p:nvPr/>
        </p:nvSpPr>
        <p:spPr>
          <a:xfrm>
            <a:off x="5364968" y="1547368"/>
            <a:ext cx="3248680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PoseBusters, RDKit, gemmi,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PLIP, FreeSASA, OpenMM,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PyMOL renders</a:t>
            </a:r>
            <a:endParaRPr lang="en-US" sz="1600" dirty="0"/>
          </a:p>
        </p:txBody>
      </p:sp>
      <p:sp>
        <p:nvSpPr>
          <p:cNvPr id="17" name="role-contract-slot:evidence:2"/>
          <p:cNvSpPr/>
          <p:nvPr/>
        </p:nvSpPr>
        <p:spPr>
          <a:xfrm>
            <a:off x="457200" y="3228594"/>
            <a:ext cx="8229600" cy="0"/>
          </a:xfrm>
          <a:prstGeom prst="line">
            <a:avLst/>
          </a:prstGeom>
          <a:noFill/>
          <a:ln w="8890">
            <a:solidFill>
              <a:srgbClr val="0B2545"/>
            </a:solidFill>
            <a:prstDash val="solid"/>
          </a:ln>
        </p:spPr>
      </p:sp>
      <p:sp>
        <p:nvSpPr>
          <p:cNvPr id="18" name="evidence:2:label"/>
          <p:cNvSpPr txBox="1"/>
          <p:nvPr/>
        </p:nvSpPr>
        <p:spPr>
          <a:xfrm>
            <a:off x="530352" y="3301746"/>
            <a:ext cx="1859158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Sources</a:t>
            </a:r>
            <a:endParaRPr lang="en-US" sz="1600" dirty="0"/>
          </a:p>
        </p:txBody>
      </p:sp>
      <p:sp>
        <p:nvSpPr>
          <p:cNvPr id="19" name="evidence:2:caption"/>
          <p:cNvSpPr txBox="1"/>
          <p:nvPr/>
        </p:nvSpPr>
        <p:spPr>
          <a:xfrm>
            <a:off x="2480950" y="3301746"/>
            <a:ext cx="6132698" cy="657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UniProt, RCSB PDB, PDBe and SIFTS, CCD, PubChem,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AlphaFold DB, ChEMBL, BindingDB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README.md; configs/sources.yaml; docs/EXECUTORS.md · Sources: S1</a:t>
            </a:r>
            <a:endParaRPr lang="en-US" sz="900" dirty="0"/>
          </a:p>
        </p:txBody>
      </p:sp>
      <p:sp>
        <p:nvSpPr>
          <p:cNvPr id="22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4/11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lide-title:content"/>
          <p:cNvSpPr txBox="1"/>
          <p:nvPr/>
        </p:nvSpPr>
        <p:spPr>
          <a:xfrm>
            <a:off x="457200" y="173736"/>
            <a:ext cx="82296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3PTB: Vina passes, Boltz-2 stops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747776"/>
            <a:ext cx="2194560" cy="27432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79776" y="756920"/>
            <a:ext cx="5907024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11" name="sidebar:figure" descr="Trypsin 3PTB with benzamidine, and Vina poses overlaid on the crystal ligand in Mol*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88402"/>
            <a:ext cx="4608576" cy="1492679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340096" y="1049528"/>
            <a:ext cx="36576" cy="133908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3" name="support:sidebar:0:title"/>
          <p:cNvSpPr txBox="1"/>
          <p:nvPr/>
        </p:nvSpPr>
        <p:spPr>
          <a:xfrm>
            <a:off x="5468112" y="1049528"/>
            <a:ext cx="3218688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Vina, 5 seeds: pass with warnings</a:t>
            </a:r>
            <a:endParaRPr lang="en-US" sz="1300" dirty="0"/>
          </a:p>
        </p:txBody>
      </p:sp>
      <p:sp>
        <p:nvSpPr>
          <p:cNvPr id="14" name="sidebar:0:body"/>
          <p:cNvSpPr txBox="1"/>
          <p:nvPr/>
        </p:nvSpPr>
        <p:spPr>
          <a:xfrm>
            <a:off x="5468112" y="1471168"/>
            <a:ext cx="3218688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PoseBusters 20/20; medoid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0.38 Å from crystal;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redocking 0.42 Å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340096" y="2516632"/>
            <a:ext cx="36576" cy="159918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6" name="support:sidebar:1:title"/>
          <p:cNvSpPr txBox="1"/>
          <p:nvPr/>
        </p:nvSpPr>
        <p:spPr>
          <a:xfrm>
            <a:off x="5468112" y="2516632"/>
            <a:ext cx="3218688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30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Boltz-2: stop</a:t>
            </a:r>
            <a:endParaRPr lang="en-US" sz="1300" dirty="0"/>
          </a:p>
        </p:txBody>
      </p:sp>
      <p:sp>
        <p:nvSpPr>
          <p:cNvPr id="17" name="sidebar:1:body"/>
          <p:cNvSpPr txBox="1"/>
          <p:nvPr/>
        </p:nvSpPr>
        <p:spPr>
          <a:xfrm>
            <a:off x="5468112" y="2938272"/>
            <a:ext cx="3218688" cy="1177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ipTM 0.962; pocket pLDDT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98.6; no redocking control;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314 pre-cutoff benzamidine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entries</a:t>
            </a:r>
            <a:endParaRPr lang="en-US" sz="1600" dirty="0"/>
          </a:p>
        </p:txBody>
      </p:sp>
      <p:sp>
        <p:nvSpPr>
          <p:cNvPr id="18" name="metadata:sidebar:caption"/>
          <p:cNvSpPr txBox="1"/>
          <p:nvPr/>
        </p:nvSpPr>
        <p:spPr>
          <a:xfrm>
            <a:off x="457200" y="4384548"/>
            <a:ext cx="8229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Trypsin (P00760) with benzamidine (CCD BEN).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README.md, Examples (examples/3ptb_vina, examples/3ptb_boltz2) · Sources: S1</a:t>
            </a:r>
            <a:endParaRPr lang="en-US" sz="900" dirty="0"/>
          </a:p>
        </p:txBody>
      </p:sp>
      <p:sp>
        <p:nvSpPr>
          <p:cNvPr id="21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5/11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lide-title:content"/>
          <p:cNvSpPr txBox="1"/>
          <p:nvPr/>
        </p:nvSpPr>
        <p:spPr>
          <a:xfrm>
            <a:off x="457200" y="173736"/>
            <a:ext cx="82296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run writes a report, graph and figures</a:t>
            </a:r>
            <a:endParaRPr lang="en-US" sz="2800" dirty="0"/>
          </a:p>
        </p:txBody>
      </p:sp>
      <p:sp>
        <p:nvSpPr>
          <p:cNvPr id="9" name="support:scientific:A:title"/>
          <p:cNvSpPr txBox="1"/>
          <p:nvPr/>
        </p:nvSpPr>
        <p:spPr>
          <a:xfrm>
            <a:off x="530352" y="1113536"/>
            <a:ext cx="8083296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</a:t>
            </a:r>
            <a:endParaRPr lang="en-US" sz="1300" dirty="0"/>
          </a:p>
        </p:txBody>
      </p:sp>
      <p:pic>
        <p:nvPicPr>
          <p:cNvPr id="10" name="scientific:A:image" descr="Provenance graph, PoseBusters grid and interaction heatmap for the CDK2 perturbed Boltz-2 ru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4361" y="1489456"/>
            <a:ext cx="5195279" cy="2415540"/>
          </a:xfrm>
          <a:prstGeom prst="rect">
            <a:avLst/>
          </a:prstGeom>
        </p:spPr>
      </p:pic>
      <p:sp>
        <p:nvSpPr>
          <p:cNvPr id="11" name="scientific:complete-readout"/>
          <p:cNvSpPr txBox="1"/>
          <p:nvPr/>
        </p:nvSpPr>
        <p:spPr>
          <a:xfrm>
            <a:off x="585216" y="4197604"/>
            <a:ext cx="7973568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Also written: report.html, record.json, provenance.json, PyMOL renders.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bench/runs/2026-10-17T1859Z-849c856/harness/cdk2_pert_boltz2/run/ (CDK2 perturbed, Boltz-2) · Sources: S1</a:t>
            </a:r>
            <a:endParaRPr lang="en-US" sz="900" dirty="0"/>
          </a:p>
        </p:txBody>
      </p:sp>
      <p:sp>
        <p:nvSpPr>
          <p:cNvPr id="14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6/11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lide-title:content"/>
          <p:cNvSpPr txBox="1"/>
          <p:nvPr/>
        </p:nvSpPr>
        <p:spPr>
          <a:xfrm>
            <a:off x="457200" y="173736"/>
            <a:ext cx="82296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Benchmark: remove the pocket, ask an agent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756920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724916"/>
            <a:ext cx="777240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250696"/>
            <a:ext cx="1879092" cy="2420112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</p:sp>
      <p:sp>
        <p:nvSpPr>
          <p:cNvPr id="12" name="metadata:flow-0-index"/>
          <p:cNvSpPr txBox="1"/>
          <p:nvPr/>
        </p:nvSpPr>
        <p:spPr>
          <a:xfrm>
            <a:off x="585216" y="1332992"/>
            <a:ext cx="16230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flow:0:title"/>
          <p:cNvSpPr txBox="1"/>
          <p:nvPr/>
        </p:nvSpPr>
        <p:spPr>
          <a:xfrm>
            <a:off x="585216" y="1616456"/>
            <a:ext cx="1623060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Perturb</a:t>
            </a:r>
            <a:endParaRPr lang="en-US" sz="1600" dirty="0"/>
          </a:p>
        </p:txBody>
      </p:sp>
      <p:sp>
        <p:nvSpPr>
          <p:cNvPr id="14" name="flow:0:detail"/>
          <p:cNvSpPr txBox="1"/>
          <p:nvPr/>
        </p:nvSpPr>
        <p:spPr>
          <a:xfrm>
            <a:off x="585216" y="2141728"/>
            <a:ext cx="1623060" cy="143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Pocket to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glycine, or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glucose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hydroxyls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methylated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372868" y="2460752"/>
            <a:ext cx="164592" cy="0"/>
          </a:xfrm>
          <a:prstGeom prst="line">
            <a:avLst/>
          </a:prstGeom>
          <a:noFill/>
          <a:ln w="11430">
            <a:solidFill>
              <a:srgbClr val="4B556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574036" y="1250696"/>
            <a:ext cx="1879092" cy="2420112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</p:sp>
      <p:sp>
        <p:nvSpPr>
          <p:cNvPr id="17" name="metadata:flow-1-index"/>
          <p:cNvSpPr txBox="1"/>
          <p:nvPr/>
        </p:nvSpPr>
        <p:spPr>
          <a:xfrm>
            <a:off x="2702052" y="1332992"/>
            <a:ext cx="16230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00" dirty="0"/>
          </a:p>
        </p:txBody>
      </p:sp>
      <p:sp>
        <p:nvSpPr>
          <p:cNvPr id="18" name="flow:1:title"/>
          <p:cNvSpPr txBox="1"/>
          <p:nvPr/>
        </p:nvSpPr>
        <p:spPr>
          <a:xfrm>
            <a:off x="2702052" y="1616456"/>
            <a:ext cx="1623060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Predict</a:t>
            </a:r>
            <a:endParaRPr lang="en-US" sz="1600" dirty="0"/>
          </a:p>
        </p:txBody>
      </p:sp>
      <p:sp>
        <p:nvSpPr>
          <p:cNvPr id="19" name="flow:1:detail"/>
          <p:cNvSpPr txBox="1"/>
          <p:nvPr/>
        </p:nvSpPr>
        <p:spPr>
          <a:xfrm>
            <a:off x="2702052" y="2141728"/>
            <a:ext cx="1623060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Boltz-2,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DiffDock-L;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seeds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489704" y="2460752"/>
            <a:ext cx="164592" cy="0"/>
          </a:xfrm>
          <a:prstGeom prst="line">
            <a:avLst/>
          </a:prstGeom>
          <a:noFill/>
          <a:ln w="11430">
            <a:solidFill>
              <a:srgbClr val="4B5563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690872" y="1250696"/>
            <a:ext cx="1879092" cy="2420112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</p:sp>
      <p:sp>
        <p:nvSpPr>
          <p:cNvPr id="22" name="metadata:flow-2-index"/>
          <p:cNvSpPr txBox="1"/>
          <p:nvPr/>
        </p:nvSpPr>
        <p:spPr>
          <a:xfrm>
            <a:off x="4818888" y="1332992"/>
            <a:ext cx="16230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00" dirty="0"/>
          </a:p>
        </p:txBody>
      </p:sp>
      <p:sp>
        <p:nvSpPr>
          <p:cNvPr id="23" name="flow:2:title"/>
          <p:cNvSpPr txBox="1"/>
          <p:nvPr/>
        </p:nvSpPr>
        <p:spPr>
          <a:xfrm>
            <a:off x="4818888" y="1616456"/>
            <a:ext cx="1623060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Check</a:t>
            </a:r>
            <a:endParaRPr lang="en-US" sz="1600" dirty="0"/>
          </a:p>
        </p:txBody>
      </p:sp>
      <p:sp>
        <p:nvSpPr>
          <p:cNvPr id="24" name="flow:2:detail"/>
          <p:cNvSpPr txBox="1"/>
          <p:nvPr/>
        </p:nvSpPr>
        <p:spPr>
          <a:xfrm>
            <a:off x="4818888" y="2141728"/>
            <a:ext cx="1623060" cy="657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Fact file per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prediction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606540" y="2460752"/>
            <a:ext cx="164592" cy="0"/>
          </a:xfrm>
          <a:prstGeom prst="line">
            <a:avLst/>
          </a:prstGeom>
          <a:noFill/>
          <a:ln w="11430">
            <a:solidFill>
              <a:srgbClr val="4B5563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807708" y="1250696"/>
            <a:ext cx="1879092" cy="2420112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</p:sp>
      <p:sp>
        <p:nvSpPr>
          <p:cNvPr id="27" name="metadata:flow-3-index"/>
          <p:cNvSpPr txBox="1"/>
          <p:nvPr/>
        </p:nvSpPr>
        <p:spPr>
          <a:xfrm>
            <a:off x="6935724" y="1332992"/>
            <a:ext cx="16230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900" dirty="0"/>
          </a:p>
        </p:txBody>
      </p:sp>
      <p:sp>
        <p:nvSpPr>
          <p:cNvPr id="28" name="flow:3:title"/>
          <p:cNvSpPr txBox="1"/>
          <p:nvPr/>
        </p:nvSpPr>
        <p:spPr>
          <a:xfrm>
            <a:off x="6935724" y="1616456"/>
            <a:ext cx="1623060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Judge</a:t>
            </a:r>
            <a:endParaRPr lang="en-US" sz="1600" dirty="0"/>
          </a:p>
        </p:txBody>
      </p:sp>
      <p:sp>
        <p:nvSpPr>
          <p:cNvPr id="29" name="flow:3:detail"/>
          <p:cNvSpPr txBox="1"/>
          <p:nvPr/>
        </p:nvSpPr>
        <p:spPr>
          <a:xfrm>
            <a:off x="6935724" y="2141728"/>
            <a:ext cx="1623060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LLM agent: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score only, or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fact file</a:t>
            </a:r>
            <a:endParaRPr lang="en-US" sz="1600" dirty="0"/>
          </a:p>
        </p:txBody>
      </p:sp>
      <p:sp>
        <p:nvSpPr>
          <p:cNvPr id="30" name="caption:flow"/>
          <p:cNvSpPr txBox="1"/>
          <p:nvPr/>
        </p:nvSpPr>
        <p:spPr>
          <a:xfrm>
            <a:off x="457200" y="4293108"/>
            <a:ext cx="8229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FtsE 8X61, CDK2 1B38, MEK1 7XLP, glucose DH 2VWH; 16 predictions per run, 3 runs. Perturbed counts as invalid.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bench/README.md; bench/runs/2026-10-17T1859Z-849c856/report.md · Sources: S1</a:t>
            </a:r>
            <a:endParaRPr lang="en-US" sz="900" dirty="0"/>
          </a:p>
        </p:txBody>
      </p:sp>
      <p:sp>
        <p:nvSpPr>
          <p:cNvPr id="33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7/11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lide-title:content"/>
          <p:cNvSpPr txBox="1"/>
          <p:nvPr/>
        </p:nvSpPr>
        <p:spPr>
          <a:xfrm>
            <a:off x="457200" y="173736"/>
            <a:ext cx="8229600" cy="983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Balanced accuracy: 0.50 score only, 0.75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fact file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1212088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180084"/>
            <a:ext cx="777240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1" name="support:scientific:A:title"/>
          <p:cNvSpPr txBox="1"/>
          <p:nvPr/>
        </p:nvSpPr>
        <p:spPr>
          <a:xfrm>
            <a:off x="530352" y="1568704"/>
            <a:ext cx="8083296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</a:t>
            </a:r>
            <a:endParaRPr lang="en-US" sz="1300" dirty="0"/>
          </a:p>
        </p:txBody>
      </p:sp>
      <p:pic>
        <p:nvPicPr>
          <p:cNvPr id="12" name="scientific:A:image" descr="Balanced accuracy by arm with 95% intervals, and pooled confusion matri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4604" y="1944624"/>
            <a:ext cx="5834791" cy="1700276"/>
          </a:xfrm>
          <a:prstGeom prst="rect">
            <a:avLst/>
          </a:prstGeom>
        </p:spPr>
      </p:pic>
      <p:sp>
        <p:nvSpPr>
          <p:cNvPr id="13" name="scientific:complete-readout"/>
          <p:cNvSpPr txBox="1"/>
          <p:nvPr/>
        </p:nvSpPr>
        <p:spPr>
          <a:xfrm>
            <a:off x="585216" y="3937508"/>
            <a:ext cx="7973568" cy="657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Fact file 95% CI 0.50 to 1.0, McNemar p = 0.125: no interval excludes 0.5. It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rejected 12 of 12 perturbed Boltz-2 poses and valid high-strain DiffDock-L poses.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bench/runs/2026-10-17T1859Z-849c856/report.md; 12 of 12 adds runs 1611Z, 1752Z · Sources: S1</a:t>
            </a:r>
            <a:endParaRPr lang="en-US" sz="900" dirty="0"/>
          </a:p>
        </p:txBody>
      </p:sp>
      <p:sp>
        <p:nvSpPr>
          <p:cNvPr id="16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8/11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lide-title:content"/>
          <p:cNvSpPr txBox="1"/>
          <p:nvPr/>
        </p:nvSpPr>
        <p:spPr>
          <a:xfrm>
            <a:off x="457200" y="173736"/>
            <a:ext cx="82296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CDK2: confidence holds after pocket removal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745947"/>
            <a:ext cx="2377440" cy="31090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4368" y="756920"/>
            <a:ext cx="5742432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upport:scientific:A:title"/>
          <p:cNvSpPr txBox="1"/>
          <p:nvPr/>
        </p:nvSpPr>
        <p:spPr>
          <a:xfrm>
            <a:off x="530352" y="1113536"/>
            <a:ext cx="8083296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</a:t>
            </a:r>
            <a:endParaRPr lang="en-US" sz="1300" dirty="0"/>
          </a:p>
        </p:txBody>
      </p:sp>
      <p:pic>
        <p:nvPicPr>
          <p:cNvPr id="12" name="scientific:A:image" descr="CDK2 Boltz-2 poses, wild type and with pocket residues cut to glyc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3484" y="1489456"/>
            <a:ext cx="5157032" cy="2415540"/>
          </a:xfrm>
          <a:prstGeom prst="rect">
            <a:avLst/>
          </a:prstGeom>
        </p:spPr>
      </p:pic>
      <p:sp>
        <p:nvSpPr>
          <p:cNvPr id="13" name="scientific:complete-readout"/>
          <p:cNvSpPr txBox="1"/>
          <p:nvPr/>
        </p:nvSpPr>
        <p:spPr>
          <a:xfrm>
            <a:off x="585216" y="4197604"/>
            <a:ext cx="7973568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Perturbed: PoseBusters 20/20, 2.39 Å off. Score only: valid; fact file: invalid.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bench/finding/values.csv, panels/ (run 2026-10-17T1611Z-426bfe9) · Sources: S1</a:t>
            </a:r>
            <a:endParaRPr lang="en-US" sz="900" dirty="0"/>
          </a:p>
        </p:txBody>
      </p:sp>
      <p:sp>
        <p:nvSpPr>
          <p:cNvPr id="16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9/11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92024"/>
            <a:ext cx="50292" cy="528320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9" name="slide-title:content"/>
          <p:cNvSpPr txBox="1"/>
          <p:nvPr/>
        </p:nvSpPr>
        <p:spPr>
          <a:xfrm>
            <a:off x="640080" y="173736"/>
            <a:ext cx="804672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Tests and interfaces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457200" y="756920"/>
            <a:ext cx="8229600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788010"/>
            <a:ext cx="1097280" cy="2377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2" name="role-contract-slot:evidence:0"/>
          <p:cNvSpPr/>
          <p:nvPr/>
        </p:nvSpPr>
        <p:spPr>
          <a:xfrm>
            <a:off x="457200" y="994664"/>
            <a:ext cx="4041648" cy="1750314"/>
          </a:xfrm>
          <a:prstGeom prst="rect">
            <a:avLst/>
          </a:prstGeom>
          <a:solidFill>
            <a:srgbClr val="0B2545"/>
          </a:solidFill>
          <a:ln w="7620">
            <a:solidFill>
              <a:srgbClr val="0B2545"/>
            </a:solidFill>
            <a:prstDash val="solid"/>
          </a:ln>
        </p:spPr>
      </p:sp>
      <p:sp>
        <p:nvSpPr>
          <p:cNvPr id="13" name="evidence:0:value"/>
          <p:cNvSpPr txBox="1"/>
          <p:nvPr/>
        </p:nvSpPr>
        <p:spPr>
          <a:xfrm>
            <a:off x="530352" y="1067816"/>
            <a:ext cx="850180" cy="657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394</a:t>
            </a:r>
            <a:endParaRPr lang="en-US" sz="3200" dirty="0"/>
          </a:p>
        </p:txBody>
      </p:sp>
      <p:sp>
        <p:nvSpPr>
          <p:cNvPr id="14" name="evidence:0:label"/>
          <p:cNvSpPr txBox="1"/>
          <p:nvPr/>
        </p:nvSpPr>
        <p:spPr>
          <a:xfrm>
            <a:off x="1435396" y="1067816"/>
            <a:ext cx="2990300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Python test functions</a:t>
            </a:r>
            <a:endParaRPr lang="en-US" sz="1600" dirty="0"/>
          </a:p>
        </p:txBody>
      </p:sp>
      <p:sp>
        <p:nvSpPr>
          <p:cNvPr id="15" name="evidence:0:caption"/>
          <p:cNvSpPr txBox="1"/>
          <p:nvPr/>
        </p:nvSpPr>
        <p:spPr>
          <a:xfrm>
            <a:off x="530352" y="1807464"/>
            <a:ext cx="3895344" cy="657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network; recorded source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responses</a:t>
            </a:r>
            <a:endParaRPr lang="en-US" sz="1600" dirty="0"/>
          </a:p>
        </p:txBody>
      </p:sp>
      <p:sp>
        <p:nvSpPr>
          <p:cNvPr id="16" name="role-contract-slot:evidence:1"/>
          <p:cNvSpPr/>
          <p:nvPr/>
        </p:nvSpPr>
        <p:spPr>
          <a:xfrm>
            <a:off x="4645152" y="994664"/>
            <a:ext cx="4041648" cy="0"/>
          </a:xfrm>
          <a:prstGeom prst="line">
            <a:avLst/>
          </a:prstGeom>
          <a:noFill/>
          <a:ln w="8890">
            <a:solidFill>
              <a:srgbClr val="C9302C"/>
            </a:solidFill>
            <a:prstDash val="solid"/>
          </a:ln>
        </p:spPr>
      </p:sp>
      <p:sp>
        <p:nvSpPr>
          <p:cNvPr id="17" name="evidence:1:value"/>
          <p:cNvSpPr txBox="1"/>
          <p:nvPr/>
        </p:nvSpPr>
        <p:spPr>
          <a:xfrm>
            <a:off x="4718304" y="1067816"/>
            <a:ext cx="660495" cy="527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C930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221</a:t>
            </a:r>
            <a:endParaRPr lang="en-US" sz="2400" dirty="0"/>
          </a:p>
        </p:txBody>
      </p:sp>
      <p:sp>
        <p:nvSpPr>
          <p:cNvPr id="18" name="evidence:1:label"/>
          <p:cNvSpPr txBox="1"/>
          <p:nvPr/>
        </p:nvSpPr>
        <p:spPr>
          <a:xfrm>
            <a:off x="5433663" y="1067816"/>
            <a:ext cx="3179985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Web UI tests</a:t>
            </a:r>
            <a:endParaRPr lang="en-US" sz="1600" dirty="0"/>
          </a:p>
        </p:txBody>
      </p:sp>
      <p:sp>
        <p:nvSpPr>
          <p:cNvPr id="19" name="evidence:1:caption"/>
          <p:cNvSpPr txBox="1"/>
          <p:nvPr/>
        </p:nvSpPr>
        <p:spPr>
          <a:xfrm>
            <a:off x="4718304" y="1677416"/>
            <a:ext cx="3895344" cy="657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Next.js port of the design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prototype</a:t>
            </a:r>
            <a:endParaRPr lang="en-US" sz="1600" dirty="0"/>
          </a:p>
        </p:txBody>
      </p:sp>
      <p:sp>
        <p:nvSpPr>
          <p:cNvPr id="20" name="role-contract-slot:evidence:2"/>
          <p:cNvSpPr/>
          <p:nvPr/>
        </p:nvSpPr>
        <p:spPr>
          <a:xfrm>
            <a:off x="457200" y="2891282"/>
            <a:ext cx="3394984" cy="0"/>
          </a:xfrm>
          <a:prstGeom prst="line">
            <a:avLst/>
          </a:prstGeom>
          <a:noFill/>
          <a:ln w="8890">
            <a:solidFill>
              <a:srgbClr val="0B2545"/>
            </a:solidFill>
            <a:prstDash val="solid"/>
          </a:ln>
        </p:spPr>
      </p:sp>
      <p:sp>
        <p:nvSpPr>
          <p:cNvPr id="21" name="evidence:2:value"/>
          <p:cNvSpPr txBox="1"/>
          <p:nvPr/>
        </p:nvSpPr>
        <p:spPr>
          <a:xfrm>
            <a:off x="530352" y="2964434"/>
            <a:ext cx="281125" cy="527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</a:t>
            </a:r>
            <a:endParaRPr lang="en-US" sz="2400" dirty="0"/>
          </a:p>
        </p:txBody>
      </p:sp>
      <p:sp>
        <p:nvSpPr>
          <p:cNvPr id="22" name="evidence:2:label"/>
          <p:cNvSpPr txBox="1"/>
          <p:nvPr/>
        </p:nvSpPr>
        <p:spPr>
          <a:xfrm>
            <a:off x="866341" y="2964434"/>
            <a:ext cx="2912691" cy="657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Of 7 planted input faults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stopped</a:t>
            </a:r>
            <a:endParaRPr lang="en-US" sz="1600" dirty="0"/>
          </a:p>
        </p:txBody>
      </p:sp>
      <p:sp>
        <p:nvSpPr>
          <p:cNvPr id="23" name="evidence:2:caption"/>
          <p:cNvSpPr txBox="1"/>
          <p:nvPr/>
        </p:nvSpPr>
        <p:spPr>
          <a:xfrm>
            <a:off x="530352" y="3704082"/>
            <a:ext cx="3248680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examples/3ptb_faulty_inputs</a:t>
            </a:r>
            <a:endParaRPr lang="en-US" sz="1600" dirty="0"/>
          </a:p>
        </p:txBody>
      </p:sp>
      <p:sp>
        <p:nvSpPr>
          <p:cNvPr id="24" name="role-contract-slot:evidence:3"/>
          <p:cNvSpPr/>
          <p:nvPr/>
        </p:nvSpPr>
        <p:spPr>
          <a:xfrm>
            <a:off x="3998488" y="2891282"/>
            <a:ext cx="4688312" cy="0"/>
          </a:xfrm>
          <a:prstGeom prst="line">
            <a:avLst/>
          </a:prstGeom>
          <a:noFill/>
          <a:ln w="8890">
            <a:solidFill>
              <a:srgbClr val="C9302C"/>
            </a:solidFill>
            <a:prstDash val="solid"/>
          </a:ln>
        </p:spPr>
      </p:sp>
      <p:sp>
        <p:nvSpPr>
          <p:cNvPr id="25" name="evidence:3:value"/>
          <p:cNvSpPr txBox="1"/>
          <p:nvPr/>
        </p:nvSpPr>
        <p:spPr>
          <a:xfrm>
            <a:off x="4071640" y="2964434"/>
            <a:ext cx="470810" cy="527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C930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68</a:t>
            </a:r>
            <a:endParaRPr lang="en-US" sz="2400" dirty="0"/>
          </a:p>
        </p:txBody>
      </p:sp>
      <p:sp>
        <p:nvSpPr>
          <p:cNvPr id="26" name="evidence:3:label"/>
          <p:cNvSpPr txBox="1"/>
          <p:nvPr/>
        </p:nvSpPr>
        <p:spPr>
          <a:xfrm>
            <a:off x="4597314" y="2964434"/>
            <a:ext cx="4016334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Registered checks, layers 2 to 5</a:t>
            </a:r>
            <a:endParaRPr lang="en-US" sz="1600" dirty="0"/>
          </a:p>
        </p:txBody>
      </p:sp>
      <p:sp>
        <p:nvSpPr>
          <p:cNvPr id="27" name="evidence:3:caption"/>
          <p:cNvSpPr txBox="1"/>
          <p:nvPr/>
        </p:nvSpPr>
        <p:spPr>
          <a:xfrm>
            <a:off x="4071640" y="3574034"/>
            <a:ext cx="4542008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threshold with an origin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README.md; tests/; web/ test files · Sources: S1</a:t>
            </a:r>
            <a:endParaRPr lang="en-US" sz="900" dirty="0"/>
          </a:p>
        </p:txBody>
      </p:sp>
      <p:sp>
        <p:nvSpPr>
          <p:cNvPr id="30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10/11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92024"/>
            <a:ext cx="50292" cy="983488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9" name="slide-title:content"/>
          <p:cNvSpPr txBox="1"/>
          <p:nvPr/>
        </p:nvSpPr>
        <p:spPr>
          <a:xfrm>
            <a:off x="640080" y="173736"/>
            <a:ext cx="8046720" cy="983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number traceable to a check, a tool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 a source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457200" y="1212088"/>
            <a:ext cx="8229600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243178"/>
            <a:ext cx="1097280" cy="2377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2" name="support:scientific:A:title"/>
          <p:cNvSpPr txBox="1"/>
          <p:nvPr/>
        </p:nvSpPr>
        <p:spPr>
          <a:xfrm>
            <a:off x="530352" y="1568704"/>
            <a:ext cx="8083296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</a:t>
            </a:r>
            <a:endParaRPr lang="en-US" sz="1300" dirty="0"/>
          </a:p>
        </p:txBody>
      </p:sp>
      <p:pic>
        <p:nvPicPr>
          <p:cNvPr id="13" name="scientific:A:image" descr="Ground truth, score-only and fact-file decisions for each of 16 predictions in run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1859" y="1944624"/>
            <a:ext cx="5980281" cy="1700276"/>
          </a:xfrm>
          <a:prstGeom prst="rect">
            <a:avLst/>
          </a:prstGeom>
        </p:spPr>
      </p:pic>
      <p:sp>
        <p:nvSpPr>
          <p:cNvPr id="14" name="scientific:complete-readout"/>
          <p:cNvSpPr txBox="1"/>
          <p:nvPr/>
        </p:nvSpPr>
        <p:spPr>
          <a:xfrm>
            <a:off x="585216" y="3937508"/>
            <a:ext cx="7973568" cy="657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Limits: 16 predictions per run; read as a demonstration, since no interval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excludes 0.5.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bench/runs/2026-10-17T1859Z-849c856/results/figures/decisions.csv · Sources: S1</a:t>
            </a:r>
            <a:endParaRPr lang="en-US" sz="900" dirty="0"/>
          </a:p>
        </p:txBody>
      </p:sp>
      <p:sp>
        <p:nvSpPr>
          <p:cNvPr id="17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11/11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Dock Harness</dc:title>
  <dc:subject/>
  <dc:creator>Presentation Team</dc:creator>
  <cp:lastModifiedBy>Presentation Team</cp:lastModifiedBy>
  <cp:revision>1</cp:revision>
  <dcterms:created xsi:type="dcterms:W3CDTF">2026-10-18T00:19:02Z</dcterms:created>
  <dcterms:modified xsi:type="dcterms:W3CDTF">2026-10-18T00:19:02Z</dcterms:modified>
</cp:coreProperties>
</file>