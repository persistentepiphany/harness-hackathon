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harness decides whether a co-folding or docking result can support a declared claim. Example system throughout: bovine trypsin, PDB 3PTB, with benzamidine.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Columns: CDK2 1B38, FtsE 8X61, MEK1 7XLP, glucose dehydrogenase 2VWH. Rows: runs 1 to 3. Red spheres mark pocket residues cut to glycine; glucose dehydrogenase has its ligand hydroxyls methylated instead. Without the harness means the agent saw only ligand ipTM and pocket pLDDT; with the harness it saw the fact file. Published AUC: AlphaFold3 ligand pLDDT, 489 Mac1 complexes.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come from the specification and configs/, each recorded with its origin.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OpenFold3 runs as the openfold3 runtime (configs/runtimes.yaml). AlphaFold3 weights are issued on request, so its outputs are checked, not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Wild type is valid when the medoid pose lies within 2.0 Å of the deposited ligand.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3 values: balanced_accuracy.csv and report.md line 67 (McNemar exact p 0.125). Runs 1 and 2 fact-file balanced accuracy 0.533 and 0.583 (their report.md line 67). FtsE fact-file values in all three runs predate the superposition fix (commit de35af7).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CDK2 1B38 chain A, ATP, run 2026-10-17T1611Z-426bfe9. RMSD is the perturbed medoid to the deposited ATP (report.md line 17). Proteins superposed by CA, one camera; red marks residues cut to glycine.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metadata:title-kicker"/>
          <p:cNvSpPr txBox="1"/>
          <p:nvPr/>
        </p:nvSpPr>
        <p:spPr>
          <a:xfrm>
            <a:off x="1645920" y="1265301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PREDICTION ASSURANCE HARNESS (PAH)</a:t>
            </a:r>
            <a:endParaRPr lang="en-US" sz="900" dirty="0"/>
          </a:p>
        </p:txBody>
      </p:sp>
      <p:sp>
        <p:nvSpPr>
          <p:cNvPr id="9" name="decorative:role-contract-accent:title:heading"/>
          <p:cNvSpPr/>
          <p:nvPr/>
        </p:nvSpPr>
        <p:spPr>
          <a:xfrm>
            <a:off x="1645920" y="1484757"/>
            <a:ext cx="1051560" cy="411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slide-title:title"/>
          <p:cNvSpPr txBox="1"/>
          <p:nvPr/>
        </p:nvSpPr>
        <p:spPr>
          <a:xfrm>
            <a:off x="1645920" y="1594485"/>
            <a:ext cx="58521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Dock Harness</a:t>
            </a:r>
            <a:endParaRPr lang="en-US" sz="4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549015"/>
            <a:ext cx="5852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Does this prediction support the claim?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1/15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perturbed poses: valid on confidence,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rejected with the harness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02944"/>
            <a:ext cx="448056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5776" y="1212088"/>
            <a:ext cx="362102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1" name="sidebar:figure" descr="Grid of 12 PyMOL renders of perturbed Boltz-2 poses, 4 systems by 3 runs, each labelled with ligand ipTM and pocket pLDD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97" y="1504696"/>
            <a:ext cx="3982381" cy="27152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40096" y="1504696"/>
            <a:ext cx="36576" cy="133908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support:sidebar:0:title"/>
          <p:cNvSpPr txBox="1"/>
          <p:nvPr/>
        </p:nvSpPr>
        <p:spPr>
          <a:xfrm>
            <a:off x="5468112" y="1504696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Without the harness: valid</a:t>
            </a:r>
            <a:endParaRPr lang="en-US" sz="1300" dirty="0"/>
          </a:p>
        </p:txBody>
      </p:sp>
      <p:sp>
        <p:nvSpPr>
          <p:cNvPr id="14" name="sidebar:0:body"/>
          <p:cNvSpPr txBox="1"/>
          <p:nvPr/>
        </p:nvSpPr>
        <p:spPr>
          <a:xfrm>
            <a:off x="5468112" y="1926336"/>
            <a:ext cx="3218688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given ligand ipTM and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pocket pLDDT called 12 of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valid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40096" y="2971800"/>
            <a:ext cx="36576" cy="107899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6" name="support:sidebar:1:title"/>
          <p:cNvSpPr txBox="1"/>
          <p:nvPr/>
        </p:nvSpPr>
        <p:spPr>
          <a:xfrm>
            <a:off x="5468112" y="2971800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the harness: rejected</a:t>
            </a:r>
            <a:endParaRPr lang="en-US" sz="1300" dirty="0"/>
          </a:p>
        </p:txBody>
      </p:sp>
      <p:sp>
        <p:nvSpPr>
          <p:cNvPr id="17" name="sidebar:1:body"/>
          <p:cNvSpPr txBox="1"/>
          <p:nvPr/>
        </p:nvSpPr>
        <p:spPr>
          <a:xfrm>
            <a:off x="5468112" y="3393440"/>
            <a:ext cx="3218688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agent given the fact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file rejected 12 of 12</a:t>
            </a:r>
            <a:endParaRPr lang="en-US" sz="1600" dirty="0"/>
          </a:p>
        </p:txBody>
      </p:sp>
      <p:sp>
        <p:nvSpPr>
          <p:cNvPr id="18" name="metadata:sidebar:caption"/>
          <p:cNvSpPr txBox="1"/>
          <p:nvPr/>
        </p:nvSpPr>
        <p:spPr>
          <a:xfrm>
            <a:off x="457200" y="438454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Boltz-2, pocket removed; PyMOL renders [R16]. Best published confidence ROC AUC: 0.756 for poses within 2 Å [R2].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media/figures/twelve/twelve.json; bench/runs/*/report.md. S2: Kim et al. 2026 [R2]. Refs: R4, R16, R23–R26 · Sources: S1; S2</a:t>
            </a:r>
            <a:endParaRPr lang="en-US" sz="900" dirty="0"/>
          </a:p>
        </p:txBody>
      </p:sp>
      <p:sp>
        <p:nvSpPr>
          <p:cNvPr id="2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layers; each check carries evidence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5947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756920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upport:scientific:A:title"/>
          <p:cNvSpPr txBox="1"/>
          <p:nvPr/>
        </p:nvSpPr>
        <p:spPr>
          <a:xfrm>
            <a:off x="530352" y="1113536"/>
            <a:ext cx="80832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300" dirty="0"/>
          </a:p>
        </p:txBody>
      </p:sp>
      <p:pic>
        <p:nvPicPr>
          <p:cNvPr id="12" name="scientific:A:image" descr="Diagram of harness layers L0 to L5 and the four check outcomes pass, warn, stop, sk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857" y="1489456"/>
            <a:ext cx="6862287" cy="30688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docs/SPECIFICATION.md; README.md. Diagram: media/deck/make_layers.py · Sources: S1</a:t>
            </a:r>
            <a:endParaRPr lang="en-US" sz="900" dirty="0"/>
          </a:p>
        </p:txBody>
      </p:sp>
      <p:sp>
        <p:nvSpPr>
          <p:cNvPr id="15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 it runs and checks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5947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756920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metadata:table-index-label"/>
          <p:cNvSpPr txBox="1"/>
          <p:nvPr/>
        </p:nvSpPr>
        <p:spPr>
          <a:xfrm>
            <a:off x="566928" y="1159256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2" name="metadata:table-index-detail"/>
          <p:cNvSpPr txBox="1"/>
          <p:nvPr/>
        </p:nvSpPr>
        <p:spPr>
          <a:xfrm>
            <a:off x="1645920" y="1159256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rows | Models | Harness role</a:t>
            </a:r>
            <a:endParaRPr lang="en-US" sz="900" dirty="0"/>
          </a:p>
        </p:txBody>
      </p:sp>
      <p:graphicFrame>
        <p:nvGraphicFramePr>
          <p:cNvPr id="5" name="Editable table: Models it runs and check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7312"/>
          <a:ext cx="8229600" cy="2629408"/>
        </p:xfrm>
        <a:graphic>
          <a:graphicData uri="http://schemas.openxmlformats.org/drawingml/2006/table">
            <a:tbl>
              <a:tblPr/>
              <a:tblGrid>
                <a:gridCol w="4250538"/>
                <a:gridCol w="3979062"/>
              </a:tblGrid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Models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Harness role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Boltz-1, Boltz-2, Chai-1, Protenix, ColabFold (AlphaFold2), OpenFold3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Runs on Modal A100 GPUs, then checks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DiffDock-L, Gnina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Runs on Modal A100 GPUs, then checks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AutoDock Vina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Runs on CPU, then checks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AlphaFold3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Checks outputs supplied by the user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HADDOCK3, pyDock (protein–protein)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Checks outputs supplied by the user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metadata:table-caption"/>
          <p:cNvSpPr txBox="1"/>
          <p:nvPr/>
        </p:nvSpPr>
        <p:spPr>
          <a:xfrm>
            <a:off x="457200" y="4309872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Executor input and output contracts: docs/EXECUTORS.md.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README.md; configs/executors.yaml; configs/runtimes.yaml. Refs: R3–R13, R18–R20 · Sources: S1</a:t>
            </a:r>
            <a:endParaRPr lang="en-US" sz="900" dirty="0"/>
          </a:p>
        </p:txBody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52832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9" name="slide-title:content"/>
          <p:cNvSpPr txBox="1"/>
          <p:nvPr/>
        </p:nvSpPr>
        <p:spPr>
          <a:xfrm>
            <a:off x="640080" y="173736"/>
            <a:ext cx="80467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tools, sources and interfaces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756920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88010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2" name="role-contract-slot:evidence:0"/>
          <p:cNvSpPr/>
          <p:nvPr/>
        </p:nvSpPr>
        <p:spPr>
          <a:xfrm>
            <a:off x="457200" y="994664"/>
            <a:ext cx="4041648" cy="2087626"/>
          </a:xfrm>
          <a:prstGeom prst="rect">
            <a:avLst/>
          </a:prstGeom>
          <a:solidFill>
            <a:srgbClr val="0B2545"/>
          </a:solidFill>
          <a:ln w="7620">
            <a:solidFill>
              <a:srgbClr val="0B2545"/>
            </a:solidFill>
            <a:prstDash val="solid"/>
          </a:ln>
        </p:spPr>
      </p:sp>
      <p:sp>
        <p:nvSpPr>
          <p:cNvPr id="13" name="evidence:0:label"/>
          <p:cNvSpPr txBox="1"/>
          <p:nvPr/>
        </p:nvSpPr>
        <p:spPr>
          <a:xfrm>
            <a:off x="530352" y="1067816"/>
            <a:ext cx="389534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Checks</a:t>
            </a:r>
            <a:endParaRPr lang="en-US" sz="1600" dirty="0"/>
          </a:p>
        </p:txBody>
      </p:sp>
      <p:sp>
        <p:nvSpPr>
          <p:cNvPr id="14" name="evidence:0:caption"/>
          <p:cNvSpPr txBox="1"/>
          <p:nvPr/>
        </p:nvSpPr>
        <p:spPr>
          <a:xfrm>
            <a:off x="530352" y="1547368"/>
            <a:ext cx="3895344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PoseBusters [R1], RDKit [R15], PLIP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[R14], OpenMM [R17], PyMOL [R16],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gemmi, FreeSASA</a:t>
            </a:r>
            <a:endParaRPr lang="en-US" sz="1600" dirty="0"/>
          </a:p>
        </p:txBody>
      </p:sp>
      <p:sp>
        <p:nvSpPr>
          <p:cNvPr id="15" name="role-contract-slot:evidence:1"/>
          <p:cNvSpPr/>
          <p:nvPr/>
        </p:nvSpPr>
        <p:spPr>
          <a:xfrm>
            <a:off x="4645152" y="994664"/>
            <a:ext cx="4041648" cy="0"/>
          </a:xfrm>
          <a:prstGeom prst="line">
            <a:avLst/>
          </a:prstGeom>
          <a:noFill/>
          <a:ln w="8890">
            <a:solidFill>
              <a:srgbClr val="C9302C"/>
            </a:solidFill>
            <a:prstDash val="solid"/>
          </a:ln>
        </p:spPr>
      </p:sp>
      <p:sp>
        <p:nvSpPr>
          <p:cNvPr id="16" name="evidence:1:label"/>
          <p:cNvSpPr txBox="1"/>
          <p:nvPr/>
        </p:nvSpPr>
        <p:spPr>
          <a:xfrm>
            <a:off x="4718304" y="1067816"/>
            <a:ext cx="3895344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</a:t>
            </a:r>
            <a:endParaRPr lang="en-US" sz="1600" dirty="0"/>
          </a:p>
        </p:txBody>
      </p:sp>
      <p:sp>
        <p:nvSpPr>
          <p:cNvPr id="17" name="evidence:1:caption"/>
          <p:cNvSpPr txBox="1"/>
          <p:nvPr/>
        </p:nvSpPr>
        <p:spPr>
          <a:xfrm>
            <a:off x="4718304" y="1547368"/>
            <a:ext cx="3895344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UniProt, RCSB PDB [R21], PDBe and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SIFTS, CCD, PubChem, AlphaFold DB,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ChEMBL, BindingDB</a:t>
            </a:r>
            <a:endParaRPr lang="en-US" sz="1600" dirty="0"/>
          </a:p>
        </p:txBody>
      </p:sp>
      <p:sp>
        <p:nvSpPr>
          <p:cNvPr id="18" name="role-contract-slot:evidence:2"/>
          <p:cNvSpPr/>
          <p:nvPr/>
        </p:nvSpPr>
        <p:spPr>
          <a:xfrm>
            <a:off x="457200" y="3228594"/>
            <a:ext cx="8229600" cy="0"/>
          </a:xfrm>
          <a:prstGeom prst="line">
            <a:avLst/>
          </a:prstGeom>
          <a:noFill/>
          <a:ln w="8890">
            <a:solidFill>
              <a:srgbClr val="0B2545"/>
            </a:solidFill>
            <a:prstDash val="solid"/>
          </a:ln>
        </p:spPr>
      </p:sp>
      <p:sp>
        <p:nvSpPr>
          <p:cNvPr id="19" name="evidence:2:label"/>
          <p:cNvSpPr txBox="1"/>
          <p:nvPr/>
        </p:nvSpPr>
        <p:spPr>
          <a:xfrm>
            <a:off x="530352" y="3301746"/>
            <a:ext cx="185915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Interfaces</a:t>
            </a:r>
            <a:endParaRPr lang="en-US" sz="1600" dirty="0"/>
          </a:p>
        </p:txBody>
      </p:sp>
      <p:sp>
        <p:nvSpPr>
          <p:cNvPr id="20" name="evidence:2:caption"/>
          <p:cNvSpPr txBox="1"/>
          <p:nvPr/>
        </p:nvSpPr>
        <p:spPr>
          <a:xfrm>
            <a:off x="2480950" y="3301746"/>
            <a:ext cx="6132698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MCP server and HTTP API for agents; web UI with an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view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README.md; configs/sources.yaml. Refs: see References · Sources: S1</a:t>
            </a:r>
            <a:endParaRPr lang="en-US" sz="900" dirty="0"/>
          </a:p>
        </p:txBody>
      </p:sp>
      <p:sp>
        <p:nvSpPr>
          <p:cNvPr id="2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3PTB: Vina passes, Boltz-2 stops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5947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756920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1" name="sidebar:figure" descr="PyMOL cartoons of trypsin 3PTB with benzamidine as deposited, and the Vina seed 0 top pose on the recep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98345"/>
            <a:ext cx="4608576" cy="20727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40096" y="1049528"/>
            <a:ext cx="36576" cy="133908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support:sidebar:0:title"/>
          <p:cNvSpPr txBox="1"/>
          <p:nvPr/>
        </p:nvSpPr>
        <p:spPr>
          <a:xfrm>
            <a:off x="5468112" y="1049528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Vina, 5 seeds: pass with warnings</a:t>
            </a:r>
            <a:endParaRPr lang="en-US" sz="1300" dirty="0"/>
          </a:p>
        </p:txBody>
      </p:sp>
      <p:sp>
        <p:nvSpPr>
          <p:cNvPr id="14" name="sidebar:0:body"/>
          <p:cNvSpPr txBox="1"/>
          <p:nvPr/>
        </p:nvSpPr>
        <p:spPr>
          <a:xfrm>
            <a:off x="5468112" y="1471168"/>
            <a:ext cx="3218688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PoseBusters 20/20; medoid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0.38 Å from crystal;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redocking 0.42 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40096" y="2516632"/>
            <a:ext cx="36576" cy="159918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6" name="support:sidebar:1:title"/>
          <p:cNvSpPr txBox="1"/>
          <p:nvPr/>
        </p:nvSpPr>
        <p:spPr>
          <a:xfrm>
            <a:off x="5468112" y="2516632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Boltz-2: stop</a:t>
            </a:r>
            <a:endParaRPr lang="en-US" sz="1300" dirty="0"/>
          </a:p>
        </p:txBody>
      </p:sp>
      <p:sp>
        <p:nvSpPr>
          <p:cNvPr id="17" name="sidebar:1:body"/>
          <p:cNvSpPr txBox="1"/>
          <p:nvPr/>
        </p:nvSpPr>
        <p:spPr>
          <a:xfrm>
            <a:off x="5468112" y="2938272"/>
            <a:ext cx="3218688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ipTM 0.962; pocket pLDDT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98.6; no redocking control;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314 pre-cutoff benzamidine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entries</a:t>
            </a:r>
            <a:endParaRPr lang="en-US" sz="1600" dirty="0"/>
          </a:p>
        </p:txBody>
      </p:sp>
      <p:sp>
        <p:nvSpPr>
          <p:cNvPr id="18" name="metadata:sidebar:caption"/>
          <p:cNvSpPr txBox="1"/>
          <p:nvPr/>
        </p:nvSpPr>
        <p:spPr>
          <a:xfrm>
            <a:off x="457200" y="438454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Trypsin (P00760) with benzamidine (CCD BEN). PyMOL renders [R16] of PDB 3PTB [R22].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README.md, Results on real targets (examples/3ptb_vina, examples/3ptb_boltz2). Refs: R1, R4, R12, R16, R22 · Sources: S1</a:t>
            </a:r>
            <a:endParaRPr lang="en-US" sz="900" dirty="0"/>
          </a:p>
        </p:txBody>
      </p:sp>
      <p:sp>
        <p:nvSpPr>
          <p:cNvPr id="2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run writes a report, graph and figures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7776"/>
            <a:ext cx="294894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4156" y="756920"/>
            <a:ext cx="515264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upport:scientific:A:title"/>
          <p:cNvSpPr txBox="1"/>
          <p:nvPr/>
        </p:nvSpPr>
        <p:spPr>
          <a:xfrm>
            <a:off x="530352" y="1113536"/>
            <a:ext cx="80832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300" dirty="0"/>
          </a:p>
        </p:txBody>
      </p:sp>
      <p:pic>
        <p:nvPicPr>
          <p:cNvPr id="12" name="scientific:A:image" descr="Provenance graph, PoseBusters grid and interaction heatmap for the CDK2 perturbed Boltz-2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4361" y="1489456"/>
            <a:ext cx="5195279" cy="2415540"/>
          </a:xfrm>
          <a:prstGeom prst="rect">
            <a:avLst/>
          </a:prstGeom>
        </p:spPr>
      </p:pic>
      <p:sp>
        <p:nvSpPr>
          <p:cNvPr id="13" name="scientific:complete-readout"/>
          <p:cNvSpPr txBox="1"/>
          <p:nvPr/>
        </p:nvSpPr>
        <p:spPr>
          <a:xfrm>
            <a:off x="585216" y="4197604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Also written: report.html, report.md, record.json, provenance.json.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bench/runs/2026-10-17T1859Z-849c856/harness/cdk2_pert_boltz2/run/. Boltz-2 [R4], PoseBusters [R1], PLIP [R14] · Sources: S1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Benchmark: remove the pocket, ask an agent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50696"/>
            <a:ext cx="1879092" cy="2420112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0" name="metadata:flow-0-index"/>
          <p:cNvSpPr txBox="1"/>
          <p:nvPr/>
        </p:nvSpPr>
        <p:spPr>
          <a:xfrm>
            <a:off x="585216" y="1332992"/>
            <a:ext cx="1623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flow:0:title"/>
          <p:cNvSpPr txBox="1"/>
          <p:nvPr/>
        </p:nvSpPr>
        <p:spPr>
          <a:xfrm>
            <a:off x="585216" y="1616456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Perturb</a:t>
            </a:r>
            <a:endParaRPr lang="en-US" sz="1600" dirty="0"/>
          </a:p>
        </p:txBody>
      </p:sp>
      <p:sp>
        <p:nvSpPr>
          <p:cNvPr id="12" name="flow:0:detail"/>
          <p:cNvSpPr txBox="1"/>
          <p:nvPr/>
        </p:nvSpPr>
        <p:spPr>
          <a:xfrm>
            <a:off x="585216" y="2141728"/>
            <a:ext cx="1623060" cy="143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Pocket to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glycine, or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glucose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hydroxyls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methylated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72868" y="2460752"/>
            <a:ext cx="164592" cy="0"/>
          </a:xfrm>
          <a:prstGeom prst="line">
            <a:avLst/>
          </a:prstGeom>
          <a:noFill/>
          <a:ln w="1143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74036" y="1250696"/>
            <a:ext cx="1879092" cy="2420112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5" name="metadata:flow-1-index"/>
          <p:cNvSpPr txBox="1"/>
          <p:nvPr/>
        </p:nvSpPr>
        <p:spPr>
          <a:xfrm>
            <a:off x="2702052" y="1332992"/>
            <a:ext cx="1623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flow:1:title"/>
          <p:cNvSpPr txBox="1"/>
          <p:nvPr/>
        </p:nvSpPr>
        <p:spPr>
          <a:xfrm>
            <a:off x="2702052" y="1616456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Predict</a:t>
            </a:r>
            <a:endParaRPr lang="en-US" sz="1600" dirty="0"/>
          </a:p>
        </p:txBody>
      </p:sp>
      <p:sp>
        <p:nvSpPr>
          <p:cNvPr id="17" name="flow:1:detail"/>
          <p:cNvSpPr txBox="1"/>
          <p:nvPr/>
        </p:nvSpPr>
        <p:spPr>
          <a:xfrm>
            <a:off x="2702052" y="2141728"/>
            <a:ext cx="1623060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Boltz-2,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DiffDock-L;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seeds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89704" y="2460752"/>
            <a:ext cx="164592" cy="0"/>
          </a:xfrm>
          <a:prstGeom prst="line">
            <a:avLst/>
          </a:prstGeom>
          <a:noFill/>
          <a:ln w="1143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90872" y="1250696"/>
            <a:ext cx="1879092" cy="2420112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20" name="metadata:flow-2-index"/>
          <p:cNvSpPr txBox="1"/>
          <p:nvPr/>
        </p:nvSpPr>
        <p:spPr>
          <a:xfrm>
            <a:off x="4818888" y="1332992"/>
            <a:ext cx="1623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flow:2:title"/>
          <p:cNvSpPr txBox="1"/>
          <p:nvPr/>
        </p:nvSpPr>
        <p:spPr>
          <a:xfrm>
            <a:off x="4818888" y="1616456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</a:t>
            </a:r>
            <a:endParaRPr lang="en-US" sz="1600" dirty="0"/>
          </a:p>
        </p:txBody>
      </p:sp>
      <p:sp>
        <p:nvSpPr>
          <p:cNvPr id="22" name="flow:2:detail"/>
          <p:cNvSpPr txBox="1"/>
          <p:nvPr/>
        </p:nvSpPr>
        <p:spPr>
          <a:xfrm>
            <a:off x="4818888" y="2141728"/>
            <a:ext cx="1623060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Fact file per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06540" y="2460752"/>
            <a:ext cx="164592" cy="0"/>
          </a:xfrm>
          <a:prstGeom prst="line">
            <a:avLst/>
          </a:prstGeom>
          <a:noFill/>
          <a:ln w="1143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07708" y="1250696"/>
            <a:ext cx="1879092" cy="2420112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25" name="metadata:flow-3-index"/>
          <p:cNvSpPr txBox="1"/>
          <p:nvPr/>
        </p:nvSpPr>
        <p:spPr>
          <a:xfrm>
            <a:off x="6935724" y="1332992"/>
            <a:ext cx="1623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flow:3:title"/>
          <p:cNvSpPr txBox="1"/>
          <p:nvPr/>
        </p:nvSpPr>
        <p:spPr>
          <a:xfrm>
            <a:off x="6935724" y="1616456"/>
            <a:ext cx="162306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</a:t>
            </a:r>
            <a:endParaRPr lang="en-US" sz="1600" dirty="0"/>
          </a:p>
        </p:txBody>
      </p:sp>
      <p:sp>
        <p:nvSpPr>
          <p:cNvPr id="27" name="flow:3:detail"/>
          <p:cNvSpPr txBox="1"/>
          <p:nvPr/>
        </p:nvSpPr>
        <p:spPr>
          <a:xfrm>
            <a:off x="6935724" y="2141728"/>
            <a:ext cx="1623060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GLM-4.6 agent: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 only, or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fact file</a:t>
            </a:r>
            <a:endParaRPr lang="en-US" sz="1600" dirty="0"/>
          </a:p>
        </p:txBody>
      </p:sp>
      <p:sp>
        <p:nvSpPr>
          <p:cNvPr id="28" name="caption:flow"/>
          <p:cNvSpPr txBox="1"/>
          <p:nvPr/>
        </p:nvSpPr>
        <p:spPr>
          <a:xfrm>
            <a:off x="457200" y="429310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FtsE 8X61, CDK2 1B38, MEK1 7XLP, glucose DH 2VWH; 16 predictions per run, 3 runs. Perturbed counts as invalid.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bench/README.md; bench/runs/2026-10-17T1859Z-849c856/report.md. Refs: R4, R10; PDB entries R23–R26 · Sources: S1</a:t>
            </a:r>
            <a:endParaRPr lang="en-US" sz="900" dirty="0"/>
          </a:p>
        </p:txBody>
      </p:sp>
      <p:sp>
        <p:nvSpPr>
          <p:cNvPr id="3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98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3 balanced accuracy: 0.50 score only,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0.75 fact file</a:t>
            </a:r>
            <a:endParaRPr lang="en-US" sz="2800" dirty="0"/>
          </a:p>
        </p:txBody>
      </p:sp>
      <p:sp>
        <p:nvSpPr>
          <p:cNvPr id="9" name="support:scientific:A:title"/>
          <p:cNvSpPr txBox="1"/>
          <p:nvPr/>
        </p:nvSpPr>
        <p:spPr>
          <a:xfrm>
            <a:off x="530352" y="1568704"/>
            <a:ext cx="80832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300" dirty="0"/>
          </a:p>
        </p:txBody>
      </p:sp>
      <p:pic>
        <p:nvPicPr>
          <p:cNvPr id="10" name="scientific:A:image" descr="Balanced accuracy by arm with 95% intervals, and pooled confusion matr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348" y="1944624"/>
            <a:ext cx="6779304" cy="1960372"/>
          </a:xfrm>
          <a:prstGeom prst="rect">
            <a:avLst/>
          </a:prstGeom>
        </p:spPr>
      </p:pic>
      <p:sp>
        <p:nvSpPr>
          <p:cNvPr id="11" name="scientific:complete-readout"/>
          <p:cNvSpPr txBox="1"/>
          <p:nvPr/>
        </p:nvSpPr>
        <p:spPr>
          <a:xfrm>
            <a:off x="585216" y="4197604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Fact file 95% CI 0.50 to 1.0, p = 0.125. Runs 1, 2: 0.53, 0.58.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bench/runs/2026-10-17T1859Z-849c856/report.md; README.md, Perturbation benchmark · Sources: S1</a:t>
            </a:r>
            <a:endParaRPr lang="en-US" sz="900" dirty="0"/>
          </a:p>
        </p:txBody>
      </p:sp>
      <p:sp>
        <p:nvSpPr>
          <p:cNvPr id="1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CDK2: confidence holds without the pocket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5692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724916"/>
            <a:ext cx="777240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upport:scientific:A:title"/>
          <p:cNvSpPr txBox="1"/>
          <p:nvPr/>
        </p:nvSpPr>
        <p:spPr>
          <a:xfrm>
            <a:off x="530352" y="1113536"/>
            <a:ext cx="80832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300" dirty="0"/>
          </a:p>
        </p:txBody>
      </p:sp>
      <p:pic>
        <p:nvPicPr>
          <p:cNvPr id="12" name="scientific:A:image" descr="PyMOL renders of CDK2 Boltz-2 poses, wild type and with 13 pocket residues cut to glyc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6082" y="1489456"/>
            <a:ext cx="4771836" cy="2415540"/>
          </a:xfrm>
          <a:prstGeom prst="rect">
            <a:avLst/>
          </a:prstGeom>
        </p:spPr>
      </p:pic>
      <p:sp>
        <p:nvSpPr>
          <p:cNvPr id="13" name="scientific:complete-readout"/>
          <p:cNvSpPr txBox="1"/>
          <p:nvPr/>
        </p:nvSpPr>
        <p:spPr>
          <a:xfrm>
            <a:off x="585216" y="4197604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Perturbed: PoseBusters 20/20, RMSD 2.39 Å. Fact file: invalid.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bench/finding/values.csv, panels/; bench/runs/2026-10-17T1611Z-426bfe9/report.md. Refs: R4, R16, R23 · Sources: S1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Tests and interfaces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7776"/>
            <a:ext cx="137160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756920"/>
            <a:ext cx="672998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role-contract-slot:evidence:0"/>
          <p:cNvSpPr/>
          <p:nvPr/>
        </p:nvSpPr>
        <p:spPr>
          <a:xfrm>
            <a:off x="457200" y="994664"/>
            <a:ext cx="4364980" cy="1717802"/>
          </a:xfrm>
          <a:prstGeom prst="rect">
            <a:avLst/>
          </a:prstGeom>
          <a:solidFill>
            <a:srgbClr val="0B2545"/>
          </a:solidFill>
          <a:ln w="7620">
            <a:solidFill>
              <a:srgbClr val="0B2545"/>
            </a:solidFill>
            <a:prstDash val="solid"/>
          </a:ln>
        </p:spPr>
      </p:sp>
      <p:sp>
        <p:nvSpPr>
          <p:cNvPr id="12" name="evidence:0:value"/>
          <p:cNvSpPr txBox="1"/>
          <p:nvPr/>
        </p:nvSpPr>
        <p:spPr>
          <a:xfrm>
            <a:off x="530352" y="1067816"/>
            <a:ext cx="850180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394</a:t>
            </a:r>
            <a:endParaRPr lang="en-US" sz="3200" dirty="0"/>
          </a:p>
        </p:txBody>
      </p:sp>
      <p:sp>
        <p:nvSpPr>
          <p:cNvPr id="13" name="evidence:0:label"/>
          <p:cNvSpPr txBox="1"/>
          <p:nvPr/>
        </p:nvSpPr>
        <p:spPr>
          <a:xfrm>
            <a:off x="1435396" y="1067816"/>
            <a:ext cx="3313632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test functions</a:t>
            </a:r>
            <a:endParaRPr lang="en-US" sz="1600" dirty="0"/>
          </a:p>
        </p:txBody>
      </p:sp>
      <p:sp>
        <p:nvSpPr>
          <p:cNvPr id="14" name="evidence:0:caption"/>
          <p:cNvSpPr txBox="1"/>
          <p:nvPr/>
        </p:nvSpPr>
        <p:spPr>
          <a:xfrm>
            <a:off x="530352" y="1807464"/>
            <a:ext cx="421867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network; recorded source responses</a:t>
            </a:r>
            <a:endParaRPr lang="en-US" sz="1600" dirty="0"/>
          </a:p>
        </p:txBody>
      </p:sp>
      <p:sp>
        <p:nvSpPr>
          <p:cNvPr id="15" name="role-contract-slot:evidence:1"/>
          <p:cNvSpPr/>
          <p:nvPr/>
        </p:nvSpPr>
        <p:spPr>
          <a:xfrm>
            <a:off x="4968484" y="994664"/>
            <a:ext cx="3718316" cy="0"/>
          </a:xfrm>
          <a:prstGeom prst="line">
            <a:avLst/>
          </a:prstGeom>
          <a:noFill/>
          <a:ln w="8890">
            <a:solidFill>
              <a:srgbClr val="C9302C"/>
            </a:solidFill>
            <a:prstDash val="solid"/>
          </a:ln>
        </p:spPr>
      </p:sp>
      <p:sp>
        <p:nvSpPr>
          <p:cNvPr id="16" name="evidence:1:value"/>
          <p:cNvSpPr txBox="1"/>
          <p:nvPr/>
        </p:nvSpPr>
        <p:spPr>
          <a:xfrm>
            <a:off x="5041636" y="1067816"/>
            <a:ext cx="660495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225</a:t>
            </a:r>
            <a:endParaRPr lang="en-US" sz="2400" dirty="0"/>
          </a:p>
        </p:txBody>
      </p:sp>
      <p:sp>
        <p:nvSpPr>
          <p:cNvPr id="17" name="evidence:1:label"/>
          <p:cNvSpPr txBox="1"/>
          <p:nvPr/>
        </p:nvSpPr>
        <p:spPr>
          <a:xfrm>
            <a:off x="5756995" y="1067816"/>
            <a:ext cx="2856653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UI tests</a:t>
            </a:r>
            <a:endParaRPr lang="en-US" sz="1600" dirty="0"/>
          </a:p>
        </p:txBody>
      </p:sp>
      <p:sp>
        <p:nvSpPr>
          <p:cNvPr id="18" name="evidence:1:caption"/>
          <p:cNvSpPr txBox="1"/>
          <p:nvPr/>
        </p:nvSpPr>
        <p:spPr>
          <a:xfrm>
            <a:off x="5041636" y="1677416"/>
            <a:ext cx="3572012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162 Vitest, 63 Playwright</a:t>
            </a:r>
            <a:endParaRPr lang="en-US" sz="1600" dirty="0"/>
          </a:p>
        </p:txBody>
      </p:sp>
      <p:sp>
        <p:nvSpPr>
          <p:cNvPr id="19" name="role-contract-slot:evidence:2"/>
          <p:cNvSpPr/>
          <p:nvPr/>
        </p:nvSpPr>
        <p:spPr>
          <a:xfrm>
            <a:off x="457200" y="2858770"/>
            <a:ext cx="4364980" cy="0"/>
          </a:xfrm>
          <a:prstGeom prst="line">
            <a:avLst/>
          </a:prstGeom>
          <a:noFill/>
          <a:ln w="8890">
            <a:solidFill>
              <a:srgbClr val="0B2545"/>
            </a:solidFill>
            <a:prstDash val="solid"/>
          </a:ln>
        </p:spPr>
      </p:sp>
      <p:sp>
        <p:nvSpPr>
          <p:cNvPr id="20" name="evidence:2:value"/>
          <p:cNvSpPr txBox="1"/>
          <p:nvPr/>
        </p:nvSpPr>
        <p:spPr>
          <a:xfrm>
            <a:off x="530352" y="2931922"/>
            <a:ext cx="281125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2400" dirty="0"/>
          </a:p>
        </p:txBody>
      </p:sp>
      <p:sp>
        <p:nvSpPr>
          <p:cNvPr id="21" name="evidence:2:label"/>
          <p:cNvSpPr txBox="1"/>
          <p:nvPr/>
        </p:nvSpPr>
        <p:spPr>
          <a:xfrm>
            <a:off x="866341" y="2931922"/>
            <a:ext cx="3882687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7 planted input faults stopped</a:t>
            </a:r>
            <a:endParaRPr lang="en-US" sz="1600" dirty="0"/>
          </a:p>
        </p:txBody>
      </p:sp>
      <p:sp>
        <p:nvSpPr>
          <p:cNvPr id="22" name="evidence:2:caption"/>
          <p:cNvSpPr txBox="1"/>
          <p:nvPr/>
        </p:nvSpPr>
        <p:spPr>
          <a:xfrm>
            <a:off x="530352" y="3541522"/>
            <a:ext cx="421867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examples/3ptb_faulty_inputs</a:t>
            </a:r>
            <a:endParaRPr lang="en-US" sz="1600" dirty="0"/>
          </a:p>
        </p:txBody>
      </p:sp>
      <p:sp>
        <p:nvSpPr>
          <p:cNvPr id="23" name="role-contract-slot:evidence:3"/>
          <p:cNvSpPr/>
          <p:nvPr/>
        </p:nvSpPr>
        <p:spPr>
          <a:xfrm>
            <a:off x="4968484" y="2858770"/>
            <a:ext cx="3718316" cy="0"/>
          </a:xfrm>
          <a:prstGeom prst="line">
            <a:avLst/>
          </a:prstGeom>
          <a:noFill/>
          <a:ln w="8890">
            <a:solidFill>
              <a:srgbClr val="C9302C"/>
            </a:solidFill>
            <a:prstDash val="solid"/>
          </a:ln>
        </p:spPr>
      </p:sp>
      <p:sp>
        <p:nvSpPr>
          <p:cNvPr id="24" name="evidence:3:value"/>
          <p:cNvSpPr txBox="1"/>
          <p:nvPr/>
        </p:nvSpPr>
        <p:spPr>
          <a:xfrm>
            <a:off x="5041636" y="2931922"/>
            <a:ext cx="47081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</a:t>
            </a:r>
            <a:endParaRPr lang="en-US" sz="2400" dirty="0"/>
          </a:p>
        </p:txBody>
      </p:sp>
      <p:sp>
        <p:nvSpPr>
          <p:cNvPr id="25" name="evidence:3:label"/>
          <p:cNvSpPr txBox="1"/>
          <p:nvPr/>
        </p:nvSpPr>
        <p:spPr>
          <a:xfrm>
            <a:off x="5567310" y="2931922"/>
            <a:ext cx="304633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Registered checks, L0 to L5</a:t>
            </a:r>
            <a:endParaRPr lang="en-US" sz="1600" dirty="0"/>
          </a:p>
        </p:txBody>
      </p:sp>
      <p:sp>
        <p:nvSpPr>
          <p:cNvPr id="26" name="evidence:3:caption"/>
          <p:cNvSpPr txBox="1"/>
          <p:nvPr/>
        </p:nvSpPr>
        <p:spPr>
          <a:xfrm>
            <a:off x="5041636" y="3541522"/>
            <a:ext cx="3572012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threshold with an origin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README.md; tests/ (def test_); web: vitest list, playwright test --list; pah checks · Sources: S1</a:t>
            </a:r>
            <a:endParaRPr lang="en-US" sz="900" dirty="0"/>
          </a:p>
        </p:txBody>
      </p:sp>
      <p:sp>
        <p:nvSpPr>
          <p:cNvPr id="2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number traces to a check and a source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7776"/>
            <a:ext cx="288036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756920"/>
            <a:ext cx="522122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upport:scientific:A:title"/>
          <p:cNvSpPr txBox="1"/>
          <p:nvPr/>
        </p:nvSpPr>
        <p:spPr>
          <a:xfrm>
            <a:off x="530352" y="1113536"/>
            <a:ext cx="80832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300" dirty="0"/>
          </a:p>
        </p:txBody>
      </p:sp>
      <p:pic>
        <p:nvPicPr>
          <p:cNvPr id="12" name="scientific:A:image" descr="Ground truth, score-only and fact-file decisions for each of 16 predictions in run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392" y="1489456"/>
            <a:ext cx="7581217" cy="2155444"/>
          </a:xfrm>
          <a:prstGeom prst="rect">
            <a:avLst/>
          </a:prstGeom>
        </p:spPr>
      </p:pic>
      <p:sp>
        <p:nvSpPr>
          <p:cNvPr id="13" name="scientific:complete-readout"/>
          <p:cNvSpPr txBox="1"/>
          <p:nvPr/>
        </p:nvSpPr>
        <p:spPr>
          <a:xfrm>
            <a:off x="585216" y="3937508"/>
            <a:ext cx="7973568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Limits: 16 predictions per run; read as a demonstration, since no interval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excludes 0.5.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bench/runs/2026-10-17T1859Z-849c856/results/figures/decisions.csv. Boltz-2 [R4], DiffDock-L [R10] · Sources: S1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12/15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References: models and benchmarks</a:t>
            </a:r>
            <a:endParaRPr lang="en-US" sz="2800" dirty="0"/>
          </a:p>
        </p:txBody>
      </p:sp>
      <p:sp>
        <p:nvSpPr>
          <p:cNvPr id="9" name="role-contract-slot:references:register-0"/>
          <p:cNvSpPr/>
          <p:nvPr/>
        </p:nvSpPr>
        <p:spPr>
          <a:xfrm>
            <a:off x="457200" y="1086104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86104"/>
            <a:ext cx="64008" cy="82689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metadata:reference-title-0"/>
          <p:cNvSpPr txBox="1"/>
          <p:nvPr/>
        </p:nvSpPr>
        <p:spPr>
          <a:xfrm>
            <a:off x="621792" y="1332738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</a:t>
            </a:r>
            <a:endParaRPr lang="en-US" sz="1250" dirty="0"/>
          </a:p>
        </p:txBody>
      </p:sp>
      <p:sp>
        <p:nvSpPr>
          <p:cNvPr id="12" name="metadata:reference-detail-0"/>
          <p:cNvSpPr txBox="1"/>
          <p:nvPr/>
        </p:nvSpPr>
        <p:spPr>
          <a:xfrm>
            <a:off x="1719804" y="1122680"/>
            <a:ext cx="2577876" cy="75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Buttenschoen M, Morris GM, Deane CM. PoseBusters. Chem Sci 2024;15:3130. doi:10.1039/d3sc04185a</a:t>
            </a:r>
            <a:endParaRPr lang="en-US" sz="1250" dirty="0"/>
          </a:p>
        </p:txBody>
      </p:sp>
      <p:sp>
        <p:nvSpPr>
          <p:cNvPr id="13" name="role-contract-slot:references:register-1"/>
          <p:cNvSpPr/>
          <p:nvPr/>
        </p:nvSpPr>
        <p:spPr>
          <a:xfrm>
            <a:off x="457200" y="1986153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86153"/>
            <a:ext cx="64008" cy="82689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5" name="metadata:reference-title-1"/>
          <p:cNvSpPr txBox="1"/>
          <p:nvPr/>
        </p:nvSpPr>
        <p:spPr>
          <a:xfrm>
            <a:off x="621792" y="2232787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R2</a:t>
            </a:r>
            <a:endParaRPr lang="en-US" sz="1250" dirty="0"/>
          </a:p>
        </p:txBody>
      </p:sp>
      <p:sp>
        <p:nvSpPr>
          <p:cNvPr id="16" name="metadata:reference-detail-1"/>
          <p:cNvSpPr txBox="1"/>
          <p:nvPr/>
        </p:nvSpPr>
        <p:spPr>
          <a:xfrm>
            <a:off x="1719804" y="2022729"/>
            <a:ext cx="2577876" cy="75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Kim J, …, Fraser JS. Co-folding on Mac1–ligand complexes. eLife 2026;15. doi:10.7554/eLife.110475</a:t>
            </a:r>
            <a:endParaRPr lang="en-US" sz="1250" dirty="0"/>
          </a:p>
        </p:txBody>
      </p:sp>
      <p:sp>
        <p:nvSpPr>
          <p:cNvPr id="17" name="role-contract-slot:references:register-2"/>
          <p:cNvSpPr/>
          <p:nvPr/>
        </p:nvSpPr>
        <p:spPr>
          <a:xfrm>
            <a:off x="457200" y="2886202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6202"/>
            <a:ext cx="64008" cy="82689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metadata:reference-title-2"/>
          <p:cNvSpPr txBox="1"/>
          <p:nvPr/>
        </p:nvSpPr>
        <p:spPr>
          <a:xfrm>
            <a:off x="621792" y="3132836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R3</a:t>
            </a:r>
            <a:endParaRPr lang="en-US" sz="1250" dirty="0"/>
          </a:p>
        </p:txBody>
      </p:sp>
      <p:sp>
        <p:nvSpPr>
          <p:cNvPr id="20" name="metadata:reference-detail-2"/>
          <p:cNvSpPr txBox="1"/>
          <p:nvPr/>
        </p:nvSpPr>
        <p:spPr>
          <a:xfrm>
            <a:off x="1719804" y="2922778"/>
            <a:ext cx="2577876" cy="75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Wohlwend J, Corso G, Passaro S, et al. Boltz-1. bioRxiv 2024. doi:10.1101/2024.11.19.624167</a:t>
            </a:r>
            <a:endParaRPr lang="en-US" sz="1250" dirty="0"/>
          </a:p>
        </p:txBody>
      </p:sp>
      <p:sp>
        <p:nvSpPr>
          <p:cNvPr id="21" name="role-contract-slot:references:register-3"/>
          <p:cNvSpPr/>
          <p:nvPr/>
        </p:nvSpPr>
        <p:spPr>
          <a:xfrm>
            <a:off x="457200" y="3786251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86251"/>
            <a:ext cx="64008" cy="82689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3" name="metadata:reference-title-3"/>
          <p:cNvSpPr txBox="1"/>
          <p:nvPr/>
        </p:nvSpPr>
        <p:spPr>
          <a:xfrm>
            <a:off x="621792" y="4032885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R4</a:t>
            </a:r>
            <a:endParaRPr lang="en-US" sz="1250" dirty="0"/>
          </a:p>
        </p:txBody>
      </p:sp>
      <p:sp>
        <p:nvSpPr>
          <p:cNvPr id="24" name="metadata:reference-detail-3"/>
          <p:cNvSpPr txBox="1"/>
          <p:nvPr/>
        </p:nvSpPr>
        <p:spPr>
          <a:xfrm>
            <a:off x="1719804" y="3822827"/>
            <a:ext cx="2577876" cy="75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Passaro S, Corso G, Wohlwend J, et al. Boltz-2. bioRxiv 2025. doi:10.1101/2025.06.14.659707</a:t>
            </a:r>
            <a:endParaRPr lang="en-US" sz="1250" dirty="0"/>
          </a:p>
        </p:txBody>
      </p:sp>
      <p:sp>
        <p:nvSpPr>
          <p:cNvPr id="25" name="role-contract-slot:references:register-4"/>
          <p:cNvSpPr/>
          <p:nvPr/>
        </p:nvSpPr>
        <p:spPr>
          <a:xfrm>
            <a:off x="4700016" y="1086104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1086104"/>
            <a:ext cx="64008" cy="82689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metadata:reference-title-4"/>
          <p:cNvSpPr txBox="1"/>
          <p:nvPr/>
        </p:nvSpPr>
        <p:spPr>
          <a:xfrm>
            <a:off x="4864608" y="1332738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R5</a:t>
            </a:r>
            <a:endParaRPr lang="en-US" sz="1250" dirty="0"/>
          </a:p>
        </p:txBody>
      </p:sp>
      <p:sp>
        <p:nvSpPr>
          <p:cNvPr id="28" name="metadata:reference-detail-4"/>
          <p:cNvSpPr txBox="1"/>
          <p:nvPr/>
        </p:nvSpPr>
        <p:spPr>
          <a:xfrm>
            <a:off x="5962620" y="1122680"/>
            <a:ext cx="2577876" cy="75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Chai Discovery, Boitreaud J, et al. Chai-1. bioRxiv 2024. doi:10.1101/2024.10.10.615955</a:t>
            </a:r>
            <a:endParaRPr lang="en-US" sz="1250" dirty="0"/>
          </a:p>
        </p:txBody>
      </p:sp>
      <p:sp>
        <p:nvSpPr>
          <p:cNvPr id="29" name="role-contract-slot:references:register-5"/>
          <p:cNvSpPr/>
          <p:nvPr/>
        </p:nvSpPr>
        <p:spPr>
          <a:xfrm>
            <a:off x="4700016" y="1986153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1986153"/>
            <a:ext cx="64008" cy="82689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1" name="metadata:reference-title-5"/>
          <p:cNvSpPr txBox="1"/>
          <p:nvPr/>
        </p:nvSpPr>
        <p:spPr>
          <a:xfrm>
            <a:off x="4864608" y="2232787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R6</a:t>
            </a:r>
            <a:endParaRPr lang="en-US" sz="1250" dirty="0"/>
          </a:p>
        </p:txBody>
      </p:sp>
      <p:sp>
        <p:nvSpPr>
          <p:cNvPr id="32" name="metadata:reference-detail-5"/>
          <p:cNvSpPr txBox="1"/>
          <p:nvPr/>
        </p:nvSpPr>
        <p:spPr>
          <a:xfrm>
            <a:off x="5962620" y="2022729"/>
            <a:ext cx="2577876" cy="75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ByteDance AML AI4Science Team, et al. Protenix. bioRxiv 2025. doi:10.1101/2025.01.08.631967</a:t>
            </a:r>
            <a:endParaRPr lang="en-US" sz="1250" dirty="0"/>
          </a:p>
        </p:txBody>
      </p:sp>
      <p:sp>
        <p:nvSpPr>
          <p:cNvPr id="33" name="role-contract-slot:references:register-6"/>
          <p:cNvSpPr/>
          <p:nvPr/>
        </p:nvSpPr>
        <p:spPr>
          <a:xfrm>
            <a:off x="4700016" y="2886202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0016" y="2886202"/>
            <a:ext cx="64008" cy="82689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5" name="metadata:reference-title-6"/>
          <p:cNvSpPr txBox="1"/>
          <p:nvPr/>
        </p:nvSpPr>
        <p:spPr>
          <a:xfrm>
            <a:off x="4864608" y="3132836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R7</a:t>
            </a:r>
            <a:endParaRPr lang="en-US" sz="1250" dirty="0"/>
          </a:p>
        </p:txBody>
      </p:sp>
      <p:sp>
        <p:nvSpPr>
          <p:cNvPr id="36" name="metadata:reference-detail-6"/>
          <p:cNvSpPr txBox="1"/>
          <p:nvPr/>
        </p:nvSpPr>
        <p:spPr>
          <a:xfrm>
            <a:off x="5962620" y="2945511"/>
            <a:ext cx="2577876" cy="708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Mirdita M, et al. ColabFold. Nat Methods 2022;19:679. doi:10.1038/s41592-022-01488-1</a:t>
            </a:r>
            <a:endParaRPr lang="en-US" sz="1250" dirty="0"/>
          </a:p>
        </p:txBody>
      </p:sp>
      <p:sp>
        <p:nvSpPr>
          <p:cNvPr id="37" name="role-contract-slot:references:register-7"/>
          <p:cNvSpPr/>
          <p:nvPr/>
        </p:nvSpPr>
        <p:spPr>
          <a:xfrm>
            <a:off x="4700016" y="3786251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3786251"/>
            <a:ext cx="64008" cy="82689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9" name="metadata:reference-title-7"/>
          <p:cNvSpPr txBox="1"/>
          <p:nvPr/>
        </p:nvSpPr>
        <p:spPr>
          <a:xfrm>
            <a:off x="4864608" y="4032885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R8</a:t>
            </a:r>
            <a:endParaRPr lang="en-US" sz="1250" dirty="0"/>
          </a:p>
        </p:txBody>
      </p:sp>
      <p:sp>
        <p:nvSpPr>
          <p:cNvPr id="40" name="metadata:reference-detail-7"/>
          <p:cNvSpPr txBox="1"/>
          <p:nvPr/>
        </p:nvSpPr>
        <p:spPr>
          <a:xfrm>
            <a:off x="5962620" y="3845560"/>
            <a:ext cx="2577876" cy="708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Abramson J, et al. AlphaFold 3. Nature 2024;630:493. doi:10.1038/s41586-024-07487-w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titles and verification: media/deck/FIGURES.md · Sources: Europe PMC records</a:t>
            </a:r>
            <a:endParaRPr lang="en-US" sz="900" dirty="0"/>
          </a:p>
        </p:txBody>
      </p:sp>
      <p:sp>
        <p:nvSpPr>
          <p:cNvPr id="4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13/15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References: docking and analysis</a:t>
            </a:r>
            <a:endParaRPr lang="en-US" sz="2800" dirty="0"/>
          </a:p>
        </p:txBody>
      </p:sp>
      <p:sp>
        <p:nvSpPr>
          <p:cNvPr id="9" name="role-contract-slot:references:register-0"/>
          <p:cNvSpPr/>
          <p:nvPr/>
        </p:nvSpPr>
        <p:spPr>
          <a:xfrm>
            <a:off x="457200" y="1086104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86104"/>
            <a:ext cx="64008" cy="82689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metadata:reference-title-0"/>
          <p:cNvSpPr txBox="1"/>
          <p:nvPr/>
        </p:nvSpPr>
        <p:spPr>
          <a:xfrm>
            <a:off x="621792" y="1332738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R9</a:t>
            </a:r>
            <a:endParaRPr lang="en-US" sz="1250" dirty="0"/>
          </a:p>
        </p:txBody>
      </p:sp>
      <p:sp>
        <p:nvSpPr>
          <p:cNvPr id="12" name="metadata:reference-detail-0"/>
          <p:cNvSpPr txBox="1"/>
          <p:nvPr/>
        </p:nvSpPr>
        <p:spPr>
          <a:xfrm>
            <a:off x="1719804" y="1145413"/>
            <a:ext cx="2577876" cy="708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Corso G, Stärk H, Jing B, Barzilay R, Jaakkola T. DiffDock. arXiv:2210.01776 (2022)</a:t>
            </a:r>
            <a:endParaRPr lang="en-US" sz="1250" dirty="0"/>
          </a:p>
        </p:txBody>
      </p:sp>
      <p:sp>
        <p:nvSpPr>
          <p:cNvPr id="13" name="role-contract-slot:references:register-1"/>
          <p:cNvSpPr/>
          <p:nvPr/>
        </p:nvSpPr>
        <p:spPr>
          <a:xfrm>
            <a:off x="457200" y="1986153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86153"/>
            <a:ext cx="64008" cy="82689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5" name="metadata:reference-title-1"/>
          <p:cNvSpPr txBox="1"/>
          <p:nvPr/>
        </p:nvSpPr>
        <p:spPr>
          <a:xfrm>
            <a:off x="621792" y="2232787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R10</a:t>
            </a:r>
            <a:endParaRPr lang="en-US" sz="1250" dirty="0"/>
          </a:p>
        </p:txBody>
      </p:sp>
      <p:sp>
        <p:nvSpPr>
          <p:cNvPr id="16" name="metadata:reference-detail-1"/>
          <p:cNvSpPr txBox="1"/>
          <p:nvPr/>
        </p:nvSpPr>
        <p:spPr>
          <a:xfrm>
            <a:off x="1719804" y="2045462"/>
            <a:ext cx="2577876" cy="708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Corso G, Deng A, Fry B, et al. DiffDock-L. ICLR 2024. arXiv:2402.18396</a:t>
            </a:r>
            <a:endParaRPr lang="en-US" sz="1250" dirty="0"/>
          </a:p>
        </p:txBody>
      </p:sp>
      <p:sp>
        <p:nvSpPr>
          <p:cNvPr id="17" name="role-contract-slot:references:register-2"/>
          <p:cNvSpPr/>
          <p:nvPr/>
        </p:nvSpPr>
        <p:spPr>
          <a:xfrm>
            <a:off x="457200" y="2886202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6202"/>
            <a:ext cx="64008" cy="82689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metadata:reference-title-2"/>
          <p:cNvSpPr txBox="1"/>
          <p:nvPr/>
        </p:nvSpPr>
        <p:spPr>
          <a:xfrm>
            <a:off x="621792" y="3132836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R11</a:t>
            </a:r>
            <a:endParaRPr lang="en-US" sz="1250" dirty="0"/>
          </a:p>
        </p:txBody>
      </p:sp>
      <p:sp>
        <p:nvSpPr>
          <p:cNvPr id="20" name="metadata:reference-detail-2"/>
          <p:cNvSpPr txBox="1"/>
          <p:nvPr/>
        </p:nvSpPr>
        <p:spPr>
          <a:xfrm>
            <a:off x="1719804" y="2945511"/>
            <a:ext cx="2577876" cy="708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McNutt AT, et al. GNINA 1.0. J Cheminform 2021;13:43. doi:10.1186/s13321-021-00522-2</a:t>
            </a:r>
            <a:endParaRPr lang="en-US" sz="1250" dirty="0"/>
          </a:p>
        </p:txBody>
      </p:sp>
      <p:sp>
        <p:nvSpPr>
          <p:cNvPr id="21" name="role-contract-slot:references:register-3"/>
          <p:cNvSpPr/>
          <p:nvPr/>
        </p:nvSpPr>
        <p:spPr>
          <a:xfrm>
            <a:off x="457200" y="3786251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86251"/>
            <a:ext cx="64008" cy="82689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3" name="metadata:reference-title-3"/>
          <p:cNvSpPr txBox="1"/>
          <p:nvPr/>
        </p:nvSpPr>
        <p:spPr>
          <a:xfrm>
            <a:off x="621792" y="4032885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R12</a:t>
            </a:r>
            <a:endParaRPr lang="en-US" sz="1250" dirty="0"/>
          </a:p>
        </p:txBody>
      </p:sp>
      <p:sp>
        <p:nvSpPr>
          <p:cNvPr id="24" name="metadata:reference-detail-3"/>
          <p:cNvSpPr txBox="1"/>
          <p:nvPr/>
        </p:nvSpPr>
        <p:spPr>
          <a:xfrm>
            <a:off x="1719804" y="3845560"/>
            <a:ext cx="2577876" cy="708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Trott O, Olson AJ. AutoDock Vina. J Comput Chem 2010;31:455. doi:10.1002/jcc.21334</a:t>
            </a:r>
            <a:endParaRPr lang="en-US" sz="1250" dirty="0"/>
          </a:p>
        </p:txBody>
      </p:sp>
      <p:sp>
        <p:nvSpPr>
          <p:cNvPr id="25" name="role-contract-slot:references:register-4"/>
          <p:cNvSpPr/>
          <p:nvPr/>
        </p:nvSpPr>
        <p:spPr>
          <a:xfrm>
            <a:off x="4700016" y="1086104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1086104"/>
            <a:ext cx="64008" cy="82689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metadata:reference-title-4"/>
          <p:cNvSpPr txBox="1"/>
          <p:nvPr/>
        </p:nvSpPr>
        <p:spPr>
          <a:xfrm>
            <a:off x="4864608" y="1332738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R13</a:t>
            </a:r>
            <a:endParaRPr lang="en-US" sz="1250" dirty="0"/>
          </a:p>
        </p:txBody>
      </p:sp>
      <p:sp>
        <p:nvSpPr>
          <p:cNvPr id="28" name="metadata:reference-detail-4"/>
          <p:cNvSpPr txBox="1"/>
          <p:nvPr/>
        </p:nvSpPr>
        <p:spPr>
          <a:xfrm>
            <a:off x="5962620" y="1122680"/>
            <a:ext cx="2577876" cy="75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Eberhardt J, et al. AutoDock Vina 1.2.0. J Chem Inf Model 2021;61:3891. doi:10.1021/acs.jcim.1c00203</a:t>
            </a:r>
            <a:endParaRPr lang="en-US" sz="1250" dirty="0"/>
          </a:p>
        </p:txBody>
      </p:sp>
      <p:sp>
        <p:nvSpPr>
          <p:cNvPr id="29" name="role-contract-slot:references:register-5"/>
          <p:cNvSpPr/>
          <p:nvPr/>
        </p:nvSpPr>
        <p:spPr>
          <a:xfrm>
            <a:off x="4700016" y="1986153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1986153"/>
            <a:ext cx="64008" cy="82689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1" name="metadata:reference-title-5"/>
          <p:cNvSpPr txBox="1"/>
          <p:nvPr/>
        </p:nvSpPr>
        <p:spPr>
          <a:xfrm>
            <a:off x="4864608" y="2232787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R14</a:t>
            </a:r>
            <a:endParaRPr lang="en-US" sz="1250" dirty="0"/>
          </a:p>
        </p:txBody>
      </p:sp>
      <p:sp>
        <p:nvSpPr>
          <p:cNvPr id="32" name="metadata:reference-detail-5"/>
          <p:cNvSpPr txBox="1"/>
          <p:nvPr/>
        </p:nvSpPr>
        <p:spPr>
          <a:xfrm>
            <a:off x="5962620" y="2022729"/>
            <a:ext cx="2577876" cy="75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PLIP: Salentin S, et al. 2015, doi:10.1093/nar/gkv315; Adasme MF, et al. 2021, doi:10.1093/nar/gkab294</a:t>
            </a:r>
            <a:endParaRPr lang="en-US" sz="1250" dirty="0"/>
          </a:p>
        </p:txBody>
      </p:sp>
      <p:sp>
        <p:nvSpPr>
          <p:cNvPr id="33" name="role-contract-slot:references:register-6"/>
          <p:cNvSpPr/>
          <p:nvPr/>
        </p:nvSpPr>
        <p:spPr>
          <a:xfrm>
            <a:off x="4700016" y="2886202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0016" y="2886202"/>
            <a:ext cx="64008" cy="826897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5" name="metadata:reference-title-6"/>
          <p:cNvSpPr txBox="1"/>
          <p:nvPr/>
        </p:nvSpPr>
        <p:spPr>
          <a:xfrm>
            <a:off x="4864608" y="3132836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R17</a:t>
            </a:r>
            <a:endParaRPr lang="en-US" sz="1250" dirty="0"/>
          </a:p>
        </p:txBody>
      </p:sp>
      <p:sp>
        <p:nvSpPr>
          <p:cNvPr id="36" name="metadata:reference-detail-6"/>
          <p:cNvSpPr txBox="1"/>
          <p:nvPr/>
        </p:nvSpPr>
        <p:spPr>
          <a:xfrm>
            <a:off x="5962620" y="2945511"/>
            <a:ext cx="2577876" cy="708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Eastman P, et al. OpenMM 8. J Phys Chem B 2024;128:109. doi:10.1021/acs.jpcb.3c06662</a:t>
            </a:r>
            <a:endParaRPr lang="en-US" sz="1250" dirty="0"/>
          </a:p>
        </p:txBody>
      </p:sp>
      <p:sp>
        <p:nvSpPr>
          <p:cNvPr id="37" name="role-contract-slot:references:register-7"/>
          <p:cNvSpPr/>
          <p:nvPr/>
        </p:nvSpPr>
        <p:spPr>
          <a:xfrm>
            <a:off x="4700016" y="3786251"/>
            <a:ext cx="3986784" cy="826897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3786251"/>
            <a:ext cx="64008" cy="82689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9" name="metadata:reference-title-7"/>
          <p:cNvSpPr txBox="1"/>
          <p:nvPr/>
        </p:nvSpPr>
        <p:spPr>
          <a:xfrm>
            <a:off x="4864608" y="4032885"/>
            <a:ext cx="988284" cy="33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R18</a:t>
            </a:r>
            <a:endParaRPr lang="en-US" sz="1250" dirty="0"/>
          </a:p>
        </p:txBody>
      </p:sp>
      <p:sp>
        <p:nvSpPr>
          <p:cNvPr id="40" name="metadata:reference-detail-7"/>
          <p:cNvSpPr txBox="1"/>
          <p:nvPr/>
        </p:nvSpPr>
        <p:spPr>
          <a:xfrm>
            <a:off x="5962620" y="3822827"/>
            <a:ext cx="2577876" cy="75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Giulini M, et al. HADDOCK3. J Chem Inf Model 2025;65:7315. doi:10.1021/acs.jcim.5c00969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titles and verification: media/deck/FIGURES.md · Sources: Europe PMC; arXiv</a:t>
            </a:r>
            <a:endParaRPr lang="en-US" sz="900" dirty="0"/>
          </a:p>
        </p:txBody>
      </p:sp>
      <p:sp>
        <p:nvSpPr>
          <p:cNvPr id="4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14/15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References: software and data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7776"/>
            <a:ext cx="198882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4036" y="756920"/>
            <a:ext cx="611276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role-contract-slot:evidence:0"/>
          <p:cNvSpPr/>
          <p:nvPr/>
        </p:nvSpPr>
        <p:spPr>
          <a:xfrm>
            <a:off x="457200" y="994664"/>
            <a:ext cx="4364980" cy="2087626"/>
          </a:xfrm>
          <a:prstGeom prst="rect">
            <a:avLst/>
          </a:prstGeom>
          <a:solidFill>
            <a:srgbClr val="0B2545"/>
          </a:solidFill>
          <a:ln w="7620">
            <a:solidFill>
              <a:srgbClr val="0B2545"/>
            </a:solidFill>
            <a:prstDash val="solid"/>
          </a:ln>
        </p:spPr>
      </p:sp>
      <p:sp>
        <p:nvSpPr>
          <p:cNvPr id="12" name="evidence:0:label"/>
          <p:cNvSpPr txBox="1"/>
          <p:nvPr/>
        </p:nvSpPr>
        <p:spPr>
          <a:xfrm>
            <a:off x="530352" y="1067816"/>
            <a:ext cx="421867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3" name="evidence:0:caption"/>
          <p:cNvSpPr txBox="1"/>
          <p:nvPr/>
        </p:nvSpPr>
        <p:spPr>
          <a:xfrm>
            <a:off x="530352" y="1547368"/>
            <a:ext cx="4218676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R15 RDKit 2026.9.1,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doi:10.5281/zenodo.591637. R16 PyMOL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open-source 3.2.0, Schrödinger. R20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OpenFold3 0.4.1 (software)</a:t>
            </a:r>
            <a:endParaRPr lang="en-US" sz="1600" dirty="0"/>
          </a:p>
        </p:txBody>
      </p:sp>
      <p:sp>
        <p:nvSpPr>
          <p:cNvPr id="14" name="role-contract-slot:evidence:1"/>
          <p:cNvSpPr/>
          <p:nvPr/>
        </p:nvSpPr>
        <p:spPr>
          <a:xfrm>
            <a:off x="4968484" y="994664"/>
            <a:ext cx="3718316" cy="0"/>
          </a:xfrm>
          <a:prstGeom prst="line">
            <a:avLst/>
          </a:prstGeom>
          <a:noFill/>
          <a:ln w="8890">
            <a:solidFill>
              <a:srgbClr val="C9302C"/>
            </a:solidFill>
            <a:prstDash val="solid"/>
          </a:ln>
        </p:spPr>
      </p:sp>
      <p:sp>
        <p:nvSpPr>
          <p:cNvPr id="15" name="evidence:1:label"/>
          <p:cNvSpPr txBox="1"/>
          <p:nvPr/>
        </p:nvSpPr>
        <p:spPr>
          <a:xfrm>
            <a:off x="5041636" y="1067816"/>
            <a:ext cx="3572012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pyDock [R19]</a:t>
            </a:r>
            <a:endParaRPr lang="en-US" sz="1600" dirty="0"/>
          </a:p>
        </p:txBody>
      </p:sp>
      <p:sp>
        <p:nvSpPr>
          <p:cNvPr id="16" name="evidence:1:caption"/>
          <p:cNvSpPr txBox="1"/>
          <p:nvPr/>
        </p:nvSpPr>
        <p:spPr>
          <a:xfrm>
            <a:off x="5041636" y="1547368"/>
            <a:ext cx="3572012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Cheng TM, Blundell TL,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Fernandez-Recio J. Proteins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2007;68:503.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doi:10.1002/prot.21419</a:t>
            </a:r>
            <a:endParaRPr lang="en-US" sz="1600" dirty="0"/>
          </a:p>
        </p:txBody>
      </p:sp>
      <p:sp>
        <p:nvSpPr>
          <p:cNvPr id="17" name="role-contract-slot:evidence:2"/>
          <p:cNvSpPr/>
          <p:nvPr/>
        </p:nvSpPr>
        <p:spPr>
          <a:xfrm>
            <a:off x="457200" y="3228594"/>
            <a:ext cx="8229600" cy="0"/>
          </a:xfrm>
          <a:prstGeom prst="line">
            <a:avLst/>
          </a:prstGeom>
          <a:noFill/>
          <a:ln w="8890">
            <a:solidFill>
              <a:srgbClr val="0B2545"/>
            </a:solidFill>
            <a:prstDash val="solid"/>
          </a:ln>
        </p:spPr>
      </p:sp>
      <p:sp>
        <p:nvSpPr>
          <p:cNvPr id="18" name="evidence:2:label"/>
          <p:cNvSpPr txBox="1"/>
          <p:nvPr/>
        </p:nvSpPr>
        <p:spPr>
          <a:xfrm>
            <a:off x="530352" y="3301746"/>
            <a:ext cx="185915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Structures</a:t>
            </a:r>
            <a:endParaRPr lang="en-US" sz="1600" dirty="0"/>
          </a:p>
        </p:txBody>
      </p:sp>
      <p:sp>
        <p:nvSpPr>
          <p:cNvPr id="19" name="evidence:2:caption"/>
          <p:cNvSpPr txBox="1"/>
          <p:nvPr/>
        </p:nvSpPr>
        <p:spPr>
          <a:xfrm>
            <a:off x="2480950" y="3301746"/>
            <a:ext cx="6132698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R21 Berman HM, et al. Nucleic Acids Res 2000;28:235.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doi:10.1093/nar/28.1.235. R22–R26 PDB 3PTB, 1B38, 8X61,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7XLP, 2VWH (primary citations in FIGURES.md)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titles and verification: media/deck/FIGURES.md · Sources: Europe PMC; RCSB PDB; rdkit.org</a:t>
            </a:r>
            <a:endParaRPr lang="en-US" sz="900" dirty="0"/>
          </a:p>
        </p:txBody>
      </p:sp>
      <p:sp>
        <p:nvSpPr>
          <p:cNvPr id="2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15/15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 Harness</dc:title>
  <dc:subject/>
  <dc:creator>Presentation Team</dc:creator>
  <cp:lastModifiedBy>Presentation Team</cp:lastModifiedBy>
  <cp:revision>1</cp:revision>
  <dcterms:created xsi:type="dcterms:W3CDTF">2026-10-18T01:24:08Z</dcterms:created>
  <dcterms:modified xsi:type="dcterms:W3CDTF">2026-10-18T01:24:08Z</dcterms:modified>
</cp:coreProperties>
</file>