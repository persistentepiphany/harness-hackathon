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predictions, same agent, two kinds of evidence: the model's own confidence score, or the harness fact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camera, proteins superposed; red marks the residues cut to glycine. Confidence barely moves (0.975 to 0.947) and PoseBusters still passes 20 of 20. The interactions are what collapse, and that is what the fact file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camera, proteins superposed; red marks the residues cut to glycine. Confidence barely moves (0.988 to 0.97) and PoseBusters still passes 20 of 20. The interactions are what collapse, and that is what the fact file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problem. Nothing in these columns tells the agent the pocket is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missed 9 of 9; the fact file caught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fourth target, FtsE, is held back: its reference is a homodimer and its values predate a superposition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73152"/>
            <a:ext cx="841248" cy="50292"/>
          </a:xfrm>
          <a:prstGeom prst="rect">
            <a:avLst/>
          </a:prstGeom>
          <a:solidFill>
            <a:srgbClr val="D1D5DB">
              <a:alpha val="82000"/>
            </a:srgbClr>
          </a:solidFill>
          <a:ln w="12700">
            <a:solidFill>
              <a:srgbClr val="D1D5DB">
                <a:alpha val="0"/>
              </a:srgbClr>
            </a:solidFill>
            <a:prstDash val="solid"/>
          </a:ln>
        </p:spPr>
      </p:sp>
      <p:sp>
        <p:nvSpPr>
          <p:cNvPr id="3" name="Shape 1"/>
          <p:cNvSpPr/>
          <p:nvPr/>
        </p:nvSpPr>
        <p:spPr>
          <a:xfrm>
            <a:off x="1463040" y="73152"/>
            <a:ext cx="841248" cy="50292"/>
          </a:xfrm>
          <a:prstGeom prst="rect">
            <a:avLst/>
          </a:prstGeom>
          <a:solidFill>
            <a:srgbClr val="D1D5DB">
              <a:alpha val="82000"/>
            </a:srgbClr>
          </a:solidFill>
          <a:ln w="12700">
            <a:solidFill>
              <a:srgbClr val="D1D5DB">
                <a:alpha val="0"/>
              </a:srgbClr>
            </a:solidFill>
            <a:prstDash val="solid"/>
          </a:ln>
        </p:spPr>
      </p:sp>
      <p:sp>
        <p:nvSpPr>
          <p:cNvPr id="4" name="Shape 2"/>
          <p:cNvSpPr/>
          <p:nvPr/>
        </p:nvSpPr>
        <p:spPr>
          <a:xfrm>
            <a:off x="2468880" y="73152"/>
            <a:ext cx="841248" cy="50292"/>
          </a:xfrm>
          <a:prstGeom prst="rect">
            <a:avLst/>
          </a:prstGeom>
          <a:solidFill>
            <a:srgbClr val="0B2545"/>
          </a:solidFill>
          <a:ln w="12700">
            <a:solidFill>
              <a:srgbClr val="0B2545">
                <a:alpha val="0"/>
              </a:srgbClr>
            </a:solidFill>
            <a:prstDash val="solid"/>
          </a:ln>
        </p:spPr>
      </p:sp>
      <p:sp>
        <p:nvSpPr>
          <p:cNvPr id="5" name="Shape 3"/>
          <p:cNvSpPr/>
          <p:nvPr/>
        </p:nvSpPr>
        <p:spPr>
          <a:xfrm>
            <a:off x="3474720" y="73152"/>
            <a:ext cx="841248" cy="50292"/>
          </a:xfrm>
          <a:prstGeom prst="rect">
            <a:avLst/>
          </a:prstGeom>
          <a:solidFill>
            <a:srgbClr val="D1D5DB">
              <a:alpha val="82000"/>
            </a:srgbClr>
          </a:solidFill>
          <a:ln w="12700">
            <a:solidFill>
              <a:srgbClr val="D1D5DB">
                <a:alpha val="0"/>
              </a:srgbClr>
            </a:solidFill>
            <a:prstDash val="solid"/>
          </a:ln>
        </p:spPr>
      </p:sp>
      <p:sp>
        <p:nvSpPr>
          <p:cNvPr id="6" name="Shape 4"/>
          <p:cNvSpPr/>
          <p:nvPr/>
        </p:nvSpPr>
        <p:spPr>
          <a:xfrm>
            <a:off x="457200" y="4668012"/>
            <a:ext cx="8229600" cy="16459"/>
          </a:xfrm>
          <a:prstGeom prst="rect">
            <a:avLst/>
          </a:prstGeom>
          <a:solidFill>
            <a:srgbClr val="D1D5DB"/>
          </a:solidFill>
          <a:ln w="12700">
            <a:solidFill>
              <a:srgbClr val="D1D5DB">
                <a:alpha val="0"/>
              </a:srgbClr>
            </a:solidFill>
            <a:prstDash val="solid"/>
          </a:ln>
        </p:spPr>
      </p:sp>
      <p:sp>
        <p:nvSpPr>
          <p:cNvPr id="7" name="Shape 5"/>
          <p:cNvSpPr/>
          <p:nvPr/>
        </p:nvSpPr>
        <p:spPr>
          <a:xfrm>
            <a:off x="457200" y="4713732"/>
            <a:ext cx="1481328" cy="32004"/>
          </a:xfrm>
          <a:prstGeom prst="rect">
            <a:avLst/>
          </a:prstGeom>
          <a:solidFill>
            <a:srgbClr val="C9302C"/>
          </a:solidFill>
          <a:ln w="12700">
            <a:solidFill>
              <a:srgbClr val="C9302C">
                <a:alpha val="0"/>
              </a:srgbClr>
            </a:solidFill>
            <a:prstDash val="solid"/>
          </a:ln>
        </p:spPr>
      </p:sp>
      <p:sp>
        <p:nvSpPr>
          <p:cNvPr id="8" name="metadata:title-kicker"/>
          <p:cNvSpPr txBox="1"/>
          <p:nvPr/>
        </p:nvSpPr>
        <p:spPr>
          <a:xfrm>
            <a:off x="1645920" y="1265301"/>
            <a:ext cx="4389120" cy="219456"/>
          </a:xfrm>
          <a:prstGeom prst="rect">
            <a:avLst/>
          </a:prstGeom>
          <a:noFill/>
          <a:ln/>
        </p:spPr>
        <p:txBody>
          <a:bodyPr wrap="square" lIns="0" tIns="0" rIns="0" bIns="0" rtlCol="0" anchor="t">
            <a:normAutofit/>
          </a:bodyPr>
          <a:lstStyle/>
          <a:p>
            <a:pPr algn="l" indent="0" marL="0">
              <a:buNone/>
            </a:pPr>
            <a:r>
              <a:rPr lang="en-US" sz="900" b="1" spc="110" kern="0" dirty="0">
                <a:solidFill>
                  <a:srgbClr val="0B2545"/>
                </a:solidFill>
                <a:latin typeface="Helvetica Neue" pitchFamily="34" charset="0"/>
                <a:ea typeface="Helvetica Neue" pitchFamily="34" charset="-122"/>
                <a:cs typeface="Helvetica Neue" pitchFamily="34" charset="-120"/>
              </a:rPr>
              <a:t>PRESENTATION</a:t>
            </a:r>
            <a:endParaRPr lang="en-US" sz="900" dirty="0"/>
          </a:p>
        </p:txBody>
      </p:sp>
      <p:sp>
        <p:nvSpPr>
          <p:cNvPr id="9" name="decorative:role-contract-accent:title:heading"/>
          <p:cNvSpPr/>
          <p:nvPr/>
        </p:nvSpPr>
        <p:spPr>
          <a:xfrm>
            <a:off x="1645920" y="1484757"/>
            <a:ext cx="1051560" cy="41148"/>
          </a:xfrm>
          <a:prstGeom prst="rect">
            <a:avLst/>
          </a:prstGeom>
          <a:solidFill>
            <a:srgbClr val="0B2545"/>
          </a:solidFill>
          <a:ln w="12700">
            <a:solidFill>
              <a:srgbClr val="0B2545"/>
            </a:solidFill>
            <a:prstDash val="solid"/>
          </a:ln>
        </p:spPr>
      </p:sp>
      <p:sp>
        <p:nvSpPr>
          <p:cNvPr id="10" name="slide-title:title"/>
          <p:cNvSpPr txBox="1"/>
          <p:nvPr/>
        </p:nvSpPr>
        <p:spPr>
          <a:xfrm>
            <a:off x="1645920" y="1594485"/>
            <a:ext cx="5852160" cy="1543050"/>
          </a:xfrm>
          <a:prstGeom prst="rect">
            <a:avLst/>
          </a:prstGeom>
          <a:noFill/>
          <a:ln/>
        </p:spPr>
        <p:txBody>
          <a:bodyPr wrap="square" lIns="0" tIns="0" rIns="0" bIns="0" rtlCol="0" anchor="ctr">
            <a:normAutofit/>
          </a:bodyPr>
          <a:lstStyle/>
          <a:p>
            <a:pPr algn="l" indent="0" marL="0">
              <a:buNone/>
            </a:pPr>
            <a:r>
              <a:rPr lang="en-US" sz="4200" b="1" dirty="0">
                <a:solidFill>
                  <a:srgbClr val="1B2838"/>
                </a:solidFill>
                <a:latin typeface="Helvetica Neue" pitchFamily="34" charset="0"/>
                <a:ea typeface="Helvetica Neue" pitchFamily="34" charset="-122"/>
                <a:cs typeface="Helvetica Neue" pitchFamily="34" charset="-120"/>
              </a:rPr>
              <a:t>Confidence missed every sabotaged pose</a:t>
            </a:r>
            <a:endParaRPr lang="en-US" sz="4200" dirty="0"/>
          </a:p>
        </p:txBody>
      </p:sp>
      <p:sp>
        <p:nvSpPr>
          <p:cNvPr id="11" name="Text 9"/>
          <p:cNvSpPr txBox="1"/>
          <p:nvPr/>
        </p:nvSpPr>
        <p:spPr>
          <a:xfrm>
            <a:off x="1645920" y="3549015"/>
            <a:ext cx="5852160" cy="617220"/>
          </a:xfrm>
          <a:prstGeom prst="rect">
            <a:avLst/>
          </a:prstGeom>
          <a:noFill/>
          <a:ln/>
        </p:spPr>
        <p:txBody>
          <a:bodyPr wrap="square" lIns="0" tIns="0" rIns="0" bIns="0" rtlCol="0" anchor="t">
            <a:normAutofit/>
          </a:bodyPr>
          <a:lstStyle/>
          <a:p>
            <a:pPr algn="l" indent="0" marL="0">
              <a:buNone/>
            </a:pPr>
            <a:r>
              <a:rPr lang="en-US" sz="1600" dirty="0">
                <a:solidFill>
                  <a:srgbClr val="4B5563"/>
                </a:solidFill>
                <a:latin typeface="Helvetica Neue" pitchFamily="34" charset="0"/>
                <a:ea typeface="Helvetica Neue" pitchFamily="34" charset="-122"/>
                <a:cs typeface="Helvetica Neue" pitchFamily="34" charset="-120"/>
              </a:rPr>
              <a:t>The harness caught all 9 of 9</a:t>
            </a:r>
            <a:endParaRPr lang="en-US" sz="1600" dirty="0"/>
          </a:p>
        </p:txBody>
      </p:sp>
      <p:sp>
        <p:nvSpPr>
          <p:cNvPr id="12" name="Shape 10"/>
          <p:cNvSpPr/>
          <p:nvPr/>
        </p:nvSpPr>
        <p:spPr>
          <a:xfrm>
            <a:off x="457200" y="4814316"/>
            <a:ext cx="8229600" cy="18288"/>
          </a:xfrm>
          <a:prstGeom prst="rect">
            <a:avLst/>
          </a:prstGeom>
          <a:solidFill>
            <a:srgbClr val="D1D5DB"/>
          </a:solidFill>
          <a:ln w="12700">
            <a:solidFill>
              <a:srgbClr val="FFFFFF"/>
            </a:solidFill>
            <a:prstDash val="solid"/>
          </a:ln>
        </p:spPr>
      </p:sp>
      <p:sp>
        <p:nvSpPr>
          <p:cNvPr id="13" name="metadata:footer-page-number"/>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900" dirty="0">
                <a:solidFill>
                  <a:srgbClr val="4B5563"/>
                </a:solidFill>
                <a:latin typeface="Helvetica Neue" pitchFamily="34" charset="0"/>
                <a:ea typeface="Helvetica Neue" pitchFamily="34" charset="-122"/>
                <a:cs typeface="Helvetica Neue" pitchFamily="34" charset="-120"/>
              </a:rPr>
              <a:t>1/8</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73152"/>
            <a:ext cx="841248" cy="50292"/>
          </a:xfrm>
          <a:prstGeom prst="rect">
            <a:avLst/>
          </a:prstGeom>
          <a:solidFill>
            <a:srgbClr val="D1D5DB">
              <a:alpha val="82000"/>
            </a:srgbClr>
          </a:solidFill>
          <a:ln w="12700">
            <a:solidFill>
              <a:srgbClr val="D1D5DB">
                <a:alpha val="0"/>
              </a:srgbClr>
            </a:solidFill>
            <a:prstDash val="solid"/>
          </a:ln>
        </p:spPr>
      </p:sp>
      <p:sp>
        <p:nvSpPr>
          <p:cNvPr id="3" name="Shape 1"/>
          <p:cNvSpPr/>
          <p:nvPr/>
        </p:nvSpPr>
        <p:spPr>
          <a:xfrm>
            <a:off x="1463040" y="73152"/>
            <a:ext cx="841248" cy="50292"/>
          </a:xfrm>
          <a:prstGeom prst="rect">
            <a:avLst/>
          </a:prstGeom>
          <a:solidFill>
            <a:srgbClr val="D1D5DB">
              <a:alpha val="82000"/>
            </a:srgbClr>
          </a:solidFill>
          <a:ln w="12700">
            <a:solidFill>
              <a:srgbClr val="D1D5DB">
                <a:alpha val="0"/>
              </a:srgbClr>
            </a:solidFill>
            <a:prstDash val="solid"/>
          </a:ln>
        </p:spPr>
      </p:sp>
      <p:sp>
        <p:nvSpPr>
          <p:cNvPr id="4" name="Shape 2"/>
          <p:cNvSpPr/>
          <p:nvPr/>
        </p:nvSpPr>
        <p:spPr>
          <a:xfrm>
            <a:off x="2468880" y="73152"/>
            <a:ext cx="841248" cy="50292"/>
          </a:xfrm>
          <a:prstGeom prst="rect">
            <a:avLst/>
          </a:prstGeom>
          <a:solidFill>
            <a:srgbClr val="0B2545"/>
          </a:solidFill>
          <a:ln w="12700">
            <a:solidFill>
              <a:srgbClr val="0B2545">
                <a:alpha val="0"/>
              </a:srgbClr>
            </a:solidFill>
            <a:prstDash val="solid"/>
          </a:ln>
        </p:spPr>
      </p:sp>
      <p:sp>
        <p:nvSpPr>
          <p:cNvPr id="5" name="Shape 3"/>
          <p:cNvSpPr/>
          <p:nvPr/>
        </p:nvSpPr>
        <p:spPr>
          <a:xfrm>
            <a:off x="3474720" y="73152"/>
            <a:ext cx="841248" cy="50292"/>
          </a:xfrm>
          <a:prstGeom prst="rect">
            <a:avLst/>
          </a:prstGeom>
          <a:solidFill>
            <a:srgbClr val="D1D5DB">
              <a:alpha val="82000"/>
            </a:srgbClr>
          </a:solidFill>
          <a:ln w="12700">
            <a:solidFill>
              <a:srgbClr val="D1D5DB">
                <a:alpha val="0"/>
              </a:srgbClr>
            </a:solidFill>
            <a:prstDash val="solid"/>
          </a:ln>
        </p:spPr>
      </p:sp>
      <p:sp>
        <p:nvSpPr>
          <p:cNvPr id="6" name="Shape 4"/>
          <p:cNvSpPr/>
          <p:nvPr/>
        </p:nvSpPr>
        <p:spPr>
          <a:xfrm>
            <a:off x="457200" y="4668012"/>
            <a:ext cx="8229600" cy="16459"/>
          </a:xfrm>
          <a:prstGeom prst="rect">
            <a:avLst/>
          </a:prstGeom>
          <a:solidFill>
            <a:srgbClr val="D1D5DB"/>
          </a:solidFill>
          <a:ln w="12700">
            <a:solidFill>
              <a:srgbClr val="D1D5DB">
                <a:alpha val="0"/>
              </a:srgbClr>
            </a:solidFill>
            <a:prstDash val="solid"/>
          </a:ln>
        </p:spPr>
      </p:sp>
      <p:sp>
        <p:nvSpPr>
          <p:cNvPr id="7" name="Shape 5"/>
          <p:cNvSpPr/>
          <p:nvPr/>
        </p:nvSpPr>
        <p:spPr>
          <a:xfrm>
            <a:off x="457200" y="4713732"/>
            <a:ext cx="1481328" cy="32004"/>
          </a:xfrm>
          <a:prstGeom prst="rect">
            <a:avLst/>
          </a:prstGeom>
          <a:solidFill>
            <a:srgbClr val="C9302C"/>
          </a:solidFill>
          <a:ln w="12700">
            <a:solidFill>
              <a:srgbClr val="C9302C">
                <a:alpha val="0"/>
              </a:srgbClr>
            </a:solidFill>
            <a:prstDash val="solid"/>
          </a:ln>
        </p:spPr>
      </p:sp>
      <p:sp>
        <p:nvSpPr>
          <p:cNvPr id="8" name="slide-title:content"/>
          <p:cNvSpPr txBox="1"/>
          <p:nvPr/>
        </p:nvSpPr>
        <p:spPr>
          <a:xfrm>
            <a:off x="457200" y="173736"/>
            <a:ext cx="8229600" cy="528320"/>
          </a:xfrm>
          <a:prstGeom prst="rect">
            <a:avLst/>
          </a:prstGeom>
          <a:noFill/>
          <a:ln/>
        </p:spPr>
        <p:txBody>
          <a:bodyPr wrap="square" lIns="0" tIns="0" rIns="0" bIns="0" rtlCol="0" anchor="t"/>
          <a:lstStyle/>
          <a:p>
            <a:pPr algn="l" indent="0" marL="0">
              <a:buNone/>
            </a:pPr>
            <a:r>
              <a:rPr lang="en-US" sz="2800" b="1" dirty="0">
                <a:solidFill>
                  <a:srgbClr val="1B2838"/>
                </a:solidFill>
                <a:latin typeface="Helvetica Neue" pitchFamily="34" charset="0"/>
                <a:ea typeface="Helvetica Neue" pitchFamily="34" charset="-122"/>
                <a:cs typeface="Helvetica Neue" pitchFamily="34" charset="-120"/>
              </a:rPr>
              <a:t>Three targets, each predicted twice</a:t>
            </a:r>
            <a:endParaRPr lang="en-US" sz="2800" dirty="0"/>
          </a:p>
        </p:txBody>
      </p:sp>
      <p:sp>
        <p:nvSpPr>
          <p:cNvPr id="9" name="Shape 7"/>
          <p:cNvSpPr/>
          <p:nvPr/>
        </p:nvSpPr>
        <p:spPr>
          <a:xfrm>
            <a:off x="457200" y="745947"/>
            <a:ext cx="2377440" cy="31090"/>
          </a:xfrm>
          <a:prstGeom prst="rect">
            <a:avLst/>
          </a:prstGeom>
          <a:solidFill>
            <a:srgbClr val="C9302C"/>
          </a:solidFill>
          <a:ln w="12700">
            <a:solidFill>
              <a:srgbClr val="C9302C"/>
            </a:solidFill>
            <a:prstDash val="solid"/>
          </a:ln>
        </p:spPr>
      </p:sp>
      <p:sp>
        <p:nvSpPr>
          <p:cNvPr id="10" name="Shape 8"/>
          <p:cNvSpPr/>
          <p:nvPr/>
        </p:nvSpPr>
        <p:spPr>
          <a:xfrm>
            <a:off x="2944368" y="756920"/>
            <a:ext cx="5742432" cy="12802"/>
          </a:xfrm>
          <a:prstGeom prst="rect">
            <a:avLst/>
          </a:prstGeom>
          <a:solidFill>
            <a:srgbClr val="D1D5DB"/>
          </a:solidFill>
          <a:ln w="12700">
            <a:solidFill>
              <a:srgbClr val="D1D5DB"/>
            </a:solidFill>
            <a:prstDash val="solid"/>
          </a:ln>
        </p:spPr>
      </p:sp>
      <p:sp>
        <p:nvSpPr>
          <p:cNvPr id="11" name="metadata:table-index-label"/>
          <p:cNvSpPr txBox="1"/>
          <p:nvPr/>
        </p:nvSpPr>
        <p:spPr>
          <a:xfrm>
            <a:off x="566928" y="1159256"/>
            <a:ext cx="969264" cy="283464"/>
          </a:xfrm>
          <a:prstGeom prst="rect">
            <a:avLst/>
          </a:prstGeom>
          <a:noFill/>
          <a:ln/>
        </p:spPr>
        <p:txBody>
          <a:bodyPr wrap="square" lIns="0" tIns="0" rIns="0" bIns="0" rtlCol="0" anchor="t"/>
          <a:lstStyle/>
          <a:p>
            <a:pPr algn="l" indent="0" marL="0">
              <a:buNone/>
            </a:pPr>
            <a:r>
              <a:rPr lang="en-US" sz="900" b="1" dirty="0">
                <a:solidFill>
                  <a:srgbClr val="0B2545"/>
                </a:solidFill>
                <a:latin typeface="Helvetica Neue" pitchFamily="34" charset="0"/>
                <a:ea typeface="Helvetica Neue" pitchFamily="34" charset="-122"/>
                <a:cs typeface="Helvetica Neue" pitchFamily="34" charset="-120"/>
              </a:rPr>
              <a:t>TABLE INDEX</a:t>
            </a:r>
            <a:endParaRPr lang="en-US" sz="900" dirty="0"/>
          </a:p>
        </p:txBody>
      </p:sp>
      <p:sp>
        <p:nvSpPr>
          <p:cNvPr id="12" name="metadata:table-index-detail"/>
          <p:cNvSpPr txBox="1"/>
          <p:nvPr/>
        </p:nvSpPr>
        <p:spPr>
          <a:xfrm>
            <a:off x="1645920" y="1159256"/>
            <a:ext cx="6931152" cy="283464"/>
          </a:xfrm>
          <a:prstGeom prst="rect">
            <a:avLst/>
          </a:prstGeom>
          <a:noFill/>
          <a:ln/>
        </p:spPr>
        <p:txBody>
          <a:bodyPr wrap="square" lIns="0" tIns="0" rIns="0" bIns="0" rtlCol="0" anchor="t"/>
          <a:lstStyle/>
          <a:p>
            <a:pPr algn="l" indent="0" marL="0">
              <a:buNone/>
            </a:pPr>
            <a:r>
              <a:rPr lang="en-US" sz="900" dirty="0">
                <a:solidFill>
                  <a:srgbClr val="1B2838"/>
                </a:solidFill>
                <a:latin typeface="Helvetica Neue" pitchFamily="34" charset="0"/>
                <a:ea typeface="Helvetica Neue" pitchFamily="34" charset="-122"/>
                <a:cs typeface="Helvetica Neue" pitchFamily="34" charset="-120"/>
              </a:rPr>
              <a:t>3 rows | Target | Entry and ligand | Sabotage | Medoid pose</a:t>
            </a:r>
            <a:endParaRPr lang="en-US" sz="900" dirty="0"/>
          </a:p>
        </p:txBody>
      </p:sp>
      <p:graphicFrame>
        <p:nvGraphicFramePr>
          <p:cNvPr id="3" name="Editable table: Three targets, each predicted twice"/>
          <p:cNvGraphicFramePr>
            <a:graphicFrameLocks noGrp="1"/>
          </p:cNvGraphicFramePr>
          <p:nvPr>
            <p:extLst>
              <p:ext uri="{D42A27DB-BD31-4B8C-83A1-F6EECF244321}">
                <p14:modId xmlns:p14="http://schemas.microsoft.com/office/powerpoint/2010/main" val="1579011935"/>
              </p:ext>
            </p:extLst>
          </p:nvPr>
        </p:nvGraphicFramePr>
        <p:xfrm>
          <a:off x="457200" y="1688810"/>
          <a:ext cx="8229600" cy="2186432"/>
        </p:xfrm>
        <a:graphic>
          <a:graphicData uri="http://schemas.openxmlformats.org/drawingml/2006/table">
            <a:tbl>
              <a:tblPr/>
              <a:tblGrid>
                <a:gridCol w="1970705"/>
                <a:gridCol w="1970705"/>
                <a:gridCol w="1993723"/>
                <a:gridCol w="2294467"/>
              </a:tblGrid>
              <a:tr h="351536">
                <a:tc>
                  <a:txBody>
                    <a:bodyPr/>
                    <a:lstStyle/>
                    <a:p>
                      <a:pPr algn="l" indent="0" marL="0">
                        <a:buNone/>
                      </a:pPr>
                      <a:r>
                        <a:rPr lang="en-US" sz="1600" b="1" dirty="0">
                          <a:solidFill>
                            <a:srgbClr val="FFFFFF"/>
                          </a:solidFill>
                          <a:latin typeface="Helvetica Neue" pitchFamily="34" charset="0"/>
                          <a:ea typeface="Helvetica Neue" pitchFamily="34" charset="-122"/>
                          <a:cs typeface="Helvetica Neue" pitchFamily="34" charset="-120"/>
                        </a:rPr>
                        <a:t>Target</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l" indent="0" marL="0">
                        <a:buNone/>
                      </a:pPr>
                      <a:r>
                        <a:rPr lang="en-US" sz="1600" b="1" dirty="0">
                          <a:solidFill>
                            <a:srgbClr val="FFFFFF"/>
                          </a:solidFill>
                          <a:latin typeface="Helvetica Neue" pitchFamily="34" charset="0"/>
                          <a:ea typeface="Helvetica Neue" pitchFamily="34" charset="-122"/>
                          <a:cs typeface="Helvetica Neue" pitchFamily="34" charset="-120"/>
                        </a:rPr>
                        <a:t>Entry and ligand</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l" indent="0" marL="0">
                        <a:buNone/>
                      </a:pPr>
                      <a:r>
                        <a:rPr lang="en-US" sz="1600" b="1" dirty="0">
                          <a:solidFill>
                            <a:srgbClr val="FFFFFF"/>
                          </a:solidFill>
                          <a:latin typeface="Helvetica Neue" pitchFamily="34" charset="0"/>
                          <a:ea typeface="Helvetica Neue" pitchFamily="34" charset="-122"/>
                          <a:cs typeface="Helvetica Neue" pitchFamily="34" charset="-120"/>
                        </a:rPr>
                        <a:t>Sabotage</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l" indent="0" marL="0">
                        <a:buNone/>
                      </a:pPr>
                      <a:r>
                        <a:rPr lang="en-US" sz="1600" b="1" dirty="0">
                          <a:solidFill>
                            <a:srgbClr val="FFFFFF"/>
                          </a:solidFill>
                          <a:latin typeface="Helvetica Neue" pitchFamily="34" charset="0"/>
                          <a:ea typeface="Helvetica Neue" pitchFamily="34" charset="-122"/>
                          <a:cs typeface="Helvetica Neue" pitchFamily="34" charset="-120"/>
                        </a:rPr>
                        <a:t>Medoid pose</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B2545"/>
                    </a:solidFill>
                  </a:tcPr>
                </a:tc>
              </a:tr>
              <a:tr h="611632">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CDK2</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1B38, ATP</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13 contacts to glycine</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boltz2/seed3/sample0</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611632">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MEK1</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7XLP, FZC</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11 contacts to glycine</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boltz2/seed2/sample0</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611632">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glucose DH</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2VWH, glucose</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3 hydroxyls methylated</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boltz2/seed2/sample0</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4" name="metadata:table-caption"/>
          <p:cNvSpPr txBox="1"/>
          <p:nvPr/>
        </p:nvSpPr>
        <p:spPr>
          <a:xfrm>
            <a:off x="457200" y="3948394"/>
            <a:ext cx="8229600" cy="429768"/>
          </a:xfrm>
          <a:prstGeom prst="rect">
            <a:avLst/>
          </a:prstGeom>
          <a:noFill/>
          <a:ln/>
        </p:spPr>
        <p:txBody>
          <a:bodyPr wrap="square" lIns="0" tIns="0" rIns="0" bIns="0" rtlCol="0" anchor="t"/>
          <a:lstStyle/>
          <a:p>
            <a:pPr algn="l" indent="0" marL="0">
              <a:buNone/>
            </a:pPr>
            <a:r>
              <a:rPr lang="en-US" sz="900" i="1" dirty="0">
                <a:solidFill>
                  <a:srgbClr val="4B5563"/>
                </a:solidFill>
                <a:latin typeface="Helvetica Neue" pitchFamily="34" charset="0"/>
                <a:ea typeface="Helvetica Neue" pitchFamily="34" charset="-122"/>
                <a:cs typeface="Helvetica Neue" pitchFamily="34" charset="-120"/>
              </a:rPr>
              <a:t>Boltz-2 2.2.1 on A100, three seeds per prediction, three independent runs. A sabotaged system cannot bind as deposited, so every sabotaged pose should be rejected.</a:t>
            </a:r>
            <a:endParaRPr lang="en-US" sz="900" dirty="0"/>
          </a:p>
        </p:txBody>
      </p:sp>
      <p:sp>
        <p:nvSpPr>
          <p:cNvPr id="15" name="Shape 12"/>
          <p:cNvSpPr/>
          <p:nvPr/>
        </p:nvSpPr>
        <p:spPr>
          <a:xfrm>
            <a:off x="457200" y="4814316"/>
            <a:ext cx="8229600" cy="18288"/>
          </a:xfrm>
          <a:prstGeom prst="rect">
            <a:avLst/>
          </a:prstGeom>
          <a:solidFill>
            <a:srgbClr val="D1D5DB"/>
          </a:solidFill>
          <a:ln w="12700">
            <a:solidFill>
              <a:srgbClr val="FFFFFF"/>
            </a:solidFill>
            <a:prstDash val="solid"/>
          </a:ln>
        </p:spPr>
      </p:sp>
      <p:sp>
        <p:nvSpPr>
          <p:cNvPr id="16" name="metadata:footer-sources"/>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900" dirty="0">
                <a:solidFill>
                  <a:srgbClr val="4B5563"/>
                </a:solidFill>
                <a:latin typeface="Helvetica Neue" pitchFamily="34" charset="0"/>
                <a:ea typeface="Helvetica Neue" pitchFamily="34" charset="-122"/>
                <a:cs typeface="Helvetica Neue" pitchFamily="34" charset="-120"/>
              </a:rPr>
              <a:t>S1: bench/runs (2026-10-17T1611Z-426bfe9, 2026-10-17T1752Z-2f5a1c7, 2026-10-17T1859Z-849c856) · Sources: S1</a:t>
            </a:r>
            <a:endParaRPr lang="en-US" sz="900" dirty="0"/>
          </a:p>
        </p:txBody>
      </p:sp>
      <p:sp>
        <p:nvSpPr>
          <p:cNvPr id="17" name="metadata:footer-page-number"/>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900" dirty="0">
                <a:solidFill>
                  <a:srgbClr val="4B5563"/>
                </a:solidFill>
                <a:latin typeface="Helvetica Neue" pitchFamily="34" charset="0"/>
                <a:ea typeface="Helvetica Neue" pitchFamily="34" charset="-122"/>
                <a:cs typeface="Helvetica Neue" pitchFamily="34" charset="-120"/>
              </a:rPr>
              <a:t>2/8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73152"/>
            <a:ext cx="841248" cy="50292"/>
          </a:xfrm>
          <a:prstGeom prst="rect">
            <a:avLst/>
          </a:prstGeom>
          <a:solidFill>
            <a:srgbClr val="D1D5DB">
              <a:alpha val="82000"/>
            </a:srgbClr>
          </a:solidFill>
          <a:ln w="12700">
            <a:solidFill>
              <a:srgbClr val="D1D5DB">
                <a:alpha val="0"/>
              </a:srgbClr>
            </a:solidFill>
            <a:prstDash val="solid"/>
          </a:ln>
        </p:spPr>
      </p:sp>
      <p:sp>
        <p:nvSpPr>
          <p:cNvPr id="3" name="Shape 1"/>
          <p:cNvSpPr/>
          <p:nvPr/>
        </p:nvSpPr>
        <p:spPr>
          <a:xfrm>
            <a:off x="1463040" y="73152"/>
            <a:ext cx="841248" cy="50292"/>
          </a:xfrm>
          <a:prstGeom prst="rect">
            <a:avLst/>
          </a:prstGeom>
          <a:solidFill>
            <a:srgbClr val="D1D5DB">
              <a:alpha val="82000"/>
            </a:srgbClr>
          </a:solidFill>
          <a:ln w="12700">
            <a:solidFill>
              <a:srgbClr val="D1D5DB">
                <a:alpha val="0"/>
              </a:srgbClr>
            </a:solidFill>
            <a:prstDash val="solid"/>
          </a:ln>
        </p:spPr>
      </p:sp>
      <p:sp>
        <p:nvSpPr>
          <p:cNvPr id="4" name="Shape 2"/>
          <p:cNvSpPr/>
          <p:nvPr/>
        </p:nvSpPr>
        <p:spPr>
          <a:xfrm>
            <a:off x="2468880" y="73152"/>
            <a:ext cx="841248" cy="50292"/>
          </a:xfrm>
          <a:prstGeom prst="rect">
            <a:avLst/>
          </a:prstGeom>
          <a:solidFill>
            <a:srgbClr val="0B2545"/>
          </a:solidFill>
          <a:ln w="12700">
            <a:solidFill>
              <a:srgbClr val="0B2545">
                <a:alpha val="0"/>
              </a:srgbClr>
            </a:solidFill>
            <a:prstDash val="solid"/>
          </a:ln>
        </p:spPr>
      </p:sp>
      <p:sp>
        <p:nvSpPr>
          <p:cNvPr id="5" name="Shape 3"/>
          <p:cNvSpPr/>
          <p:nvPr/>
        </p:nvSpPr>
        <p:spPr>
          <a:xfrm>
            <a:off x="3474720" y="73152"/>
            <a:ext cx="841248" cy="50292"/>
          </a:xfrm>
          <a:prstGeom prst="rect">
            <a:avLst/>
          </a:prstGeom>
          <a:solidFill>
            <a:srgbClr val="D1D5DB">
              <a:alpha val="82000"/>
            </a:srgbClr>
          </a:solidFill>
          <a:ln w="12700">
            <a:solidFill>
              <a:srgbClr val="D1D5DB">
                <a:alpha val="0"/>
              </a:srgbClr>
            </a:solidFill>
            <a:prstDash val="solid"/>
          </a:ln>
        </p:spPr>
      </p:sp>
      <p:sp>
        <p:nvSpPr>
          <p:cNvPr id="6" name="Shape 4"/>
          <p:cNvSpPr/>
          <p:nvPr/>
        </p:nvSpPr>
        <p:spPr>
          <a:xfrm>
            <a:off x="457200" y="4668012"/>
            <a:ext cx="8229600" cy="16459"/>
          </a:xfrm>
          <a:prstGeom prst="rect">
            <a:avLst/>
          </a:prstGeom>
          <a:solidFill>
            <a:srgbClr val="D1D5DB"/>
          </a:solidFill>
          <a:ln w="12700">
            <a:solidFill>
              <a:srgbClr val="D1D5DB">
                <a:alpha val="0"/>
              </a:srgbClr>
            </a:solidFill>
            <a:prstDash val="solid"/>
          </a:ln>
        </p:spPr>
      </p:sp>
      <p:sp>
        <p:nvSpPr>
          <p:cNvPr id="7" name="Shape 5"/>
          <p:cNvSpPr/>
          <p:nvPr/>
        </p:nvSpPr>
        <p:spPr>
          <a:xfrm>
            <a:off x="457200" y="4713732"/>
            <a:ext cx="1481328" cy="32004"/>
          </a:xfrm>
          <a:prstGeom prst="rect">
            <a:avLst/>
          </a:prstGeom>
          <a:solidFill>
            <a:srgbClr val="C9302C"/>
          </a:solidFill>
          <a:ln w="12700">
            <a:solidFill>
              <a:srgbClr val="C9302C">
                <a:alpha val="0"/>
              </a:srgbClr>
            </a:solidFill>
            <a:prstDash val="solid"/>
          </a:ln>
        </p:spPr>
      </p:sp>
      <p:sp>
        <p:nvSpPr>
          <p:cNvPr id="8" name="slide-title:content"/>
          <p:cNvSpPr txBox="1"/>
          <p:nvPr/>
        </p:nvSpPr>
        <p:spPr>
          <a:xfrm>
            <a:off x="457200" y="173736"/>
            <a:ext cx="8229600" cy="528320"/>
          </a:xfrm>
          <a:prstGeom prst="rect">
            <a:avLst/>
          </a:prstGeom>
          <a:noFill/>
          <a:ln/>
        </p:spPr>
        <p:txBody>
          <a:bodyPr wrap="square" lIns="0" tIns="0" rIns="0" bIns="0" rtlCol="0" anchor="t"/>
          <a:lstStyle/>
          <a:p>
            <a:pPr algn="l" indent="0" marL="0">
              <a:buNone/>
            </a:pPr>
            <a:r>
              <a:rPr lang="en-US" sz="2800" b="1" dirty="0">
                <a:solidFill>
                  <a:srgbClr val="1B2838"/>
                </a:solidFill>
                <a:latin typeface="Helvetica Neue" pitchFamily="34" charset="0"/>
                <a:ea typeface="Helvetica Neue" pitchFamily="34" charset="-122"/>
                <a:cs typeface="Helvetica Neue" pitchFamily="34" charset="-120"/>
              </a:rPr>
              <a:t>CDK2: the ligand stays, the contacts go</a:t>
            </a:r>
            <a:endParaRPr lang="en-US" sz="2800" dirty="0"/>
          </a:p>
        </p:txBody>
      </p:sp>
      <p:sp>
        <p:nvSpPr>
          <p:cNvPr id="9" name="support:slide-subtitle"/>
          <p:cNvSpPr txBox="1"/>
          <p:nvPr/>
        </p:nvSpPr>
        <p:spPr>
          <a:xfrm>
            <a:off x="457200" y="738632"/>
            <a:ext cx="8229600" cy="292608"/>
          </a:xfrm>
          <a:prstGeom prst="rect">
            <a:avLst/>
          </a:prstGeom>
          <a:noFill/>
          <a:ln/>
        </p:spPr>
        <p:txBody>
          <a:bodyPr wrap="square" lIns="0" tIns="0" rIns="0" bIns="0" rtlCol="0" anchor="t"/>
          <a:lstStyle/>
          <a:p>
            <a:pPr algn="l" indent="0" marL="0">
              <a:buNone/>
            </a:pPr>
            <a:r>
              <a:rPr lang="en-US" sz="1300" dirty="0">
                <a:solidFill>
                  <a:srgbClr val="4B5563"/>
                </a:solidFill>
                <a:latin typeface="Helvetica Neue" pitchFamily="34" charset="0"/>
                <a:ea typeface="Helvetica Neue" pitchFamily="34" charset="-122"/>
                <a:cs typeface="Helvetica Neue" pitchFamily="34" charset="-120"/>
              </a:rPr>
              <a:t>1B38 chain A, Boltz-2 medoid boltz2/seed3/sample0, 13 contacts cut to glycine</a:t>
            </a:r>
            <a:endParaRPr lang="en-US" sz="1300" dirty="0"/>
          </a:p>
        </p:txBody>
      </p:sp>
      <p:sp>
        <p:nvSpPr>
          <p:cNvPr id="10" name="support:scientific:A:title"/>
          <p:cNvSpPr txBox="1"/>
          <p:nvPr/>
        </p:nvSpPr>
        <p:spPr>
          <a:xfrm>
            <a:off x="530352" y="1442720"/>
            <a:ext cx="3831336" cy="348488"/>
          </a:xfrm>
          <a:prstGeom prst="rect">
            <a:avLst/>
          </a:prstGeom>
          <a:noFill/>
          <a:ln/>
        </p:spPr>
        <p:txBody>
          <a:bodyPr wrap="square" lIns="0" tIns="0" rIns="0" bIns="0" rtlCol="0" anchor="t"/>
          <a:lstStyle/>
          <a:p>
            <a:pPr algn="l" indent="0" marL="0">
              <a:buNone/>
            </a:pPr>
            <a:r>
              <a:rPr lang="en-US" sz="1300" b="1" dirty="0">
                <a:solidFill>
                  <a:srgbClr val="1B2838"/>
                </a:solidFill>
                <a:latin typeface="Helvetica Neue" pitchFamily="34" charset="0"/>
                <a:ea typeface="Helvetica Neue" pitchFamily="34" charset="-122"/>
                <a:cs typeface="Helvetica Neue" pitchFamily="34" charset="-120"/>
              </a:rPr>
              <a:t>A. as deposited</a:t>
            </a:r>
            <a:endParaRPr lang="en-US" sz="1300" dirty="0"/>
          </a:p>
        </p:txBody>
      </p:sp>
      <p:pic>
        <p:nvPicPr>
          <p:cNvPr id="11" name="scientific:A:image" descr="Contacts 5 of 9 then 1 of 9; ipTM 0.975 then 0.947.">    </p:cNvPr>
          <p:cNvPicPr>
            <a:picLocks noChangeAspect="1"/>
          </p:cNvPicPr>
          <p:nvPr/>
        </p:nvPicPr>
        <p:blipFill>
          <a:blip r:embed="rId1"/>
          <a:stretch>
            <a:fillRect/>
          </a:stretch>
        </p:blipFill>
        <p:spPr>
          <a:xfrm>
            <a:off x="1171025" y="1818640"/>
            <a:ext cx="2549991" cy="2086356"/>
          </a:xfrm>
          <a:prstGeom prst="rect">
            <a:avLst/>
          </a:prstGeom>
        </p:spPr>
      </p:pic>
      <p:sp>
        <p:nvSpPr>
          <p:cNvPr id="12" name="support:scientific:B:title"/>
          <p:cNvSpPr txBox="1"/>
          <p:nvPr/>
        </p:nvSpPr>
        <p:spPr>
          <a:xfrm>
            <a:off x="4782312" y="1442720"/>
            <a:ext cx="3831336" cy="348488"/>
          </a:xfrm>
          <a:prstGeom prst="rect">
            <a:avLst/>
          </a:prstGeom>
          <a:noFill/>
          <a:ln/>
        </p:spPr>
        <p:txBody>
          <a:bodyPr wrap="square" lIns="0" tIns="0" rIns="0" bIns="0" rtlCol="0" anchor="t"/>
          <a:lstStyle/>
          <a:p>
            <a:pPr algn="l" indent="0" marL="0">
              <a:buNone/>
            </a:pPr>
            <a:r>
              <a:rPr lang="en-US" sz="1300" b="1" dirty="0">
                <a:solidFill>
                  <a:srgbClr val="1B2838"/>
                </a:solidFill>
                <a:latin typeface="Helvetica Neue" pitchFamily="34" charset="0"/>
                <a:ea typeface="Helvetica Neue" pitchFamily="34" charset="-122"/>
                <a:cs typeface="Helvetica Neue" pitchFamily="34" charset="-120"/>
              </a:rPr>
              <a:t>B. pocket cut away</a:t>
            </a:r>
            <a:endParaRPr lang="en-US" sz="1300" dirty="0"/>
          </a:p>
        </p:txBody>
      </p:sp>
      <p:pic>
        <p:nvPicPr>
          <p:cNvPr id="13" name="scientific:B:image" descr="Contacts 5 of 9 then 1 of 9; ipTM 0.975 then 0.947.">    </p:cNvPr>
          <p:cNvPicPr>
            <a:picLocks noChangeAspect="1"/>
          </p:cNvPicPr>
          <p:nvPr/>
        </p:nvPicPr>
        <p:blipFill>
          <a:blip r:embed="rId2"/>
          <a:stretch>
            <a:fillRect/>
          </a:stretch>
        </p:blipFill>
        <p:spPr>
          <a:xfrm>
            <a:off x="5422985" y="1818640"/>
            <a:ext cx="2549991" cy="2086356"/>
          </a:xfrm>
          <a:prstGeom prst="rect">
            <a:avLst/>
          </a:prstGeom>
        </p:spPr>
      </p:pic>
      <p:sp>
        <p:nvSpPr>
          <p:cNvPr id="14" name="scientific:complete-readout"/>
          <p:cNvSpPr txBox="1"/>
          <p:nvPr/>
        </p:nvSpPr>
        <p:spPr>
          <a:xfrm>
            <a:off x="585216" y="4197604"/>
            <a:ext cx="7973568" cy="397256"/>
          </a:xfrm>
          <a:prstGeom prst="rect">
            <a:avLst/>
          </a:prstGeom>
          <a:noFill/>
          <a:ln/>
        </p:spPr>
        <p:txBody>
          <a:bodyPr wrap="square" lIns="0" tIns="0" rIns="0" bIns="0" rtlCol="0" anchor="t"/>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Contacts 5 of 9 then 1 of 9; ipTM 0.975 then 0.947.</a:t>
            </a:r>
            <a:endParaRPr lang="en-US" sz="1600" dirty="0"/>
          </a:p>
        </p:txBody>
      </p:sp>
      <p:sp>
        <p:nvSpPr>
          <p:cNvPr id="15" name="Shape 11"/>
          <p:cNvSpPr/>
          <p:nvPr/>
        </p:nvSpPr>
        <p:spPr>
          <a:xfrm>
            <a:off x="457200" y="4814316"/>
            <a:ext cx="8229600" cy="18288"/>
          </a:xfrm>
          <a:prstGeom prst="rect">
            <a:avLst/>
          </a:prstGeom>
          <a:solidFill>
            <a:srgbClr val="D1D5DB"/>
          </a:solidFill>
          <a:ln w="12700">
            <a:solidFill>
              <a:srgbClr val="FFFFFF"/>
            </a:solidFill>
            <a:prstDash val="solid"/>
          </a:ln>
        </p:spPr>
      </p:sp>
      <p:sp>
        <p:nvSpPr>
          <p:cNvPr id="16" name="metadata:footer-sources"/>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900" dirty="0">
                <a:solidFill>
                  <a:srgbClr val="4B5563"/>
                </a:solidFill>
                <a:latin typeface="Helvetica Neue" pitchFamily="34" charset="0"/>
                <a:ea typeface="Helvetica Neue" pitchFamily="34" charset="-122"/>
                <a:cs typeface="Helvetica Neue" pitchFamily="34" charset="-120"/>
              </a:rPr>
              <a:t>S1: bench/runs (2026-10-17T1611Z-426bfe9, 2026-10-17T1752Z-2f5a1c7, 2026-10-17T1859Z-849c856) · Sources: S1</a:t>
            </a:r>
            <a:endParaRPr lang="en-US" sz="900" dirty="0"/>
          </a:p>
        </p:txBody>
      </p:sp>
      <p:sp>
        <p:nvSpPr>
          <p:cNvPr id="17" name="metadata:footer-page-number"/>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900" dirty="0">
                <a:solidFill>
                  <a:srgbClr val="4B5563"/>
                </a:solidFill>
                <a:latin typeface="Helvetica Neue" pitchFamily="34" charset="0"/>
                <a:ea typeface="Helvetica Neue" pitchFamily="34" charset="-122"/>
                <a:cs typeface="Helvetica Neue" pitchFamily="34" charset="-120"/>
              </a:rPr>
              <a:t>3/8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73152"/>
            <a:ext cx="841248" cy="50292"/>
          </a:xfrm>
          <a:prstGeom prst="rect">
            <a:avLst/>
          </a:prstGeom>
          <a:solidFill>
            <a:srgbClr val="D1D5DB">
              <a:alpha val="82000"/>
            </a:srgbClr>
          </a:solidFill>
          <a:ln w="12700">
            <a:solidFill>
              <a:srgbClr val="D1D5DB">
                <a:alpha val="0"/>
              </a:srgbClr>
            </a:solidFill>
            <a:prstDash val="solid"/>
          </a:ln>
        </p:spPr>
      </p:sp>
      <p:sp>
        <p:nvSpPr>
          <p:cNvPr id="3" name="Shape 1"/>
          <p:cNvSpPr/>
          <p:nvPr/>
        </p:nvSpPr>
        <p:spPr>
          <a:xfrm>
            <a:off x="1463040" y="73152"/>
            <a:ext cx="841248" cy="50292"/>
          </a:xfrm>
          <a:prstGeom prst="rect">
            <a:avLst/>
          </a:prstGeom>
          <a:solidFill>
            <a:srgbClr val="D1D5DB">
              <a:alpha val="82000"/>
            </a:srgbClr>
          </a:solidFill>
          <a:ln w="12700">
            <a:solidFill>
              <a:srgbClr val="D1D5DB">
                <a:alpha val="0"/>
              </a:srgbClr>
            </a:solidFill>
            <a:prstDash val="solid"/>
          </a:ln>
        </p:spPr>
      </p:sp>
      <p:sp>
        <p:nvSpPr>
          <p:cNvPr id="4" name="Shape 2"/>
          <p:cNvSpPr/>
          <p:nvPr/>
        </p:nvSpPr>
        <p:spPr>
          <a:xfrm>
            <a:off x="2468880" y="73152"/>
            <a:ext cx="841248" cy="50292"/>
          </a:xfrm>
          <a:prstGeom prst="rect">
            <a:avLst/>
          </a:prstGeom>
          <a:solidFill>
            <a:srgbClr val="0B2545"/>
          </a:solidFill>
          <a:ln w="12700">
            <a:solidFill>
              <a:srgbClr val="0B2545">
                <a:alpha val="0"/>
              </a:srgbClr>
            </a:solidFill>
            <a:prstDash val="solid"/>
          </a:ln>
        </p:spPr>
      </p:sp>
      <p:sp>
        <p:nvSpPr>
          <p:cNvPr id="5" name="Shape 3"/>
          <p:cNvSpPr/>
          <p:nvPr/>
        </p:nvSpPr>
        <p:spPr>
          <a:xfrm>
            <a:off x="3474720" y="73152"/>
            <a:ext cx="841248" cy="50292"/>
          </a:xfrm>
          <a:prstGeom prst="rect">
            <a:avLst/>
          </a:prstGeom>
          <a:solidFill>
            <a:srgbClr val="D1D5DB">
              <a:alpha val="82000"/>
            </a:srgbClr>
          </a:solidFill>
          <a:ln w="12700">
            <a:solidFill>
              <a:srgbClr val="D1D5DB">
                <a:alpha val="0"/>
              </a:srgbClr>
            </a:solidFill>
            <a:prstDash val="solid"/>
          </a:ln>
        </p:spPr>
      </p:sp>
      <p:sp>
        <p:nvSpPr>
          <p:cNvPr id="6" name="Shape 4"/>
          <p:cNvSpPr/>
          <p:nvPr/>
        </p:nvSpPr>
        <p:spPr>
          <a:xfrm>
            <a:off x="457200" y="4668012"/>
            <a:ext cx="8229600" cy="16459"/>
          </a:xfrm>
          <a:prstGeom prst="rect">
            <a:avLst/>
          </a:prstGeom>
          <a:solidFill>
            <a:srgbClr val="D1D5DB"/>
          </a:solidFill>
          <a:ln w="12700">
            <a:solidFill>
              <a:srgbClr val="D1D5DB">
                <a:alpha val="0"/>
              </a:srgbClr>
            </a:solidFill>
            <a:prstDash val="solid"/>
          </a:ln>
        </p:spPr>
      </p:sp>
      <p:sp>
        <p:nvSpPr>
          <p:cNvPr id="7" name="Shape 5"/>
          <p:cNvSpPr/>
          <p:nvPr/>
        </p:nvSpPr>
        <p:spPr>
          <a:xfrm>
            <a:off x="457200" y="4713732"/>
            <a:ext cx="1481328" cy="32004"/>
          </a:xfrm>
          <a:prstGeom prst="rect">
            <a:avLst/>
          </a:prstGeom>
          <a:solidFill>
            <a:srgbClr val="C9302C"/>
          </a:solidFill>
          <a:ln w="12700">
            <a:solidFill>
              <a:srgbClr val="C9302C">
                <a:alpha val="0"/>
              </a:srgbClr>
            </a:solidFill>
            <a:prstDash val="solid"/>
          </a:ln>
        </p:spPr>
      </p:sp>
      <p:sp>
        <p:nvSpPr>
          <p:cNvPr id="8" name="slide-title:content"/>
          <p:cNvSpPr txBox="1"/>
          <p:nvPr/>
        </p:nvSpPr>
        <p:spPr>
          <a:xfrm>
            <a:off x="457200" y="173736"/>
            <a:ext cx="8229600" cy="528320"/>
          </a:xfrm>
          <a:prstGeom prst="rect">
            <a:avLst/>
          </a:prstGeom>
          <a:noFill/>
          <a:ln/>
        </p:spPr>
        <p:txBody>
          <a:bodyPr wrap="square" lIns="0" tIns="0" rIns="0" bIns="0" rtlCol="0" anchor="t"/>
          <a:lstStyle/>
          <a:p>
            <a:pPr algn="l" indent="0" marL="0">
              <a:buNone/>
            </a:pPr>
            <a:r>
              <a:rPr lang="en-US" sz="2800" b="1" dirty="0">
                <a:solidFill>
                  <a:srgbClr val="1B2838"/>
                </a:solidFill>
                <a:latin typeface="Helvetica Neue" pitchFamily="34" charset="0"/>
                <a:ea typeface="Helvetica Neue" pitchFamily="34" charset="-122"/>
                <a:cs typeface="Helvetica Neue" pitchFamily="34" charset="-120"/>
              </a:rPr>
              <a:t>MEK1: the ligand stays, the contacts go</a:t>
            </a:r>
            <a:endParaRPr lang="en-US" sz="2800" dirty="0"/>
          </a:p>
        </p:txBody>
      </p:sp>
      <p:sp>
        <p:nvSpPr>
          <p:cNvPr id="9" name="support:slide-subtitle"/>
          <p:cNvSpPr txBox="1"/>
          <p:nvPr/>
        </p:nvSpPr>
        <p:spPr>
          <a:xfrm>
            <a:off x="457200" y="738632"/>
            <a:ext cx="8229600" cy="292608"/>
          </a:xfrm>
          <a:prstGeom prst="rect">
            <a:avLst/>
          </a:prstGeom>
          <a:noFill/>
          <a:ln/>
        </p:spPr>
        <p:txBody>
          <a:bodyPr wrap="square" lIns="0" tIns="0" rIns="0" bIns="0" rtlCol="0" anchor="t"/>
          <a:lstStyle/>
          <a:p>
            <a:pPr algn="l" indent="0" marL="0">
              <a:buNone/>
            </a:pPr>
            <a:r>
              <a:rPr lang="en-US" sz="1300" dirty="0">
                <a:solidFill>
                  <a:srgbClr val="4B5563"/>
                </a:solidFill>
                <a:latin typeface="Helvetica Neue" pitchFamily="34" charset="0"/>
                <a:ea typeface="Helvetica Neue" pitchFamily="34" charset="-122"/>
                <a:cs typeface="Helvetica Neue" pitchFamily="34" charset="-120"/>
              </a:rPr>
              <a:t>7XLP chain A, Boltz-2 medoid boltz2/seed2/sample0, 11 contacts cut to glycine</a:t>
            </a:r>
            <a:endParaRPr lang="en-US" sz="1300" dirty="0"/>
          </a:p>
        </p:txBody>
      </p:sp>
      <p:sp>
        <p:nvSpPr>
          <p:cNvPr id="10" name="Shape 8"/>
          <p:cNvSpPr/>
          <p:nvPr/>
        </p:nvSpPr>
        <p:spPr>
          <a:xfrm>
            <a:off x="457200" y="1086104"/>
            <a:ext cx="8229600" cy="16459"/>
          </a:xfrm>
          <a:prstGeom prst="rect">
            <a:avLst/>
          </a:prstGeom>
          <a:solidFill>
            <a:srgbClr val="D1D5DB"/>
          </a:solidFill>
          <a:ln w="12700">
            <a:solidFill>
              <a:srgbClr val="D1D5DB"/>
            </a:solidFill>
            <a:prstDash val="solid"/>
          </a:ln>
        </p:spPr>
      </p:sp>
      <p:sp>
        <p:nvSpPr>
          <p:cNvPr id="11" name="Shape 9"/>
          <p:cNvSpPr/>
          <p:nvPr/>
        </p:nvSpPr>
        <p:spPr>
          <a:xfrm>
            <a:off x="457200" y="1054100"/>
            <a:ext cx="777240" cy="32004"/>
          </a:xfrm>
          <a:prstGeom prst="rect">
            <a:avLst/>
          </a:prstGeom>
          <a:solidFill>
            <a:srgbClr val="C9302C"/>
          </a:solidFill>
          <a:ln w="12700">
            <a:solidFill>
              <a:srgbClr val="C9302C"/>
            </a:solidFill>
            <a:prstDash val="solid"/>
          </a:ln>
        </p:spPr>
      </p:sp>
      <p:sp>
        <p:nvSpPr>
          <p:cNvPr id="12" name="support:scientific:A:title"/>
          <p:cNvSpPr txBox="1"/>
          <p:nvPr/>
        </p:nvSpPr>
        <p:spPr>
          <a:xfrm>
            <a:off x="530352" y="1442720"/>
            <a:ext cx="3831336" cy="348488"/>
          </a:xfrm>
          <a:prstGeom prst="rect">
            <a:avLst/>
          </a:prstGeom>
          <a:noFill/>
          <a:ln/>
        </p:spPr>
        <p:txBody>
          <a:bodyPr wrap="square" lIns="0" tIns="0" rIns="0" bIns="0" rtlCol="0" anchor="t"/>
          <a:lstStyle/>
          <a:p>
            <a:pPr algn="l" indent="0" marL="0">
              <a:buNone/>
            </a:pPr>
            <a:r>
              <a:rPr lang="en-US" sz="1300" b="1" dirty="0">
                <a:solidFill>
                  <a:srgbClr val="1B2838"/>
                </a:solidFill>
                <a:latin typeface="Helvetica Neue" pitchFamily="34" charset="0"/>
                <a:ea typeface="Helvetica Neue" pitchFamily="34" charset="-122"/>
                <a:cs typeface="Helvetica Neue" pitchFamily="34" charset="-120"/>
              </a:rPr>
              <a:t>A. as deposited</a:t>
            </a:r>
            <a:endParaRPr lang="en-US" sz="1300" dirty="0"/>
          </a:p>
        </p:txBody>
      </p:sp>
      <p:pic>
        <p:nvPicPr>
          <p:cNvPr id="13" name="scientific:A:image" descr="Contacts 2 of 3 then 0 of 3; ipTM 0.988 then 0.97.">    </p:cNvPr>
          <p:cNvPicPr>
            <a:picLocks noChangeAspect="1"/>
          </p:cNvPicPr>
          <p:nvPr/>
        </p:nvPicPr>
        <p:blipFill>
          <a:blip r:embed="rId1"/>
          <a:stretch>
            <a:fillRect/>
          </a:stretch>
        </p:blipFill>
        <p:spPr>
          <a:xfrm>
            <a:off x="1171025" y="1818640"/>
            <a:ext cx="2549991" cy="2086356"/>
          </a:xfrm>
          <a:prstGeom prst="rect">
            <a:avLst/>
          </a:prstGeom>
        </p:spPr>
      </p:pic>
      <p:sp>
        <p:nvSpPr>
          <p:cNvPr id="14" name="support:scientific:B:title"/>
          <p:cNvSpPr txBox="1"/>
          <p:nvPr/>
        </p:nvSpPr>
        <p:spPr>
          <a:xfrm>
            <a:off x="4782312" y="1442720"/>
            <a:ext cx="3831336" cy="348488"/>
          </a:xfrm>
          <a:prstGeom prst="rect">
            <a:avLst/>
          </a:prstGeom>
          <a:noFill/>
          <a:ln/>
        </p:spPr>
        <p:txBody>
          <a:bodyPr wrap="square" lIns="0" tIns="0" rIns="0" bIns="0" rtlCol="0" anchor="t"/>
          <a:lstStyle/>
          <a:p>
            <a:pPr algn="l" indent="0" marL="0">
              <a:buNone/>
            </a:pPr>
            <a:r>
              <a:rPr lang="en-US" sz="1300" b="1" dirty="0">
                <a:solidFill>
                  <a:srgbClr val="1B2838"/>
                </a:solidFill>
                <a:latin typeface="Helvetica Neue" pitchFamily="34" charset="0"/>
                <a:ea typeface="Helvetica Neue" pitchFamily="34" charset="-122"/>
                <a:cs typeface="Helvetica Neue" pitchFamily="34" charset="-120"/>
              </a:rPr>
              <a:t>B. pocket cut away</a:t>
            </a:r>
            <a:endParaRPr lang="en-US" sz="1300" dirty="0"/>
          </a:p>
        </p:txBody>
      </p:sp>
      <p:pic>
        <p:nvPicPr>
          <p:cNvPr id="15" name="scientific:B:image" descr="Contacts 2 of 3 then 0 of 3; ipTM 0.988 then 0.97.">    </p:cNvPr>
          <p:cNvPicPr>
            <a:picLocks noChangeAspect="1"/>
          </p:cNvPicPr>
          <p:nvPr/>
        </p:nvPicPr>
        <p:blipFill>
          <a:blip r:embed="rId2"/>
          <a:stretch>
            <a:fillRect/>
          </a:stretch>
        </p:blipFill>
        <p:spPr>
          <a:xfrm>
            <a:off x="5422985" y="1818640"/>
            <a:ext cx="2549991" cy="2086356"/>
          </a:xfrm>
          <a:prstGeom prst="rect">
            <a:avLst/>
          </a:prstGeom>
        </p:spPr>
      </p:pic>
      <p:sp>
        <p:nvSpPr>
          <p:cNvPr id="16" name="scientific:complete-readout"/>
          <p:cNvSpPr txBox="1"/>
          <p:nvPr/>
        </p:nvSpPr>
        <p:spPr>
          <a:xfrm>
            <a:off x="585216" y="4197604"/>
            <a:ext cx="7973568" cy="397256"/>
          </a:xfrm>
          <a:prstGeom prst="rect">
            <a:avLst/>
          </a:prstGeom>
          <a:noFill/>
          <a:ln/>
        </p:spPr>
        <p:txBody>
          <a:bodyPr wrap="square" lIns="0" tIns="0" rIns="0" bIns="0" rtlCol="0" anchor="t"/>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Contacts 2 of 3 then 0 of 3; ipTM 0.988 then 0.97.</a:t>
            </a:r>
            <a:endParaRPr lang="en-US" sz="1600" dirty="0"/>
          </a:p>
        </p:txBody>
      </p:sp>
      <p:sp>
        <p:nvSpPr>
          <p:cNvPr id="17" name="Shape 13"/>
          <p:cNvSpPr/>
          <p:nvPr/>
        </p:nvSpPr>
        <p:spPr>
          <a:xfrm>
            <a:off x="457200" y="4814316"/>
            <a:ext cx="8229600" cy="18288"/>
          </a:xfrm>
          <a:prstGeom prst="rect">
            <a:avLst/>
          </a:prstGeom>
          <a:solidFill>
            <a:srgbClr val="D1D5DB"/>
          </a:solidFill>
          <a:ln w="12700">
            <a:solidFill>
              <a:srgbClr val="FFFFFF"/>
            </a:solidFill>
            <a:prstDash val="solid"/>
          </a:ln>
        </p:spPr>
      </p:sp>
      <p:sp>
        <p:nvSpPr>
          <p:cNvPr id="18" name="metadata:footer-sources"/>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900" dirty="0">
                <a:solidFill>
                  <a:srgbClr val="4B5563"/>
                </a:solidFill>
                <a:latin typeface="Helvetica Neue" pitchFamily="34" charset="0"/>
                <a:ea typeface="Helvetica Neue" pitchFamily="34" charset="-122"/>
                <a:cs typeface="Helvetica Neue" pitchFamily="34" charset="-120"/>
              </a:rPr>
              <a:t>S1: bench/runs (2026-10-17T1611Z-426bfe9, 2026-10-17T1752Z-2f5a1c7, 2026-10-17T1859Z-849c856) · Sources: S1</a:t>
            </a:r>
            <a:endParaRPr lang="en-US" sz="900" dirty="0"/>
          </a:p>
        </p:txBody>
      </p:sp>
      <p:sp>
        <p:nvSpPr>
          <p:cNvPr id="19" name="metadata:footer-page-number"/>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900" dirty="0">
                <a:solidFill>
                  <a:srgbClr val="4B5563"/>
                </a:solidFill>
                <a:latin typeface="Helvetica Neue" pitchFamily="34" charset="0"/>
                <a:ea typeface="Helvetica Neue" pitchFamily="34" charset="-122"/>
                <a:cs typeface="Helvetica Neue" pitchFamily="34" charset="-120"/>
              </a:rPr>
              <a:t>4/8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73152"/>
            <a:ext cx="841248" cy="50292"/>
          </a:xfrm>
          <a:prstGeom prst="rect">
            <a:avLst/>
          </a:prstGeom>
          <a:solidFill>
            <a:srgbClr val="D1D5DB">
              <a:alpha val="82000"/>
            </a:srgbClr>
          </a:solidFill>
          <a:ln w="12700">
            <a:solidFill>
              <a:srgbClr val="D1D5DB">
                <a:alpha val="0"/>
              </a:srgbClr>
            </a:solidFill>
            <a:prstDash val="solid"/>
          </a:ln>
        </p:spPr>
      </p:sp>
      <p:sp>
        <p:nvSpPr>
          <p:cNvPr id="3" name="Shape 1"/>
          <p:cNvSpPr/>
          <p:nvPr/>
        </p:nvSpPr>
        <p:spPr>
          <a:xfrm>
            <a:off x="1463040" y="73152"/>
            <a:ext cx="841248" cy="50292"/>
          </a:xfrm>
          <a:prstGeom prst="rect">
            <a:avLst/>
          </a:prstGeom>
          <a:solidFill>
            <a:srgbClr val="D1D5DB">
              <a:alpha val="82000"/>
            </a:srgbClr>
          </a:solidFill>
          <a:ln w="12700">
            <a:solidFill>
              <a:srgbClr val="D1D5DB">
                <a:alpha val="0"/>
              </a:srgbClr>
            </a:solidFill>
            <a:prstDash val="solid"/>
          </a:ln>
        </p:spPr>
      </p:sp>
      <p:sp>
        <p:nvSpPr>
          <p:cNvPr id="4" name="Shape 2"/>
          <p:cNvSpPr/>
          <p:nvPr/>
        </p:nvSpPr>
        <p:spPr>
          <a:xfrm>
            <a:off x="2468880" y="73152"/>
            <a:ext cx="841248" cy="50292"/>
          </a:xfrm>
          <a:prstGeom prst="rect">
            <a:avLst/>
          </a:prstGeom>
          <a:solidFill>
            <a:srgbClr val="0B2545"/>
          </a:solidFill>
          <a:ln w="12700">
            <a:solidFill>
              <a:srgbClr val="0B2545">
                <a:alpha val="0"/>
              </a:srgbClr>
            </a:solidFill>
            <a:prstDash val="solid"/>
          </a:ln>
        </p:spPr>
      </p:sp>
      <p:sp>
        <p:nvSpPr>
          <p:cNvPr id="5" name="Shape 3"/>
          <p:cNvSpPr/>
          <p:nvPr/>
        </p:nvSpPr>
        <p:spPr>
          <a:xfrm>
            <a:off x="3474720" y="73152"/>
            <a:ext cx="841248" cy="50292"/>
          </a:xfrm>
          <a:prstGeom prst="rect">
            <a:avLst/>
          </a:prstGeom>
          <a:solidFill>
            <a:srgbClr val="D1D5DB">
              <a:alpha val="82000"/>
            </a:srgbClr>
          </a:solidFill>
          <a:ln w="12700">
            <a:solidFill>
              <a:srgbClr val="D1D5DB">
                <a:alpha val="0"/>
              </a:srgbClr>
            </a:solidFill>
            <a:prstDash val="solid"/>
          </a:ln>
        </p:spPr>
      </p:sp>
      <p:sp>
        <p:nvSpPr>
          <p:cNvPr id="6" name="Shape 4"/>
          <p:cNvSpPr/>
          <p:nvPr/>
        </p:nvSpPr>
        <p:spPr>
          <a:xfrm>
            <a:off x="457200" y="4668012"/>
            <a:ext cx="8229600" cy="16459"/>
          </a:xfrm>
          <a:prstGeom prst="rect">
            <a:avLst/>
          </a:prstGeom>
          <a:solidFill>
            <a:srgbClr val="D1D5DB"/>
          </a:solidFill>
          <a:ln w="12700">
            <a:solidFill>
              <a:srgbClr val="D1D5DB">
                <a:alpha val="0"/>
              </a:srgbClr>
            </a:solidFill>
            <a:prstDash val="solid"/>
          </a:ln>
        </p:spPr>
      </p:sp>
      <p:sp>
        <p:nvSpPr>
          <p:cNvPr id="7" name="Shape 5"/>
          <p:cNvSpPr/>
          <p:nvPr/>
        </p:nvSpPr>
        <p:spPr>
          <a:xfrm>
            <a:off x="457200" y="4713732"/>
            <a:ext cx="1481328" cy="32004"/>
          </a:xfrm>
          <a:prstGeom prst="rect">
            <a:avLst/>
          </a:prstGeom>
          <a:solidFill>
            <a:srgbClr val="C9302C"/>
          </a:solidFill>
          <a:ln w="12700">
            <a:solidFill>
              <a:srgbClr val="C9302C">
                <a:alpha val="0"/>
              </a:srgbClr>
            </a:solidFill>
            <a:prstDash val="solid"/>
          </a:ln>
        </p:spPr>
      </p:sp>
      <p:sp>
        <p:nvSpPr>
          <p:cNvPr id="8" name="slide-title:content"/>
          <p:cNvSpPr txBox="1"/>
          <p:nvPr/>
        </p:nvSpPr>
        <p:spPr>
          <a:xfrm>
            <a:off x="457200" y="173736"/>
            <a:ext cx="8229600" cy="528320"/>
          </a:xfrm>
          <a:prstGeom prst="rect">
            <a:avLst/>
          </a:prstGeom>
          <a:noFill/>
          <a:ln/>
        </p:spPr>
        <p:txBody>
          <a:bodyPr wrap="square" lIns="0" tIns="0" rIns="0" bIns="0" rtlCol="0" anchor="t"/>
          <a:lstStyle/>
          <a:p>
            <a:pPr algn="l" indent="0" marL="0">
              <a:buNone/>
            </a:pPr>
            <a:r>
              <a:rPr lang="en-US" sz="2800" b="1" dirty="0">
                <a:solidFill>
                  <a:srgbClr val="1B2838"/>
                </a:solidFill>
                <a:latin typeface="Helvetica Neue" pitchFamily="34" charset="0"/>
                <a:ea typeface="Helvetica Neue" pitchFamily="34" charset="-122"/>
                <a:cs typeface="Helvetica Neue" pitchFamily="34" charset="-120"/>
              </a:rPr>
              <a:t>What the confidence score sees</a:t>
            </a:r>
            <a:endParaRPr lang="en-US" sz="2800" dirty="0"/>
          </a:p>
        </p:txBody>
      </p:sp>
      <p:sp>
        <p:nvSpPr>
          <p:cNvPr id="9" name="support:slide-subtitle"/>
          <p:cNvSpPr txBox="1"/>
          <p:nvPr/>
        </p:nvSpPr>
        <p:spPr>
          <a:xfrm>
            <a:off x="457200" y="738632"/>
            <a:ext cx="8229600" cy="292608"/>
          </a:xfrm>
          <a:prstGeom prst="rect">
            <a:avLst/>
          </a:prstGeom>
          <a:noFill/>
          <a:ln/>
        </p:spPr>
        <p:txBody>
          <a:bodyPr wrap="square" lIns="0" tIns="0" rIns="0" bIns="0" rtlCol="0" anchor="t"/>
          <a:lstStyle/>
          <a:p>
            <a:pPr algn="l" indent="0" marL="0">
              <a:buNone/>
            </a:pPr>
            <a:r>
              <a:rPr lang="en-US" sz="1300" dirty="0">
                <a:solidFill>
                  <a:srgbClr val="4B5563"/>
                </a:solidFill>
                <a:latin typeface="Helvetica Neue" pitchFamily="34" charset="0"/>
                <a:ea typeface="Helvetica Neue" pitchFamily="34" charset="-122"/>
                <a:cs typeface="Helvetica Neue" pitchFamily="34" charset="-120"/>
              </a:rPr>
              <a:t>As deposited / sabotaged, run 2026-10-17T1611Z-426bfe9</a:t>
            </a:r>
            <a:endParaRPr lang="en-US" sz="1300" dirty="0"/>
          </a:p>
        </p:txBody>
      </p:sp>
      <p:sp>
        <p:nvSpPr>
          <p:cNvPr id="10" name="Shape 8"/>
          <p:cNvSpPr/>
          <p:nvPr/>
        </p:nvSpPr>
        <p:spPr>
          <a:xfrm>
            <a:off x="457200" y="1086104"/>
            <a:ext cx="8229600" cy="16459"/>
          </a:xfrm>
          <a:prstGeom prst="rect">
            <a:avLst/>
          </a:prstGeom>
          <a:solidFill>
            <a:srgbClr val="D1D5DB"/>
          </a:solidFill>
          <a:ln w="12700">
            <a:solidFill>
              <a:srgbClr val="D1D5DB"/>
            </a:solidFill>
            <a:prstDash val="solid"/>
          </a:ln>
        </p:spPr>
      </p:sp>
      <p:sp>
        <p:nvSpPr>
          <p:cNvPr id="11" name="Shape 9"/>
          <p:cNvSpPr/>
          <p:nvPr/>
        </p:nvSpPr>
        <p:spPr>
          <a:xfrm>
            <a:off x="457200" y="1054100"/>
            <a:ext cx="777240" cy="32004"/>
          </a:xfrm>
          <a:prstGeom prst="rect">
            <a:avLst/>
          </a:prstGeom>
          <a:solidFill>
            <a:srgbClr val="C9302C"/>
          </a:solidFill>
          <a:ln w="12700">
            <a:solidFill>
              <a:srgbClr val="C9302C"/>
            </a:solidFill>
            <a:prstDash val="solid"/>
          </a:ln>
        </p:spPr>
      </p:sp>
      <p:sp>
        <p:nvSpPr>
          <p:cNvPr id="12" name="metadata:table-index-label"/>
          <p:cNvSpPr txBox="1"/>
          <p:nvPr/>
        </p:nvSpPr>
        <p:spPr>
          <a:xfrm>
            <a:off x="566928" y="1488440"/>
            <a:ext cx="969264" cy="283464"/>
          </a:xfrm>
          <a:prstGeom prst="rect">
            <a:avLst/>
          </a:prstGeom>
          <a:noFill/>
          <a:ln/>
        </p:spPr>
        <p:txBody>
          <a:bodyPr wrap="square" lIns="0" tIns="0" rIns="0" bIns="0" rtlCol="0" anchor="t"/>
          <a:lstStyle/>
          <a:p>
            <a:pPr algn="l" indent="0" marL="0">
              <a:buNone/>
            </a:pPr>
            <a:r>
              <a:rPr lang="en-US" sz="900" b="1" dirty="0">
                <a:solidFill>
                  <a:srgbClr val="0B2545"/>
                </a:solidFill>
                <a:latin typeface="Helvetica Neue" pitchFamily="34" charset="0"/>
                <a:ea typeface="Helvetica Neue" pitchFamily="34" charset="-122"/>
                <a:cs typeface="Helvetica Neue" pitchFamily="34" charset="-120"/>
              </a:rPr>
              <a:t>TABLE INDEX</a:t>
            </a:r>
            <a:endParaRPr lang="en-US" sz="900" dirty="0"/>
          </a:p>
        </p:txBody>
      </p:sp>
      <p:sp>
        <p:nvSpPr>
          <p:cNvPr id="13" name="metadata:table-index-detail"/>
          <p:cNvSpPr txBox="1"/>
          <p:nvPr/>
        </p:nvSpPr>
        <p:spPr>
          <a:xfrm>
            <a:off x="1645920" y="1488440"/>
            <a:ext cx="6931152" cy="283464"/>
          </a:xfrm>
          <a:prstGeom prst="rect">
            <a:avLst/>
          </a:prstGeom>
          <a:noFill/>
          <a:ln/>
        </p:spPr>
        <p:txBody>
          <a:bodyPr wrap="square" lIns="0" tIns="0" rIns="0" bIns="0" rtlCol="0" anchor="t"/>
          <a:lstStyle/>
          <a:p>
            <a:pPr algn="l" indent="0" marL="0">
              <a:buNone/>
            </a:pPr>
            <a:r>
              <a:rPr lang="en-US" sz="900" dirty="0">
                <a:solidFill>
                  <a:srgbClr val="1B2838"/>
                </a:solidFill>
                <a:latin typeface="Helvetica Neue" pitchFamily="34" charset="0"/>
                <a:ea typeface="Helvetica Neue" pitchFamily="34" charset="-122"/>
                <a:cs typeface="Helvetica Neue" pitchFamily="34" charset="-120"/>
              </a:rPr>
              <a:t>3 rows | Target | Ligand ipTM | Pocket pLDDT | PoseBusters</a:t>
            </a:r>
            <a:endParaRPr lang="en-US" sz="900" dirty="0"/>
          </a:p>
        </p:txBody>
      </p:sp>
      <p:graphicFrame>
        <p:nvGraphicFramePr>
          <p:cNvPr id="6" name="Editable table: What the confidence score sees"/>
          <p:cNvGraphicFramePr>
            <a:graphicFrameLocks noGrp="1"/>
          </p:cNvGraphicFramePr>
          <p:nvPr>
            <p:extLst>
              <p:ext uri="{D42A27DB-BD31-4B8C-83A1-F6EECF244321}">
                <p14:modId xmlns:p14="http://schemas.microsoft.com/office/powerpoint/2010/main" val="1579011935"/>
              </p:ext>
            </p:extLst>
          </p:nvPr>
        </p:nvGraphicFramePr>
        <p:xfrm>
          <a:off x="457200" y="1962033"/>
          <a:ext cx="8229600" cy="1669557"/>
        </p:xfrm>
        <a:graphic>
          <a:graphicData uri="http://schemas.openxmlformats.org/drawingml/2006/table">
            <a:tbl>
              <a:tblPr/>
              <a:tblGrid>
                <a:gridCol w="2057400"/>
                <a:gridCol w="2057400"/>
                <a:gridCol w="2057400"/>
                <a:gridCol w="2057400"/>
              </a:tblGrid>
              <a:tr h="417389">
                <a:tc>
                  <a:txBody>
                    <a:bodyPr/>
                    <a:lstStyle/>
                    <a:p>
                      <a:pPr algn="l" indent="0" marL="0">
                        <a:buNone/>
                      </a:pPr>
                      <a:r>
                        <a:rPr lang="en-US" sz="1600" b="1" dirty="0">
                          <a:solidFill>
                            <a:srgbClr val="FFFFFF"/>
                          </a:solidFill>
                          <a:latin typeface="Helvetica Neue" pitchFamily="34" charset="0"/>
                          <a:ea typeface="Helvetica Neue" pitchFamily="34" charset="-122"/>
                          <a:cs typeface="Helvetica Neue" pitchFamily="34" charset="-120"/>
                        </a:rPr>
                        <a:t>Target</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l" indent="0" marL="0">
                        <a:buNone/>
                      </a:pPr>
                      <a:r>
                        <a:rPr lang="en-US" sz="1600" b="1" dirty="0">
                          <a:solidFill>
                            <a:srgbClr val="FFFFFF"/>
                          </a:solidFill>
                          <a:latin typeface="Helvetica Neue" pitchFamily="34" charset="0"/>
                          <a:ea typeface="Helvetica Neue" pitchFamily="34" charset="-122"/>
                          <a:cs typeface="Helvetica Neue" pitchFamily="34" charset="-120"/>
                        </a:rPr>
                        <a:t>Ligand ipTM</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l" indent="0" marL="0">
                        <a:buNone/>
                      </a:pPr>
                      <a:r>
                        <a:rPr lang="en-US" sz="1600" b="1" dirty="0">
                          <a:solidFill>
                            <a:srgbClr val="FFFFFF"/>
                          </a:solidFill>
                          <a:latin typeface="Helvetica Neue" pitchFamily="34" charset="0"/>
                          <a:ea typeface="Helvetica Neue" pitchFamily="34" charset="-122"/>
                          <a:cs typeface="Helvetica Neue" pitchFamily="34" charset="-120"/>
                        </a:rPr>
                        <a:t>Pocket pLDDT</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l" indent="0" marL="0">
                        <a:buNone/>
                      </a:pPr>
                      <a:r>
                        <a:rPr lang="en-US" sz="1600" b="1" dirty="0">
                          <a:solidFill>
                            <a:srgbClr val="FFFFFF"/>
                          </a:solidFill>
                          <a:latin typeface="Helvetica Neue" pitchFamily="34" charset="0"/>
                          <a:ea typeface="Helvetica Neue" pitchFamily="34" charset="-122"/>
                          <a:cs typeface="Helvetica Neue" pitchFamily="34" charset="-120"/>
                        </a:rPr>
                        <a:t>PoseBusters</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B2545"/>
                    </a:solidFill>
                  </a:tcPr>
                </a:tc>
              </a:tr>
              <a:tr h="417389">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CDK2</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0.975 / 0.947</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94.9 / 85</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19/20 / 20/20</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417389">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MEK1</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0.988 / 0.97</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96.5 / 90.5</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20/20 / 20/20</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417389">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glucose DH</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0.99 / 0.983</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97.3 / 97.7</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20/20 / 19/20</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5" name="metadata:table-caption"/>
          <p:cNvSpPr txBox="1"/>
          <p:nvPr/>
        </p:nvSpPr>
        <p:spPr>
          <a:xfrm>
            <a:off x="457200" y="3704742"/>
            <a:ext cx="8229600" cy="283464"/>
          </a:xfrm>
          <a:prstGeom prst="rect">
            <a:avLst/>
          </a:prstGeom>
          <a:noFill/>
          <a:ln/>
        </p:spPr>
        <p:txBody>
          <a:bodyPr wrap="square" lIns="0" tIns="0" rIns="0" bIns="0" rtlCol="0" anchor="t"/>
          <a:lstStyle/>
          <a:p>
            <a:pPr algn="l" indent="0" marL="0">
              <a:buNone/>
            </a:pPr>
            <a:r>
              <a:rPr lang="en-US" sz="900" i="1" dirty="0">
                <a:solidFill>
                  <a:srgbClr val="4B5563"/>
                </a:solidFill>
                <a:latin typeface="Helvetica Neue" pitchFamily="34" charset="0"/>
                <a:ea typeface="Helvetica Neue" pitchFamily="34" charset="-122"/>
                <a:cs typeface="Helvetica Neue" pitchFamily="34" charset="-120"/>
              </a:rPr>
              <a:t>Confidence stays high after the pocket is cut away, and for glucose dehydrogenase the pocket pLDDT rises. PoseBusters passes almost everywhere.</a:t>
            </a:r>
            <a:endParaRPr lang="en-US" sz="900" dirty="0"/>
          </a:p>
        </p:txBody>
      </p:sp>
      <p:sp>
        <p:nvSpPr>
          <p:cNvPr id="16" name="Shape 13"/>
          <p:cNvSpPr/>
          <p:nvPr/>
        </p:nvSpPr>
        <p:spPr>
          <a:xfrm>
            <a:off x="457200" y="4814316"/>
            <a:ext cx="8229600" cy="18288"/>
          </a:xfrm>
          <a:prstGeom prst="rect">
            <a:avLst/>
          </a:prstGeom>
          <a:solidFill>
            <a:srgbClr val="D1D5DB"/>
          </a:solidFill>
          <a:ln w="12700">
            <a:solidFill>
              <a:srgbClr val="FFFFFF"/>
            </a:solidFill>
            <a:prstDash val="solid"/>
          </a:ln>
        </p:spPr>
      </p:sp>
      <p:sp>
        <p:nvSpPr>
          <p:cNvPr id="17" name="metadata:footer-sources"/>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900" dirty="0">
                <a:solidFill>
                  <a:srgbClr val="4B5563"/>
                </a:solidFill>
                <a:latin typeface="Helvetica Neue" pitchFamily="34" charset="0"/>
                <a:ea typeface="Helvetica Neue" pitchFamily="34" charset="-122"/>
                <a:cs typeface="Helvetica Neue" pitchFamily="34" charset="-120"/>
              </a:rPr>
              <a:t>S1: bench/runs (2026-10-17T1611Z-426bfe9, 2026-10-17T1752Z-2f5a1c7, 2026-10-17T1859Z-849c856) · Sources: S1</a:t>
            </a:r>
            <a:endParaRPr lang="en-US" sz="900" dirty="0"/>
          </a:p>
        </p:txBody>
      </p:sp>
      <p:sp>
        <p:nvSpPr>
          <p:cNvPr id="18" name="metadata:footer-page-number"/>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900" dirty="0">
                <a:solidFill>
                  <a:srgbClr val="4B5563"/>
                </a:solidFill>
                <a:latin typeface="Helvetica Neue" pitchFamily="34" charset="0"/>
                <a:ea typeface="Helvetica Neue" pitchFamily="34" charset="-122"/>
                <a:cs typeface="Helvetica Neue" pitchFamily="34" charset="-120"/>
              </a:rPr>
              <a:t>5/8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73152"/>
            <a:ext cx="841248" cy="50292"/>
          </a:xfrm>
          <a:prstGeom prst="rect">
            <a:avLst/>
          </a:prstGeom>
          <a:solidFill>
            <a:srgbClr val="D1D5DB">
              <a:alpha val="82000"/>
            </a:srgbClr>
          </a:solidFill>
          <a:ln w="12700">
            <a:solidFill>
              <a:srgbClr val="D1D5DB">
                <a:alpha val="0"/>
              </a:srgbClr>
            </a:solidFill>
            <a:prstDash val="solid"/>
          </a:ln>
        </p:spPr>
      </p:sp>
      <p:sp>
        <p:nvSpPr>
          <p:cNvPr id="3" name="Shape 1"/>
          <p:cNvSpPr/>
          <p:nvPr/>
        </p:nvSpPr>
        <p:spPr>
          <a:xfrm>
            <a:off x="1463040" y="73152"/>
            <a:ext cx="841248" cy="50292"/>
          </a:xfrm>
          <a:prstGeom prst="rect">
            <a:avLst/>
          </a:prstGeom>
          <a:solidFill>
            <a:srgbClr val="D1D5DB">
              <a:alpha val="82000"/>
            </a:srgbClr>
          </a:solidFill>
          <a:ln w="12700">
            <a:solidFill>
              <a:srgbClr val="D1D5DB">
                <a:alpha val="0"/>
              </a:srgbClr>
            </a:solidFill>
            <a:prstDash val="solid"/>
          </a:ln>
        </p:spPr>
      </p:sp>
      <p:sp>
        <p:nvSpPr>
          <p:cNvPr id="4" name="Shape 2"/>
          <p:cNvSpPr/>
          <p:nvPr/>
        </p:nvSpPr>
        <p:spPr>
          <a:xfrm>
            <a:off x="2468880" y="73152"/>
            <a:ext cx="841248" cy="50292"/>
          </a:xfrm>
          <a:prstGeom prst="rect">
            <a:avLst/>
          </a:prstGeom>
          <a:solidFill>
            <a:srgbClr val="0B2545"/>
          </a:solidFill>
          <a:ln w="12700">
            <a:solidFill>
              <a:srgbClr val="0B2545">
                <a:alpha val="0"/>
              </a:srgbClr>
            </a:solidFill>
            <a:prstDash val="solid"/>
          </a:ln>
        </p:spPr>
      </p:sp>
      <p:sp>
        <p:nvSpPr>
          <p:cNvPr id="5" name="Shape 3"/>
          <p:cNvSpPr/>
          <p:nvPr/>
        </p:nvSpPr>
        <p:spPr>
          <a:xfrm>
            <a:off x="3474720" y="73152"/>
            <a:ext cx="841248" cy="50292"/>
          </a:xfrm>
          <a:prstGeom prst="rect">
            <a:avLst/>
          </a:prstGeom>
          <a:solidFill>
            <a:srgbClr val="D1D5DB">
              <a:alpha val="82000"/>
            </a:srgbClr>
          </a:solidFill>
          <a:ln w="12700">
            <a:solidFill>
              <a:srgbClr val="D1D5DB">
                <a:alpha val="0"/>
              </a:srgbClr>
            </a:solidFill>
            <a:prstDash val="solid"/>
          </a:ln>
        </p:spPr>
      </p:sp>
      <p:sp>
        <p:nvSpPr>
          <p:cNvPr id="6" name="Shape 4"/>
          <p:cNvSpPr/>
          <p:nvPr/>
        </p:nvSpPr>
        <p:spPr>
          <a:xfrm>
            <a:off x="457200" y="4668012"/>
            <a:ext cx="8229600" cy="16459"/>
          </a:xfrm>
          <a:prstGeom prst="rect">
            <a:avLst/>
          </a:prstGeom>
          <a:solidFill>
            <a:srgbClr val="D1D5DB"/>
          </a:solidFill>
          <a:ln w="12700">
            <a:solidFill>
              <a:srgbClr val="D1D5DB">
                <a:alpha val="0"/>
              </a:srgbClr>
            </a:solidFill>
            <a:prstDash val="solid"/>
          </a:ln>
        </p:spPr>
      </p:sp>
      <p:sp>
        <p:nvSpPr>
          <p:cNvPr id="7" name="Shape 5"/>
          <p:cNvSpPr/>
          <p:nvPr/>
        </p:nvSpPr>
        <p:spPr>
          <a:xfrm>
            <a:off x="457200" y="4713732"/>
            <a:ext cx="1481328" cy="32004"/>
          </a:xfrm>
          <a:prstGeom prst="rect">
            <a:avLst/>
          </a:prstGeom>
          <a:solidFill>
            <a:srgbClr val="C9302C"/>
          </a:solidFill>
          <a:ln w="12700">
            <a:solidFill>
              <a:srgbClr val="C9302C">
                <a:alpha val="0"/>
              </a:srgbClr>
            </a:solidFill>
            <a:prstDash val="solid"/>
          </a:ln>
        </p:spPr>
      </p:sp>
      <p:sp>
        <p:nvSpPr>
          <p:cNvPr id="8" name="Shape 6"/>
          <p:cNvSpPr/>
          <p:nvPr/>
        </p:nvSpPr>
        <p:spPr>
          <a:xfrm>
            <a:off x="457200" y="192024"/>
            <a:ext cx="50292" cy="903224"/>
          </a:xfrm>
          <a:prstGeom prst="rect">
            <a:avLst/>
          </a:prstGeom>
          <a:solidFill>
            <a:srgbClr val="C9302C"/>
          </a:solidFill>
          <a:ln w="12700">
            <a:solidFill>
              <a:srgbClr val="C9302C"/>
            </a:solidFill>
            <a:prstDash val="solid"/>
          </a:ln>
        </p:spPr>
      </p:sp>
      <p:sp>
        <p:nvSpPr>
          <p:cNvPr id="9" name="slide-title:content"/>
          <p:cNvSpPr txBox="1"/>
          <p:nvPr/>
        </p:nvSpPr>
        <p:spPr>
          <a:xfrm>
            <a:off x="640080" y="173736"/>
            <a:ext cx="8046720" cy="528320"/>
          </a:xfrm>
          <a:prstGeom prst="rect">
            <a:avLst/>
          </a:prstGeom>
          <a:noFill/>
          <a:ln/>
        </p:spPr>
        <p:txBody>
          <a:bodyPr wrap="square" lIns="0" tIns="0" rIns="0" bIns="0" rtlCol="0" anchor="t"/>
          <a:lstStyle/>
          <a:p>
            <a:pPr algn="l" indent="0" marL="0">
              <a:buNone/>
            </a:pPr>
            <a:r>
              <a:rPr lang="en-US" sz="2800" b="1" dirty="0">
                <a:solidFill>
                  <a:srgbClr val="1B2838"/>
                </a:solidFill>
                <a:latin typeface="Helvetica Neue" pitchFamily="34" charset="0"/>
                <a:ea typeface="Helvetica Neue" pitchFamily="34" charset="-122"/>
                <a:cs typeface="Helvetica Neue" pitchFamily="34" charset="-120"/>
              </a:rPr>
              <a:t>What the harness sees</a:t>
            </a:r>
            <a:endParaRPr lang="en-US" sz="2800" dirty="0"/>
          </a:p>
        </p:txBody>
      </p:sp>
      <p:sp>
        <p:nvSpPr>
          <p:cNvPr id="10" name="support:slide-subtitle"/>
          <p:cNvSpPr txBox="1"/>
          <p:nvPr/>
        </p:nvSpPr>
        <p:spPr>
          <a:xfrm>
            <a:off x="640080" y="738632"/>
            <a:ext cx="8046720" cy="292608"/>
          </a:xfrm>
          <a:prstGeom prst="rect">
            <a:avLst/>
          </a:prstGeom>
          <a:noFill/>
          <a:ln/>
        </p:spPr>
        <p:txBody>
          <a:bodyPr wrap="square" lIns="0" tIns="0" rIns="0" bIns="0" rtlCol="0" anchor="t"/>
          <a:lstStyle/>
          <a:p>
            <a:pPr algn="l" indent="0" marL="0">
              <a:buNone/>
            </a:pPr>
            <a:r>
              <a:rPr lang="en-US" sz="1300" dirty="0">
                <a:solidFill>
                  <a:srgbClr val="4B5563"/>
                </a:solidFill>
                <a:latin typeface="Helvetica Neue" pitchFamily="34" charset="0"/>
                <a:ea typeface="Helvetica Neue" pitchFamily="34" charset="-122"/>
                <a:cs typeface="Helvetica Neue" pitchFamily="34" charset="-120"/>
              </a:rPr>
              <a:t>As deposited / sabotaged, run 2026-10-17T1611Z-426bfe9</a:t>
            </a:r>
            <a:endParaRPr lang="en-US" sz="1300" dirty="0"/>
          </a:p>
        </p:txBody>
      </p:sp>
      <p:sp>
        <p:nvSpPr>
          <p:cNvPr id="11" name="Shape 9"/>
          <p:cNvSpPr/>
          <p:nvPr/>
        </p:nvSpPr>
        <p:spPr>
          <a:xfrm>
            <a:off x="457200" y="1086104"/>
            <a:ext cx="8229600" cy="12802"/>
          </a:xfrm>
          <a:prstGeom prst="rect">
            <a:avLst/>
          </a:prstGeom>
          <a:solidFill>
            <a:srgbClr val="D1D5DB"/>
          </a:solidFill>
          <a:ln w="12700">
            <a:solidFill>
              <a:srgbClr val="D1D5DB"/>
            </a:solidFill>
            <a:prstDash val="solid"/>
          </a:ln>
        </p:spPr>
      </p:sp>
      <p:sp>
        <p:nvSpPr>
          <p:cNvPr id="12" name="Shape 10"/>
          <p:cNvSpPr/>
          <p:nvPr/>
        </p:nvSpPr>
        <p:spPr>
          <a:xfrm>
            <a:off x="457200" y="1117194"/>
            <a:ext cx="1097280" cy="23774"/>
          </a:xfrm>
          <a:prstGeom prst="rect">
            <a:avLst/>
          </a:prstGeom>
          <a:solidFill>
            <a:srgbClr val="C9302C"/>
          </a:solidFill>
          <a:ln w="12700">
            <a:solidFill>
              <a:srgbClr val="C9302C"/>
            </a:solidFill>
            <a:prstDash val="solid"/>
          </a:ln>
        </p:spPr>
      </p:sp>
      <p:sp>
        <p:nvSpPr>
          <p:cNvPr id="13" name="metadata:table-index-label"/>
          <p:cNvSpPr txBox="1"/>
          <p:nvPr/>
        </p:nvSpPr>
        <p:spPr>
          <a:xfrm>
            <a:off x="566928" y="1488440"/>
            <a:ext cx="969264" cy="283464"/>
          </a:xfrm>
          <a:prstGeom prst="rect">
            <a:avLst/>
          </a:prstGeom>
          <a:noFill/>
          <a:ln/>
        </p:spPr>
        <p:txBody>
          <a:bodyPr wrap="square" lIns="0" tIns="0" rIns="0" bIns="0" rtlCol="0" anchor="t"/>
          <a:lstStyle/>
          <a:p>
            <a:pPr algn="l" indent="0" marL="0">
              <a:buNone/>
            </a:pPr>
            <a:r>
              <a:rPr lang="en-US" sz="900" b="1" dirty="0">
                <a:solidFill>
                  <a:srgbClr val="0B2545"/>
                </a:solidFill>
                <a:latin typeface="Helvetica Neue" pitchFamily="34" charset="0"/>
                <a:ea typeface="Helvetica Neue" pitchFamily="34" charset="-122"/>
                <a:cs typeface="Helvetica Neue" pitchFamily="34" charset="-120"/>
              </a:rPr>
              <a:t>TABLE INDEX</a:t>
            </a:r>
            <a:endParaRPr lang="en-US" sz="900" dirty="0"/>
          </a:p>
        </p:txBody>
      </p:sp>
      <p:sp>
        <p:nvSpPr>
          <p:cNvPr id="14" name="metadata:table-index-detail"/>
          <p:cNvSpPr txBox="1"/>
          <p:nvPr/>
        </p:nvSpPr>
        <p:spPr>
          <a:xfrm>
            <a:off x="1645920" y="1488440"/>
            <a:ext cx="6931152" cy="283464"/>
          </a:xfrm>
          <a:prstGeom prst="rect">
            <a:avLst/>
          </a:prstGeom>
          <a:noFill/>
          <a:ln/>
        </p:spPr>
        <p:txBody>
          <a:bodyPr wrap="square" lIns="0" tIns="0" rIns="0" bIns="0" rtlCol="0" anchor="t"/>
          <a:lstStyle/>
          <a:p>
            <a:pPr algn="l" indent="0" marL="0">
              <a:buNone/>
            </a:pPr>
            <a:r>
              <a:rPr lang="en-US" sz="900" dirty="0">
                <a:solidFill>
                  <a:srgbClr val="1B2838"/>
                </a:solidFill>
                <a:latin typeface="Helvetica Neue" pitchFamily="34" charset="0"/>
                <a:ea typeface="Helvetica Neue" pitchFamily="34" charset="-122"/>
                <a:cs typeface="Helvetica Neue" pitchFamily="34" charset="-120"/>
              </a:rPr>
              <a:t>3 rows | Target | Deposited contacts recovered | Cross-executor RMSD (A) | Strain (kcal/mol)</a:t>
            </a:r>
            <a:endParaRPr lang="en-US" sz="900" dirty="0"/>
          </a:p>
        </p:txBody>
      </p:sp>
      <p:graphicFrame>
        <p:nvGraphicFramePr>
          <p:cNvPr id="7" name="Editable table: What the harness sees"/>
          <p:cNvGraphicFramePr>
            <a:graphicFrameLocks noGrp="1"/>
          </p:cNvGraphicFramePr>
          <p:nvPr>
            <p:extLst>
              <p:ext uri="{D42A27DB-BD31-4B8C-83A1-F6EECF244321}">
                <p14:modId xmlns:p14="http://schemas.microsoft.com/office/powerpoint/2010/main" val="1579011935"/>
              </p:ext>
            </p:extLst>
          </p:nvPr>
        </p:nvGraphicFramePr>
        <p:xfrm>
          <a:off x="457200" y="1962033"/>
          <a:ext cx="8229600" cy="1666240"/>
        </p:xfrm>
        <a:graphic>
          <a:graphicData uri="http://schemas.openxmlformats.org/drawingml/2006/table">
            <a:tbl>
              <a:tblPr/>
              <a:tblGrid>
                <a:gridCol w="2057400"/>
                <a:gridCol w="2057400"/>
                <a:gridCol w="2057400"/>
                <a:gridCol w="2057400"/>
              </a:tblGrid>
              <a:tr h="611632">
                <a:tc>
                  <a:txBody>
                    <a:bodyPr/>
                    <a:lstStyle/>
                    <a:p>
                      <a:pPr algn="l" indent="0" marL="0">
                        <a:buNone/>
                      </a:pPr>
                      <a:r>
                        <a:rPr lang="en-US" sz="1600" b="1" dirty="0">
                          <a:solidFill>
                            <a:srgbClr val="FFFFFF"/>
                          </a:solidFill>
                          <a:latin typeface="Helvetica Neue" pitchFamily="34" charset="0"/>
                          <a:ea typeface="Helvetica Neue" pitchFamily="34" charset="-122"/>
                          <a:cs typeface="Helvetica Neue" pitchFamily="34" charset="-120"/>
                        </a:rPr>
                        <a:t>Target</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l" indent="0" marL="0">
                        <a:buNone/>
                      </a:pPr>
                      <a:r>
                        <a:rPr lang="en-US" sz="1600" b="1" dirty="0">
                          <a:solidFill>
                            <a:srgbClr val="FFFFFF"/>
                          </a:solidFill>
                          <a:latin typeface="Helvetica Neue" pitchFamily="34" charset="0"/>
                          <a:ea typeface="Helvetica Neue" pitchFamily="34" charset="-122"/>
                          <a:cs typeface="Helvetica Neue" pitchFamily="34" charset="-120"/>
                        </a:rPr>
                        <a:t>Deposited contacts recovered</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l" indent="0" marL="0">
                        <a:buNone/>
                      </a:pPr>
                      <a:r>
                        <a:rPr lang="en-US" sz="1600" b="1" dirty="0">
                          <a:solidFill>
                            <a:srgbClr val="FFFFFF"/>
                          </a:solidFill>
                          <a:latin typeface="Helvetica Neue" pitchFamily="34" charset="0"/>
                          <a:ea typeface="Helvetica Neue" pitchFamily="34" charset="-122"/>
                          <a:cs typeface="Helvetica Neue" pitchFamily="34" charset="-120"/>
                        </a:rPr>
                        <a:t>Cross-executor RMSD (A)</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B2545"/>
                    </a:solidFill>
                  </a:tcPr>
                </a:tc>
                <a:tc>
                  <a:txBody>
                    <a:bodyPr/>
                    <a:lstStyle/>
                    <a:p>
                      <a:pPr algn="l" indent="0" marL="0">
                        <a:buNone/>
                      </a:pPr>
                      <a:r>
                        <a:rPr lang="en-US" sz="1600" b="1" dirty="0">
                          <a:solidFill>
                            <a:srgbClr val="FFFFFF"/>
                          </a:solidFill>
                          <a:latin typeface="Helvetica Neue" pitchFamily="34" charset="0"/>
                          <a:ea typeface="Helvetica Neue" pitchFamily="34" charset="-122"/>
                          <a:cs typeface="Helvetica Neue" pitchFamily="34" charset="-120"/>
                        </a:rPr>
                        <a:t>Strain (kcal/mol)</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0B2545"/>
                    </a:solidFill>
                  </a:tcPr>
                </a:tc>
              </a:tr>
              <a:tr h="351536">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CDK2</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5 of 9 / 1 of 9</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1.665 / 2.656</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12.31 / 13.6</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351536">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MEK1</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2 of 3 / 0 of 3</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1.452 / 2.974</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1.59 / 2.15</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r h="351536">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glucose DH</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4 of 6 / 3 of 6</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14.38 / 12.345</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4.26 / 9.58</a:t>
                      </a:r>
                      <a:endParaRPr lang="en-US" sz="1600" dirty="0">
                        <a:latin typeface="Helvetica Neue" charset="0"/>
                        <a:ea typeface="Helvetica Neue" charset="0"/>
                        <a:cs typeface="Helvetica Neue" charset="0"/>
                      </a:endParaRPr>
                    </a:p>
                  </a:txBody>
                  <a:tcPr marL="36576" marR="36576"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6" name="metadata:table-caption"/>
          <p:cNvSpPr txBox="1"/>
          <p:nvPr/>
        </p:nvSpPr>
        <p:spPr>
          <a:xfrm>
            <a:off x="457200" y="3701425"/>
            <a:ext cx="8229600" cy="429768"/>
          </a:xfrm>
          <a:prstGeom prst="rect">
            <a:avLst/>
          </a:prstGeom>
          <a:noFill/>
          <a:ln/>
        </p:spPr>
        <p:txBody>
          <a:bodyPr wrap="square" lIns="0" tIns="0" rIns="0" bIns="0" rtlCol="0" anchor="t"/>
          <a:lstStyle/>
          <a:p>
            <a:pPr algn="l" indent="0" marL="0">
              <a:buNone/>
            </a:pPr>
            <a:r>
              <a:rPr lang="en-US" sz="900" i="1" dirty="0">
                <a:solidFill>
                  <a:srgbClr val="4B5563"/>
                </a:solidFill>
                <a:latin typeface="Helvetica Neue" pitchFamily="34" charset="0"/>
                <a:ea typeface="Helvetica Neue" pitchFamily="34" charset="-122"/>
                <a:cs typeface="Helvetica Neue" pitchFamily="34" charset="-120"/>
              </a:rPr>
              <a:t>Contact recovery falls on every target. Cross-executor RMSD rises on CDK2 and MEK1 and falls on glucose dehydrogenase, where both tools were already far apart.</a:t>
            </a:r>
            <a:endParaRPr lang="en-US" sz="900" dirty="0"/>
          </a:p>
        </p:txBody>
      </p:sp>
      <p:sp>
        <p:nvSpPr>
          <p:cNvPr id="17" name="Shape 14"/>
          <p:cNvSpPr/>
          <p:nvPr/>
        </p:nvSpPr>
        <p:spPr>
          <a:xfrm>
            <a:off x="457200" y="4814316"/>
            <a:ext cx="8229600" cy="18288"/>
          </a:xfrm>
          <a:prstGeom prst="rect">
            <a:avLst/>
          </a:prstGeom>
          <a:solidFill>
            <a:srgbClr val="D1D5DB"/>
          </a:solidFill>
          <a:ln w="12700">
            <a:solidFill>
              <a:srgbClr val="FFFFFF"/>
            </a:solidFill>
            <a:prstDash val="solid"/>
          </a:ln>
        </p:spPr>
      </p:sp>
      <p:sp>
        <p:nvSpPr>
          <p:cNvPr id="18" name="metadata:footer-sources"/>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900" dirty="0">
                <a:solidFill>
                  <a:srgbClr val="4B5563"/>
                </a:solidFill>
                <a:latin typeface="Helvetica Neue" pitchFamily="34" charset="0"/>
                <a:ea typeface="Helvetica Neue" pitchFamily="34" charset="-122"/>
                <a:cs typeface="Helvetica Neue" pitchFamily="34" charset="-120"/>
              </a:rPr>
              <a:t>S1: bench/runs (2026-10-17T1611Z-426bfe9, 2026-10-17T1752Z-2f5a1c7, 2026-10-17T1859Z-849c856) · Sources: S1</a:t>
            </a:r>
            <a:endParaRPr lang="en-US" sz="900" dirty="0"/>
          </a:p>
        </p:txBody>
      </p:sp>
      <p:sp>
        <p:nvSpPr>
          <p:cNvPr id="19" name="metadata:footer-page-number"/>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900" dirty="0">
                <a:solidFill>
                  <a:srgbClr val="4B5563"/>
                </a:solidFill>
                <a:latin typeface="Helvetica Neue" pitchFamily="34" charset="0"/>
                <a:ea typeface="Helvetica Neue" pitchFamily="34" charset="-122"/>
                <a:cs typeface="Helvetica Neue" pitchFamily="34" charset="-120"/>
              </a:rPr>
              <a:t>6/8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73152"/>
            <a:ext cx="841248" cy="50292"/>
          </a:xfrm>
          <a:prstGeom prst="rect">
            <a:avLst/>
          </a:prstGeom>
          <a:solidFill>
            <a:srgbClr val="D1D5DB">
              <a:alpha val="82000"/>
            </a:srgbClr>
          </a:solidFill>
          <a:ln w="12700">
            <a:solidFill>
              <a:srgbClr val="D1D5DB">
                <a:alpha val="0"/>
              </a:srgbClr>
            </a:solidFill>
            <a:prstDash val="solid"/>
          </a:ln>
        </p:spPr>
      </p:sp>
      <p:sp>
        <p:nvSpPr>
          <p:cNvPr id="3" name="Shape 1"/>
          <p:cNvSpPr/>
          <p:nvPr/>
        </p:nvSpPr>
        <p:spPr>
          <a:xfrm>
            <a:off x="1463040" y="73152"/>
            <a:ext cx="841248" cy="50292"/>
          </a:xfrm>
          <a:prstGeom prst="rect">
            <a:avLst/>
          </a:prstGeom>
          <a:solidFill>
            <a:srgbClr val="D1D5DB">
              <a:alpha val="82000"/>
            </a:srgbClr>
          </a:solidFill>
          <a:ln w="12700">
            <a:solidFill>
              <a:srgbClr val="D1D5DB">
                <a:alpha val="0"/>
              </a:srgbClr>
            </a:solidFill>
            <a:prstDash val="solid"/>
          </a:ln>
        </p:spPr>
      </p:sp>
      <p:sp>
        <p:nvSpPr>
          <p:cNvPr id="4" name="Shape 2"/>
          <p:cNvSpPr/>
          <p:nvPr/>
        </p:nvSpPr>
        <p:spPr>
          <a:xfrm>
            <a:off x="2468880" y="73152"/>
            <a:ext cx="841248" cy="50292"/>
          </a:xfrm>
          <a:prstGeom prst="rect">
            <a:avLst/>
          </a:prstGeom>
          <a:solidFill>
            <a:srgbClr val="0B2545"/>
          </a:solidFill>
          <a:ln w="12700">
            <a:solidFill>
              <a:srgbClr val="0B2545">
                <a:alpha val="0"/>
              </a:srgbClr>
            </a:solidFill>
            <a:prstDash val="solid"/>
          </a:ln>
        </p:spPr>
      </p:sp>
      <p:sp>
        <p:nvSpPr>
          <p:cNvPr id="5" name="Shape 3"/>
          <p:cNvSpPr/>
          <p:nvPr/>
        </p:nvSpPr>
        <p:spPr>
          <a:xfrm>
            <a:off x="3474720" y="73152"/>
            <a:ext cx="841248" cy="50292"/>
          </a:xfrm>
          <a:prstGeom prst="rect">
            <a:avLst/>
          </a:prstGeom>
          <a:solidFill>
            <a:srgbClr val="D1D5DB">
              <a:alpha val="82000"/>
            </a:srgbClr>
          </a:solidFill>
          <a:ln w="12700">
            <a:solidFill>
              <a:srgbClr val="D1D5DB">
                <a:alpha val="0"/>
              </a:srgbClr>
            </a:solidFill>
            <a:prstDash val="solid"/>
          </a:ln>
        </p:spPr>
      </p:sp>
      <p:sp>
        <p:nvSpPr>
          <p:cNvPr id="6" name="Shape 4"/>
          <p:cNvSpPr/>
          <p:nvPr/>
        </p:nvSpPr>
        <p:spPr>
          <a:xfrm>
            <a:off x="457200" y="4668012"/>
            <a:ext cx="8229600" cy="16459"/>
          </a:xfrm>
          <a:prstGeom prst="rect">
            <a:avLst/>
          </a:prstGeom>
          <a:solidFill>
            <a:srgbClr val="D1D5DB"/>
          </a:solidFill>
          <a:ln w="12700">
            <a:solidFill>
              <a:srgbClr val="D1D5DB">
                <a:alpha val="0"/>
              </a:srgbClr>
            </a:solidFill>
            <a:prstDash val="solid"/>
          </a:ln>
        </p:spPr>
      </p:sp>
      <p:sp>
        <p:nvSpPr>
          <p:cNvPr id="7" name="Shape 5"/>
          <p:cNvSpPr/>
          <p:nvPr/>
        </p:nvSpPr>
        <p:spPr>
          <a:xfrm>
            <a:off x="457200" y="4713732"/>
            <a:ext cx="1481328" cy="32004"/>
          </a:xfrm>
          <a:prstGeom prst="rect">
            <a:avLst/>
          </a:prstGeom>
          <a:solidFill>
            <a:srgbClr val="C9302C"/>
          </a:solidFill>
          <a:ln w="12700">
            <a:solidFill>
              <a:srgbClr val="C9302C">
                <a:alpha val="0"/>
              </a:srgbClr>
            </a:solidFill>
            <a:prstDash val="solid"/>
          </a:ln>
        </p:spPr>
      </p:sp>
      <p:sp>
        <p:nvSpPr>
          <p:cNvPr id="8" name="slide-title:content"/>
          <p:cNvSpPr txBox="1"/>
          <p:nvPr/>
        </p:nvSpPr>
        <p:spPr>
          <a:xfrm>
            <a:off x="457200" y="173736"/>
            <a:ext cx="8229600" cy="528320"/>
          </a:xfrm>
          <a:prstGeom prst="rect">
            <a:avLst/>
          </a:prstGeom>
          <a:noFill/>
          <a:ln/>
        </p:spPr>
        <p:txBody>
          <a:bodyPr wrap="square" lIns="0" tIns="0" rIns="0" bIns="0" rtlCol="0" anchor="t"/>
          <a:lstStyle/>
          <a:p>
            <a:pPr algn="l" indent="0" marL="0">
              <a:buNone/>
            </a:pPr>
            <a:r>
              <a:rPr lang="en-US" sz="2800" b="1" dirty="0">
                <a:solidFill>
                  <a:srgbClr val="1B2838"/>
                </a:solidFill>
                <a:latin typeface="Helvetica Neue" pitchFamily="34" charset="0"/>
                <a:ea typeface="Helvetica Neue" pitchFamily="34" charset="-122"/>
                <a:cs typeface="Helvetica Neue" pitchFamily="34" charset="-120"/>
              </a:rPr>
              <a:t>Every sabotaged pose, both ways of judging</a:t>
            </a:r>
            <a:endParaRPr lang="en-US" sz="2800" dirty="0"/>
          </a:p>
        </p:txBody>
      </p:sp>
      <p:sp>
        <p:nvSpPr>
          <p:cNvPr id="9" name="support:scientific:A:title"/>
          <p:cNvSpPr txBox="1"/>
          <p:nvPr/>
        </p:nvSpPr>
        <p:spPr>
          <a:xfrm>
            <a:off x="530352" y="1113536"/>
            <a:ext cx="8083296" cy="348488"/>
          </a:xfrm>
          <a:prstGeom prst="rect">
            <a:avLst/>
          </a:prstGeom>
          <a:noFill/>
          <a:ln/>
        </p:spPr>
        <p:txBody>
          <a:bodyPr wrap="square" lIns="0" tIns="0" rIns="0" bIns="0" rtlCol="0" anchor="t"/>
          <a:lstStyle/>
          <a:p>
            <a:pPr algn="l" indent="0" marL="0">
              <a:buNone/>
            </a:pPr>
            <a:r>
              <a:rPr lang="en-US" sz="1300" b="1" dirty="0">
                <a:solidFill>
                  <a:srgbClr val="1B2838"/>
                </a:solidFill>
                <a:latin typeface="Helvetica Neue" pitchFamily="34" charset="0"/>
                <a:ea typeface="Helvetica Neue" pitchFamily="34" charset="-122"/>
                <a:cs typeface="Helvetica Neue" pitchFamily="34" charset="-120"/>
              </a:rPr>
              <a:t>A</a:t>
            </a:r>
            <a:endParaRPr lang="en-US" sz="1300" dirty="0"/>
          </a:p>
        </p:txBody>
      </p:sp>
      <p:pic>
        <p:nvPicPr>
          <p:cNvPr id="10" name="scientific:A:image" descr="9 sabotaged predictions: 3 targets by 3 runs.">    </p:cNvPr>
          <p:cNvPicPr>
            <a:picLocks noChangeAspect="1"/>
          </p:cNvPicPr>
          <p:nvPr/>
        </p:nvPicPr>
        <p:blipFill>
          <a:blip r:embed="rId1"/>
          <a:stretch>
            <a:fillRect/>
          </a:stretch>
        </p:blipFill>
        <p:spPr>
          <a:xfrm>
            <a:off x="512064" y="1686454"/>
            <a:ext cx="8119872" cy="2021545"/>
          </a:xfrm>
          <a:prstGeom prst="rect">
            <a:avLst/>
          </a:prstGeom>
        </p:spPr>
      </p:pic>
      <p:sp>
        <p:nvSpPr>
          <p:cNvPr id="11" name="scientific:complete-readout"/>
          <p:cNvSpPr txBox="1"/>
          <p:nvPr/>
        </p:nvSpPr>
        <p:spPr>
          <a:xfrm>
            <a:off x="585216" y="4197604"/>
            <a:ext cx="7973568" cy="397256"/>
          </a:xfrm>
          <a:prstGeom prst="rect">
            <a:avLst/>
          </a:prstGeom>
          <a:noFill/>
          <a:ln/>
        </p:spPr>
        <p:txBody>
          <a:bodyPr wrap="square" lIns="0" tIns="0" rIns="0" bIns="0" rtlCol="0" anchor="t"/>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9 sabotaged predictions: 3 targets by 3 runs.</a:t>
            </a:r>
            <a:endParaRPr lang="en-US" sz="1600" dirty="0"/>
          </a:p>
        </p:txBody>
      </p:sp>
      <p:sp>
        <p:nvSpPr>
          <p:cNvPr id="12" name="Shape 9"/>
          <p:cNvSpPr/>
          <p:nvPr/>
        </p:nvSpPr>
        <p:spPr>
          <a:xfrm>
            <a:off x="457200" y="4814316"/>
            <a:ext cx="8229600" cy="18288"/>
          </a:xfrm>
          <a:prstGeom prst="rect">
            <a:avLst/>
          </a:prstGeom>
          <a:solidFill>
            <a:srgbClr val="D1D5DB"/>
          </a:solidFill>
          <a:ln w="12700">
            <a:solidFill>
              <a:srgbClr val="FFFFFF"/>
            </a:solidFill>
            <a:prstDash val="solid"/>
          </a:ln>
        </p:spPr>
      </p:sp>
      <p:sp>
        <p:nvSpPr>
          <p:cNvPr id="13" name="metadata:footer-sources"/>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900" dirty="0">
                <a:solidFill>
                  <a:srgbClr val="4B5563"/>
                </a:solidFill>
                <a:latin typeface="Helvetica Neue" pitchFamily="34" charset="0"/>
                <a:ea typeface="Helvetica Neue" pitchFamily="34" charset="-122"/>
                <a:cs typeface="Helvetica Neue" pitchFamily="34" charset="-120"/>
              </a:rPr>
              <a:t>S1: bench/runs (2026-10-17T1611Z-426bfe9, 2026-10-17T1752Z-2f5a1c7, 2026-10-17T1859Z-849c856) · Sources: S1</a:t>
            </a:r>
            <a:endParaRPr lang="en-US" sz="900" dirty="0"/>
          </a:p>
        </p:txBody>
      </p:sp>
      <p:sp>
        <p:nvSpPr>
          <p:cNvPr id="14" name="metadata:footer-page-number"/>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900" dirty="0">
                <a:solidFill>
                  <a:srgbClr val="4B5563"/>
                </a:solidFill>
                <a:latin typeface="Helvetica Neue" pitchFamily="34" charset="0"/>
                <a:ea typeface="Helvetica Neue" pitchFamily="34" charset="-122"/>
                <a:cs typeface="Helvetica Neue" pitchFamily="34" charset="-120"/>
              </a:rPr>
              <a:t>7/8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73152"/>
            <a:ext cx="841248" cy="50292"/>
          </a:xfrm>
          <a:prstGeom prst="rect">
            <a:avLst/>
          </a:prstGeom>
          <a:solidFill>
            <a:srgbClr val="D1D5DB">
              <a:alpha val="82000"/>
            </a:srgbClr>
          </a:solidFill>
          <a:ln w="12700">
            <a:solidFill>
              <a:srgbClr val="D1D5DB">
                <a:alpha val="0"/>
              </a:srgbClr>
            </a:solidFill>
            <a:prstDash val="solid"/>
          </a:ln>
        </p:spPr>
      </p:sp>
      <p:sp>
        <p:nvSpPr>
          <p:cNvPr id="3" name="Shape 1"/>
          <p:cNvSpPr/>
          <p:nvPr/>
        </p:nvSpPr>
        <p:spPr>
          <a:xfrm>
            <a:off x="1463040" y="73152"/>
            <a:ext cx="841248" cy="50292"/>
          </a:xfrm>
          <a:prstGeom prst="rect">
            <a:avLst/>
          </a:prstGeom>
          <a:solidFill>
            <a:srgbClr val="D1D5DB">
              <a:alpha val="82000"/>
            </a:srgbClr>
          </a:solidFill>
          <a:ln w="12700">
            <a:solidFill>
              <a:srgbClr val="D1D5DB">
                <a:alpha val="0"/>
              </a:srgbClr>
            </a:solidFill>
            <a:prstDash val="solid"/>
          </a:ln>
        </p:spPr>
      </p:sp>
      <p:sp>
        <p:nvSpPr>
          <p:cNvPr id="4" name="Shape 2"/>
          <p:cNvSpPr/>
          <p:nvPr/>
        </p:nvSpPr>
        <p:spPr>
          <a:xfrm>
            <a:off x="2468880" y="73152"/>
            <a:ext cx="841248" cy="50292"/>
          </a:xfrm>
          <a:prstGeom prst="rect">
            <a:avLst/>
          </a:prstGeom>
          <a:solidFill>
            <a:srgbClr val="0B2545"/>
          </a:solidFill>
          <a:ln w="12700">
            <a:solidFill>
              <a:srgbClr val="0B2545">
                <a:alpha val="0"/>
              </a:srgbClr>
            </a:solidFill>
            <a:prstDash val="solid"/>
          </a:ln>
        </p:spPr>
      </p:sp>
      <p:sp>
        <p:nvSpPr>
          <p:cNvPr id="5" name="Shape 3"/>
          <p:cNvSpPr/>
          <p:nvPr/>
        </p:nvSpPr>
        <p:spPr>
          <a:xfrm>
            <a:off x="3474720" y="73152"/>
            <a:ext cx="841248" cy="50292"/>
          </a:xfrm>
          <a:prstGeom prst="rect">
            <a:avLst/>
          </a:prstGeom>
          <a:solidFill>
            <a:srgbClr val="D1D5DB">
              <a:alpha val="82000"/>
            </a:srgbClr>
          </a:solidFill>
          <a:ln w="12700">
            <a:solidFill>
              <a:srgbClr val="D1D5DB">
                <a:alpha val="0"/>
              </a:srgbClr>
            </a:solidFill>
            <a:prstDash val="solid"/>
          </a:ln>
        </p:spPr>
      </p:sp>
      <p:sp>
        <p:nvSpPr>
          <p:cNvPr id="6" name="Shape 4"/>
          <p:cNvSpPr/>
          <p:nvPr/>
        </p:nvSpPr>
        <p:spPr>
          <a:xfrm>
            <a:off x="457200" y="4668012"/>
            <a:ext cx="8229600" cy="16459"/>
          </a:xfrm>
          <a:prstGeom prst="rect">
            <a:avLst/>
          </a:prstGeom>
          <a:solidFill>
            <a:srgbClr val="D1D5DB"/>
          </a:solidFill>
          <a:ln w="12700">
            <a:solidFill>
              <a:srgbClr val="D1D5DB">
                <a:alpha val="0"/>
              </a:srgbClr>
            </a:solidFill>
            <a:prstDash val="solid"/>
          </a:ln>
        </p:spPr>
      </p:sp>
      <p:sp>
        <p:nvSpPr>
          <p:cNvPr id="7" name="Shape 5"/>
          <p:cNvSpPr/>
          <p:nvPr/>
        </p:nvSpPr>
        <p:spPr>
          <a:xfrm>
            <a:off x="457200" y="4713732"/>
            <a:ext cx="1481328" cy="32004"/>
          </a:xfrm>
          <a:prstGeom prst="rect">
            <a:avLst/>
          </a:prstGeom>
          <a:solidFill>
            <a:srgbClr val="C9302C"/>
          </a:solidFill>
          <a:ln w="12700">
            <a:solidFill>
              <a:srgbClr val="C9302C">
                <a:alpha val="0"/>
              </a:srgbClr>
            </a:solidFill>
            <a:prstDash val="solid"/>
          </a:ln>
        </p:spPr>
      </p:sp>
      <p:sp>
        <p:nvSpPr>
          <p:cNvPr id="8" name="slide-title:content"/>
          <p:cNvSpPr txBox="1"/>
          <p:nvPr/>
        </p:nvSpPr>
        <p:spPr>
          <a:xfrm>
            <a:off x="457200" y="173736"/>
            <a:ext cx="8229600" cy="528320"/>
          </a:xfrm>
          <a:prstGeom prst="rect">
            <a:avLst/>
          </a:prstGeom>
          <a:noFill/>
          <a:ln/>
        </p:spPr>
        <p:txBody>
          <a:bodyPr wrap="square" lIns="0" tIns="0" rIns="0" bIns="0" rtlCol="0" anchor="t"/>
          <a:lstStyle/>
          <a:p>
            <a:pPr algn="l" indent="0" marL="0">
              <a:buNone/>
            </a:pPr>
            <a:r>
              <a:rPr lang="en-US" sz="2800" b="1" dirty="0">
                <a:solidFill>
                  <a:srgbClr val="1B2838"/>
                </a:solidFill>
                <a:latin typeface="Helvetica Neue" pitchFamily="34" charset="0"/>
                <a:ea typeface="Helvetica Neue" pitchFamily="34" charset="-122"/>
                <a:cs typeface="Helvetica Neue" pitchFamily="34" charset="-120"/>
              </a:rPr>
              <a:t>What it buys and what it costs</a:t>
            </a:r>
            <a:endParaRPr lang="en-US" sz="2800" dirty="0"/>
          </a:p>
        </p:txBody>
      </p:sp>
      <p:sp>
        <p:nvSpPr>
          <p:cNvPr id="9" name="Shape 7"/>
          <p:cNvSpPr/>
          <p:nvPr/>
        </p:nvSpPr>
        <p:spPr>
          <a:xfrm>
            <a:off x="457200" y="756920"/>
            <a:ext cx="8229600" cy="16459"/>
          </a:xfrm>
          <a:prstGeom prst="rect">
            <a:avLst/>
          </a:prstGeom>
          <a:solidFill>
            <a:srgbClr val="D1D5DB"/>
          </a:solidFill>
          <a:ln w="12700">
            <a:solidFill>
              <a:srgbClr val="D1D5DB"/>
            </a:solidFill>
            <a:prstDash val="solid"/>
          </a:ln>
        </p:spPr>
      </p:sp>
      <p:sp>
        <p:nvSpPr>
          <p:cNvPr id="10" name="Shape 8"/>
          <p:cNvSpPr/>
          <p:nvPr/>
        </p:nvSpPr>
        <p:spPr>
          <a:xfrm>
            <a:off x="457200" y="724916"/>
            <a:ext cx="777240" cy="32004"/>
          </a:xfrm>
          <a:prstGeom prst="rect">
            <a:avLst/>
          </a:prstGeom>
          <a:solidFill>
            <a:srgbClr val="C9302C"/>
          </a:solidFill>
          <a:ln w="12700">
            <a:solidFill>
              <a:srgbClr val="C9302C"/>
            </a:solidFill>
            <a:prstDash val="solid"/>
          </a:ln>
        </p:spPr>
      </p:sp>
      <p:sp>
        <p:nvSpPr>
          <p:cNvPr id="11" name="role-contract-slot:comparison:option-0"/>
          <p:cNvSpPr/>
          <p:nvPr/>
        </p:nvSpPr>
        <p:spPr>
          <a:xfrm>
            <a:off x="457200" y="1086104"/>
            <a:ext cx="3950208" cy="2257308"/>
          </a:xfrm>
          <a:prstGeom prst="rect">
            <a:avLst/>
          </a:prstGeom>
          <a:solidFill>
            <a:srgbClr val="FFFFFF"/>
          </a:solidFill>
          <a:ln w="8255">
            <a:solidFill>
              <a:srgbClr val="D1D5DB"/>
            </a:solidFill>
            <a:prstDash val="solid"/>
          </a:ln>
        </p:spPr>
      </p:sp>
      <p:sp>
        <p:nvSpPr>
          <p:cNvPr id="12" name="comparison:0:title"/>
          <p:cNvSpPr txBox="1"/>
          <p:nvPr/>
        </p:nvSpPr>
        <p:spPr>
          <a:xfrm>
            <a:off x="603504" y="1232408"/>
            <a:ext cx="3657600" cy="397256"/>
          </a:xfrm>
          <a:prstGeom prst="rect">
            <a:avLst/>
          </a:prstGeom>
          <a:noFill/>
          <a:ln/>
        </p:spPr>
        <p:txBody>
          <a:bodyPr wrap="square" lIns="0" tIns="0" rIns="0" bIns="0" rtlCol="0" anchor="t"/>
          <a:lstStyle/>
          <a:p>
            <a:pPr algn="l" indent="0" marL="0">
              <a:buNone/>
            </a:pPr>
            <a:r>
              <a:rPr lang="en-US" sz="1600" b="1" dirty="0">
                <a:solidFill>
                  <a:srgbClr val="0B2545"/>
                </a:solidFill>
                <a:latin typeface="Helvetica Neue" pitchFamily="34" charset="0"/>
                <a:ea typeface="Helvetica Neue" pitchFamily="34" charset="-122"/>
                <a:cs typeface="Helvetica Neue" pitchFamily="34" charset="-120"/>
              </a:rPr>
              <a:t>Buys</a:t>
            </a:r>
            <a:endParaRPr lang="en-US" sz="1600" dirty="0"/>
          </a:p>
        </p:txBody>
      </p:sp>
      <p:sp>
        <p:nvSpPr>
          <p:cNvPr id="13" name="comparison:0:body"/>
          <p:cNvSpPr txBox="1"/>
          <p:nvPr/>
        </p:nvSpPr>
        <p:spPr>
          <a:xfrm>
            <a:off x="603504" y="1721104"/>
            <a:ext cx="3657600" cy="917448"/>
          </a:xfrm>
          <a:prstGeom prst="rect">
            <a:avLst/>
          </a:prstGeom>
          <a:noFill/>
          <a:ln/>
        </p:spPr>
        <p:txBody>
          <a:bodyPr wrap="square" lIns="0" tIns="0" rIns="0" bIns="0" rtlCol="0" anchor="t"/>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9 of 9 sabotaged poses rejected</a:t>
            </a:r>
            <a:endParaRPr lang="en-US" sz="1600" dirty="0"/>
          </a:p>
          <a:p>
            <a:pPr algn="l" indent="0" marL="0">
              <a:buNone/>
            </a:pPr>
            <a:r>
              <a:rPr lang="en-US" sz="1600" dirty="0">
                <a:solidFill>
                  <a:srgbClr val="1B2838"/>
                </a:solidFill>
                <a:latin typeface="Helvetica Neue" pitchFamily="34" charset="0"/>
                <a:ea typeface="Helvetica Neue" pitchFamily="34" charset="-122"/>
                <a:cs typeface="Helvetica Neue" pitchFamily="34" charset="-120"/>
              </a:rPr>
              <a:t>Same answer in three runs</a:t>
            </a:r>
            <a:endParaRPr lang="en-US" sz="1600" dirty="0"/>
          </a:p>
          <a:p>
            <a:pPr algn="l" indent="0" marL="0">
              <a:buNone/>
            </a:pPr>
            <a:r>
              <a:rPr lang="en-US" sz="1600" dirty="0">
                <a:solidFill>
                  <a:srgbClr val="1B2838"/>
                </a:solidFill>
                <a:latin typeface="Helvetica Neue" pitchFamily="34" charset="0"/>
                <a:ea typeface="Helvetica Neue" pitchFamily="34" charset="-122"/>
                <a:cs typeface="Helvetica Neue" pitchFamily="34" charset="-120"/>
              </a:rPr>
              <a:t>A reason recorded per decision</a:t>
            </a:r>
            <a:endParaRPr lang="en-US" sz="1600" dirty="0"/>
          </a:p>
        </p:txBody>
      </p:sp>
      <p:sp>
        <p:nvSpPr>
          <p:cNvPr id="14" name="role-contract-slot:comparison:option-1"/>
          <p:cNvSpPr/>
          <p:nvPr/>
        </p:nvSpPr>
        <p:spPr>
          <a:xfrm>
            <a:off x="4736592" y="1086104"/>
            <a:ext cx="3950208" cy="2257308"/>
          </a:xfrm>
          <a:prstGeom prst="rect">
            <a:avLst/>
          </a:prstGeom>
          <a:solidFill>
            <a:srgbClr val="FFFFFF"/>
          </a:solidFill>
          <a:ln w="8255">
            <a:solidFill>
              <a:srgbClr val="D1D5DB"/>
            </a:solidFill>
            <a:prstDash val="solid"/>
          </a:ln>
        </p:spPr>
      </p:sp>
      <p:sp>
        <p:nvSpPr>
          <p:cNvPr id="15" name="comparison:1:title"/>
          <p:cNvSpPr txBox="1"/>
          <p:nvPr/>
        </p:nvSpPr>
        <p:spPr>
          <a:xfrm>
            <a:off x="4882896" y="1232408"/>
            <a:ext cx="3657600" cy="397256"/>
          </a:xfrm>
          <a:prstGeom prst="rect">
            <a:avLst/>
          </a:prstGeom>
          <a:noFill/>
          <a:ln/>
        </p:spPr>
        <p:txBody>
          <a:bodyPr wrap="square" lIns="0" tIns="0" rIns="0" bIns="0" rtlCol="0" anchor="t"/>
          <a:lstStyle/>
          <a:p>
            <a:pPr algn="l" indent="0" marL="0">
              <a:buNone/>
            </a:pPr>
            <a:r>
              <a:rPr lang="en-US" sz="1600" b="1" dirty="0">
                <a:solidFill>
                  <a:srgbClr val="C9302C"/>
                </a:solidFill>
                <a:latin typeface="Helvetica Neue" pitchFamily="34" charset="0"/>
                <a:ea typeface="Helvetica Neue" pitchFamily="34" charset="-122"/>
                <a:cs typeface="Helvetica Neue" pitchFamily="34" charset="-120"/>
              </a:rPr>
              <a:t>Costs</a:t>
            </a:r>
            <a:endParaRPr lang="en-US" sz="1600" dirty="0"/>
          </a:p>
        </p:txBody>
      </p:sp>
      <p:sp>
        <p:nvSpPr>
          <p:cNvPr id="16" name="comparison:1:body"/>
          <p:cNvSpPr txBox="1"/>
          <p:nvPr/>
        </p:nvSpPr>
        <p:spPr>
          <a:xfrm>
            <a:off x="4882896" y="1721104"/>
            <a:ext cx="3657600" cy="917448"/>
          </a:xfrm>
          <a:prstGeom prst="rect">
            <a:avLst/>
          </a:prstGeom>
          <a:noFill/>
          <a:ln/>
        </p:spPr>
        <p:txBody>
          <a:bodyPr wrap="square" lIns="0" tIns="0" rIns="0" bIns="0" rtlCol="0" anchor="t"/>
          <a:lstStyle/>
          <a:p>
            <a:pPr algn="l" indent="0" marL="0">
              <a:buNone/>
            </a:pPr>
            <a:r>
              <a:rPr lang="en-US" sz="1600" dirty="0">
                <a:solidFill>
                  <a:srgbClr val="1B2838"/>
                </a:solidFill>
                <a:latin typeface="Helvetica Neue" pitchFamily="34" charset="0"/>
                <a:ea typeface="Helvetica Neue" pitchFamily="34" charset="-122"/>
                <a:cs typeface="Helvetica Neue" pitchFamily="34" charset="-120"/>
              </a:rPr>
              <a:t>Good poses rejected too</a:t>
            </a:r>
            <a:endParaRPr lang="en-US" sz="1600" dirty="0"/>
          </a:p>
          <a:p>
            <a:pPr algn="l" indent="0" marL="0">
              <a:buNone/>
            </a:pPr>
            <a:r>
              <a:rPr lang="en-US" sz="1600" dirty="0">
                <a:solidFill>
                  <a:srgbClr val="1B2838"/>
                </a:solidFill>
                <a:latin typeface="Helvetica Neue" pitchFamily="34" charset="0"/>
                <a:ea typeface="Helvetica Neue" pitchFamily="34" charset="-122"/>
                <a:cs typeface="Helvetica Neue" pitchFamily="34" charset="-120"/>
              </a:rPr>
              <a:t>CDK2 as deposited, all runs</a:t>
            </a:r>
            <a:endParaRPr lang="en-US" sz="1600" dirty="0"/>
          </a:p>
          <a:p>
            <a:pPr algn="l" indent="0" marL="0">
              <a:buNone/>
            </a:pPr>
            <a:r>
              <a:rPr lang="en-US" sz="1600" dirty="0">
                <a:solidFill>
                  <a:srgbClr val="1B2838"/>
                </a:solidFill>
                <a:latin typeface="Helvetica Neue" pitchFamily="34" charset="0"/>
                <a:ea typeface="Helvetica Neue" pitchFamily="34" charset="-122"/>
                <a:cs typeface="Helvetica Neue" pitchFamily="34" charset="-120"/>
              </a:rPr>
              <a:t>Mostly high strain estimates</a:t>
            </a:r>
            <a:endParaRPr lang="en-US" sz="1600" dirty="0"/>
          </a:p>
        </p:txBody>
      </p:sp>
      <p:sp>
        <p:nvSpPr>
          <p:cNvPr id="17" name="Shape 15"/>
          <p:cNvSpPr/>
          <p:nvPr/>
        </p:nvSpPr>
        <p:spPr>
          <a:xfrm>
            <a:off x="457200" y="4814316"/>
            <a:ext cx="8229600" cy="18288"/>
          </a:xfrm>
          <a:prstGeom prst="rect">
            <a:avLst/>
          </a:prstGeom>
          <a:solidFill>
            <a:srgbClr val="D1D5DB"/>
          </a:solidFill>
          <a:ln w="12700">
            <a:solidFill>
              <a:srgbClr val="FFFFFF"/>
            </a:solidFill>
            <a:prstDash val="solid"/>
          </a:ln>
        </p:spPr>
      </p:sp>
      <p:sp>
        <p:nvSpPr>
          <p:cNvPr id="18" name="metadata:footer-sources"/>
          <p:cNvSpPr txBox="1"/>
          <p:nvPr/>
        </p:nvSpPr>
        <p:spPr>
          <a:xfrm>
            <a:off x="457200" y="4869180"/>
            <a:ext cx="7580376" cy="274320"/>
          </a:xfrm>
          <a:prstGeom prst="rect">
            <a:avLst/>
          </a:prstGeom>
          <a:noFill/>
          <a:ln/>
        </p:spPr>
        <p:txBody>
          <a:bodyPr wrap="square" lIns="0" tIns="0" rIns="0" bIns="0" rtlCol="0" anchor="ctr">
            <a:normAutofit/>
          </a:bodyPr>
          <a:lstStyle/>
          <a:p>
            <a:pPr algn="l" indent="0" marL="0">
              <a:buNone/>
            </a:pPr>
            <a:r>
              <a:rPr lang="en-US" sz="900" dirty="0">
                <a:solidFill>
                  <a:srgbClr val="4B5563"/>
                </a:solidFill>
                <a:latin typeface="Helvetica Neue" pitchFamily="34" charset="0"/>
                <a:ea typeface="Helvetica Neue" pitchFamily="34" charset="-122"/>
                <a:cs typeface="Helvetica Neue" pitchFamily="34" charset="-120"/>
              </a:rPr>
              <a:t>S1: bench/runs (2026-10-17T1611Z-426bfe9, 2026-10-17T1752Z-2f5a1c7, 2026-10-17T1859Z-849c856) · Sources: S1</a:t>
            </a:r>
            <a:endParaRPr lang="en-US" sz="900" dirty="0"/>
          </a:p>
        </p:txBody>
      </p:sp>
      <p:sp>
        <p:nvSpPr>
          <p:cNvPr id="19" name="metadata:footer-page-number"/>
          <p:cNvSpPr txBox="1"/>
          <p:nvPr/>
        </p:nvSpPr>
        <p:spPr>
          <a:xfrm>
            <a:off x="8183880" y="4869180"/>
            <a:ext cx="502920" cy="274320"/>
          </a:xfrm>
          <a:prstGeom prst="rect">
            <a:avLst/>
          </a:prstGeom>
          <a:noFill/>
          <a:ln/>
        </p:spPr>
        <p:txBody>
          <a:bodyPr wrap="square" lIns="0" tIns="0" rIns="0" bIns="0" rtlCol="0" anchor="ctr"/>
          <a:lstStyle/>
          <a:p>
            <a:pPr algn="r" indent="0" marL="0">
              <a:buNone/>
            </a:pPr>
            <a:r>
              <a:rPr lang="en-US" sz="900" dirty="0">
                <a:solidFill>
                  <a:srgbClr val="4B5563"/>
                </a:solidFill>
                <a:latin typeface="Helvetica Neue" pitchFamily="34" charset="0"/>
                <a:ea typeface="Helvetica Neue" pitchFamily="34" charset="-122"/>
                <a:cs typeface="Helvetica Neue" pitchFamily="34" charset="-120"/>
              </a:rPr>
              <a:t>8/8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the harness caught</dc:title>
  <dc:subject/>
  <dc:creator>Presentation Team</dc:creator>
  <cp:lastModifiedBy>Presentation Team</cp:lastModifiedBy>
  <cp:revision>1</cp:revision>
  <dcterms:created xsi:type="dcterms:W3CDTF">2026-10-17T23:47:13Z</dcterms:created>
  <dcterms:modified xsi:type="dcterms:W3CDTF">2026-10-17T23:47:13Z</dcterms:modified>
</cp:coreProperties>
</file>