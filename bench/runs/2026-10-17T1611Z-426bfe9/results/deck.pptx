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Same agent, same predictions, two kinds of evidence: the model confidence score alone, or the harness fact file.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system is predicted by Boltz-2 and DiffDock-L with three seeds. A wild-type prediction is valid when its medoid lies within 2 Å of the deposited ligand.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13 contact residues were cut to glycine. The confidence the model reports and the fact file for the same prediction.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Boltz-2: score only 0.5 (0.5 to 0.5), fact file 0.567 (0.25 to 0.929). DiffDock-L: score only 0.5 (0.5 to 0.5), fact file 0.5 (0.5 to 0.5).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Score only kept 5 of 10 invalid predictions; the fact file arm kept 1 of 6 valid.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Eight systems per executor support a demonstration, not a statistical claim. A length-matched control arm was not run.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73152"/>
            <a:ext cx="841248" cy="50292"/>
          </a:xfrm>
          <a:prstGeom prst="rect">
            <a:avLst/>
          </a:prstGeom>
          <a:solidFill>
            <a:srgbClr val="D1D5DB">
              <a:alpha val="82000"/>
            </a:srgbClr>
          </a:solidFill>
          <a:ln w="12700">
            <a:solidFill>
              <a:srgbClr val="D1D5D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463040" y="73152"/>
            <a:ext cx="841248" cy="50292"/>
          </a:xfrm>
          <a:prstGeom prst="rect">
            <a:avLst/>
          </a:prstGeom>
          <a:solidFill>
            <a:srgbClr val="D1D5DB">
              <a:alpha val="82000"/>
            </a:srgbClr>
          </a:solidFill>
          <a:ln w="12700">
            <a:solidFill>
              <a:srgbClr val="D1D5D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468880" y="73152"/>
            <a:ext cx="841248" cy="50292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4720" y="73152"/>
            <a:ext cx="841248" cy="50292"/>
          </a:xfrm>
          <a:prstGeom prst="rect">
            <a:avLst/>
          </a:prstGeom>
          <a:solidFill>
            <a:srgbClr val="D1D5DB">
              <a:alpha val="82000"/>
            </a:srgbClr>
          </a:solidFill>
          <a:ln w="12700">
            <a:solidFill>
              <a:srgbClr val="D1D5D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4668012"/>
            <a:ext cx="8229600" cy="16459"/>
          </a:xfrm>
          <a:prstGeom prst="rect">
            <a:avLst/>
          </a:prstGeom>
          <a:solidFill>
            <a:srgbClr val="D1D5DB"/>
          </a:solidFill>
          <a:ln w="12700">
            <a:solidFill>
              <a:srgbClr val="D1D5DB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4713732"/>
            <a:ext cx="1481328" cy="32004"/>
          </a:xfrm>
          <a:prstGeom prst="rect">
            <a:avLst/>
          </a:prstGeom>
          <a:solidFill>
            <a:srgbClr val="C9302C"/>
          </a:solidFill>
          <a:ln w="12700">
            <a:solidFill>
              <a:srgbClr val="C9302C">
                <a:alpha val="0"/>
              </a:srgbClr>
            </a:solidFill>
            <a:prstDash val="solid"/>
          </a:ln>
        </p:spPr>
      </p:sp>
      <p:sp>
        <p:nvSpPr>
          <p:cNvPr id="8" name="metadata:title-kicker"/>
          <p:cNvSpPr txBox="1"/>
          <p:nvPr/>
        </p:nvSpPr>
        <p:spPr>
          <a:xfrm>
            <a:off x="1645920" y="1265301"/>
            <a:ext cx="4389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00" b="1" spc="110" kern="0" dirty="0">
                <a:solidFill>
                  <a:srgbClr val="0B2545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PRESENTATION</a:t>
            </a:r>
            <a:endParaRPr lang="en-US" sz="900" dirty="0"/>
          </a:p>
        </p:txBody>
      </p:sp>
      <p:sp>
        <p:nvSpPr>
          <p:cNvPr id="9" name="decorative:role-contract-accent:title:heading"/>
          <p:cNvSpPr/>
          <p:nvPr/>
        </p:nvSpPr>
        <p:spPr>
          <a:xfrm>
            <a:off x="1645920" y="1484757"/>
            <a:ext cx="1051560" cy="41148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10" name="slide-title:title"/>
          <p:cNvSpPr txBox="1"/>
          <p:nvPr/>
        </p:nvSpPr>
        <p:spPr>
          <a:xfrm>
            <a:off x="1645920" y="1594485"/>
            <a:ext cx="5852160" cy="154305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500" b="1" dirty="0">
                <a:solidFill>
                  <a:srgbClr val="1B283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Does the fact file help reject invalid poses?</a:t>
            </a:r>
            <a:endParaRPr lang="en-US" sz="3500" dirty="0"/>
          </a:p>
        </p:txBody>
      </p:sp>
      <p:sp>
        <p:nvSpPr>
          <p:cNvPr id="11" name="Text 9"/>
          <p:cNvSpPr txBox="1"/>
          <p:nvPr/>
        </p:nvSpPr>
        <p:spPr>
          <a:xfrm>
            <a:off x="1645920" y="3549015"/>
            <a:ext cx="5852160" cy="680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4B556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Perturbation benchmark, run 2026-10-17T1611Z-426bfe9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57200" y="4814316"/>
            <a:ext cx="8229600" cy="18288"/>
          </a:xfrm>
          <a:prstGeom prst="rect">
            <a:avLst/>
          </a:prstGeom>
          <a:solidFill>
            <a:srgbClr val="D1D5D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metadata:footer-page-number"/>
          <p:cNvSpPr txBox="1"/>
          <p:nvPr/>
        </p:nvSpPr>
        <p:spPr>
          <a:xfrm>
            <a:off x="8183880" y="486918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B556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1/8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73152"/>
            <a:ext cx="841248" cy="50292"/>
          </a:xfrm>
          <a:prstGeom prst="rect">
            <a:avLst/>
          </a:prstGeom>
          <a:solidFill>
            <a:srgbClr val="D1D5DB">
              <a:alpha val="82000"/>
            </a:srgbClr>
          </a:solidFill>
          <a:ln w="12700">
            <a:solidFill>
              <a:srgbClr val="D1D5D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463040" y="73152"/>
            <a:ext cx="841248" cy="50292"/>
          </a:xfrm>
          <a:prstGeom prst="rect">
            <a:avLst/>
          </a:prstGeom>
          <a:solidFill>
            <a:srgbClr val="D1D5DB">
              <a:alpha val="82000"/>
            </a:srgbClr>
          </a:solidFill>
          <a:ln w="12700">
            <a:solidFill>
              <a:srgbClr val="D1D5D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468880" y="73152"/>
            <a:ext cx="841248" cy="50292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4720" y="73152"/>
            <a:ext cx="841248" cy="50292"/>
          </a:xfrm>
          <a:prstGeom prst="rect">
            <a:avLst/>
          </a:prstGeom>
          <a:solidFill>
            <a:srgbClr val="D1D5DB">
              <a:alpha val="82000"/>
            </a:srgbClr>
          </a:solidFill>
          <a:ln w="12700">
            <a:solidFill>
              <a:srgbClr val="D1D5D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4668012"/>
            <a:ext cx="8229600" cy="16459"/>
          </a:xfrm>
          <a:prstGeom prst="rect">
            <a:avLst/>
          </a:prstGeom>
          <a:solidFill>
            <a:srgbClr val="D1D5DB"/>
          </a:solidFill>
          <a:ln w="12700">
            <a:solidFill>
              <a:srgbClr val="D1D5DB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4713732"/>
            <a:ext cx="1481328" cy="32004"/>
          </a:xfrm>
          <a:prstGeom prst="rect">
            <a:avLst/>
          </a:prstGeom>
          <a:solidFill>
            <a:srgbClr val="C9302C"/>
          </a:solidFill>
          <a:ln w="12700">
            <a:solidFill>
              <a:srgbClr val="C9302C">
                <a:alpha val="0"/>
              </a:srgbClr>
            </a:solidFill>
            <a:prstDash val="solid"/>
          </a:ln>
        </p:spPr>
      </p:sp>
      <p:sp>
        <p:nvSpPr>
          <p:cNvPr id="8" name="slide-title:content"/>
          <p:cNvSpPr txBox="1"/>
          <p:nvPr/>
        </p:nvSpPr>
        <p:spPr>
          <a:xfrm>
            <a:off x="457200" y="173736"/>
            <a:ext cx="8229600" cy="528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283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Four systems, each wild type and perturbed</a:t>
            </a:r>
            <a:endParaRPr lang="en-US" sz="2800" dirty="0"/>
          </a:p>
        </p:txBody>
      </p:sp>
      <p:sp>
        <p:nvSpPr>
          <p:cNvPr id="9" name="support:slide-subtitle"/>
          <p:cNvSpPr txBox="1"/>
          <p:nvPr/>
        </p:nvSpPr>
        <p:spPr>
          <a:xfrm>
            <a:off x="457200" y="738632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4B556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Perturbed systems are invalid by construction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1076960"/>
            <a:ext cx="2880360" cy="27432"/>
          </a:xfrm>
          <a:prstGeom prst="rect">
            <a:avLst/>
          </a:prstGeom>
          <a:solidFill>
            <a:srgbClr val="C9302C"/>
          </a:solidFill>
          <a:ln w="12700">
            <a:solidFill>
              <a:srgbClr val="C9302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465576" y="1086104"/>
            <a:ext cx="5221224" cy="12802"/>
          </a:xfrm>
          <a:prstGeom prst="rect">
            <a:avLst/>
          </a:prstGeom>
          <a:solidFill>
            <a:srgbClr val="D1D5DB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2" name="metadata:table-index-label"/>
          <p:cNvSpPr txBox="1"/>
          <p:nvPr/>
        </p:nvSpPr>
        <p:spPr>
          <a:xfrm>
            <a:off x="566928" y="1488440"/>
            <a:ext cx="96926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B2545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TABLE INDEX</a:t>
            </a:r>
            <a:endParaRPr lang="en-US" sz="900" dirty="0"/>
          </a:p>
        </p:txBody>
      </p:sp>
      <p:sp>
        <p:nvSpPr>
          <p:cNvPr id="13" name="metadata:table-index-detail"/>
          <p:cNvSpPr txBox="1"/>
          <p:nvPr/>
        </p:nvSpPr>
        <p:spPr>
          <a:xfrm>
            <a:off x="1645920" y="1488440"/>
            <a:ext cx="693115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1B283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4 rows | System | Entry | Ligand | Perturbation</a:t>
            </a:r>
            <a:endParaRPr lang="en-US" sz="900" dirty="0"/>
          </a:p>
        </p:txBody>
      </p:sp>
      <p:graphicFrame>
        <p:nvGraphicFramePr>
          <p:cNvPr id="3" name="Editable table: Four systems, each wild type and perturbed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962033"/>
          <a:ext cx="8229600" cy="2026173"/>
        </p:xfrm>
        <a:graphic>
          <a:graphicData uri="http://schemas.openxmlformats.org/drawingml/2006/table">
            <a:tbl>
              <a:tblPr/>
              <a:tblGrid>
                <a:gridCol w="2057400"/>
                <a:gridCol w="2057400"/>
                <a:gridCol w="2057400"/>
                <a:gridCol w="2057400"/>
              </a:tblGrid>
              <a:tr h="35321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System</a:t>
                      </a:r>
                      <a:endParaRPr lang="en-US" sz="16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Entry</a:t>
                      </a:r>
                      <a:endParaRPr lang="en-US" sz="16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Ligand</a:t>
                      </a:r>
                      <a:endParaRPr lang="en-US" sz="16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Perturbation</a:t>
                      </a:r>
                      <a:endParaRPr lang="en-US" sz="16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B2545"/>
                    </a:solidFill>
                  </a:tcPr>
                </a:tc>
              </a:tr>
              <a:tr h="35321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2838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CDK2</a:t>
                      </a:r>
                      <a:endParaRPr lang="en-US" sz="16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2838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1B38</a:t>
                      </a:r>
                      <a:endParaRPr lang="en-US" sz="16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2838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ATP</a:t>
                      </a:r>
                      <a:endParaRPr lang="en-US" sz="16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2838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13 contacts to Gly</a:t>
                      </a:r>
                      <a:endParaRPr lang="en-US" sz="16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5321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2838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FtsE</a:t>
                      </a:r>
                      <a:endParaRPr lang="en-US" sz="16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2838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8X61</a:t>
                      </a:r>
                      <a:endParaRPr lang="en-US" sz="16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2838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ATP</a:t>
                      </a:r>
                      <a:endParaRPr lang="en-US" sz="16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2838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7 contacts to Gly</a:t>
                      </a:r>
                      <a:endParaRPr lang="en-US" sz="16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61331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2838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glucose dehydrogenase</a:t>
                      </a:r>
                      <a:endParaRPr lang="en-US" sz="16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2838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2VWH</a:t>
                      </a:r>
                      <a:endParaRPr lang="en-US" sz="16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2838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BGC</a:t>
                      </a:r>
                      <a:endParaRPr lang="en-US" sz="16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2838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3 hydroxyls methylated</a:t>
                      </a:r>
                      <a:endParaRPr lang="en-US" sz="16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5321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2838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MEK1</a:t>
                      </a:r>
                      <a:endParaRPr lang="en-US" sz="16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2838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7XLP</a:t>
                      </a:r>
                      <a:endParaRPr lang="en-US" sz="16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2838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FZC</a:t>
                      </a:r>
                      <a:endParaRPr lang="en-US" sz="16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2838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11 contacts to Gly</a:t>
                      </a:r>
                      <a:endParaRPr lang="en-US" sz="16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" name="Shape 12"/>
          <p:cNvSpPr/>
          <p:nvPr/>
        </p:nvSpPr>
        <p:spPr>
          <a:xfrm>
            <a:off x="457200" y="4814316"/>
            <a:ext cx="8229600" cy="18288"/>
          </a:xfrm>
          <a:prstGeom prst="rect">
            <a:avLst/>
          </a:prstGeom>
          <a:solidFill>
            <a:srgbClr val="D1D5D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metadata:footer-sources"/>
          <p:cNvSpPr txBox="1"/>
          <p:nvPr/>
        </p:nvSpPr>
        <p:spPr>
          <a:xfrm>
            <a:off x="457200" y="4869180"/>
            <a:ext cx="75803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4B556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S1: bench/runs/2026-10-17T1611Z-426bfe9 (stats.json, facts, renders) · Sources: S1</a:t>
            </a:r>
            <a:endParaRPr lang="en-US" sz="900" dirty="0"/>
          </a:p>
        </p:txBody>
      </p:sp>
      <p:sp>
        <p:nvSpPr>
          <p:cNvPr id="17" name="metadata:footer-page-number"/>
          <p:cNvSpPr txBox="1"/>
          <p:nvPr/>
        </p:nvSpPr>
        <p:spPr>
          <a:xfrm>
            <a:off x="8183880" y="486918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B556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2/8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73152"/>
            <a:ext cx="841248" cy="50292"/>
          </a:xfrm>
          <a:prstGeom prst="rect">
            <a:avLst/>
          </a:prstGeom>
          <a:solidFill>
            <a:srgbClr val="D1D5DB">
              <a:alpha val="82000"/>
            </a:srgbClr>
          </a:solidFill>
          <a:ln w="12700">
            <a:solidFill>
              <a:srgbClr val="D1D5D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463040" y="73152"/>
            <a:ext cx="841248" cy="50292"/>
          </a:xfrm>
          <a:prstGeom prst="rect">
            <a:avLst/>
          </a:prstGeom>
          <a:solidFill>
            <a:srgbClr val="D1D5DB">
              <a:alpha val="82000"/>
            </a:srgbClr>
          </a:solidFill>
          <a:ln w="12700">
            <a:solidFill>
              <a:srgbClr val="D1D5D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468880" y="73152"/>
            <a:ext cx="841248" cy="50292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4720" y="73152"/>
            <a:ext cx="841248" cy="50292"/>
          </a:xfrm>
          <a:prstGeom prst="rect">
            <a:avLst/>
          </a:prstGeom>
          <a:solidFill>
            <a:srgbClr val="D1D5DB">
              <a:alpha val="82000"/>
            </a:srgbClr>
          </a:solidFill>
          <a:ln w="12700">
            <a:solidFill>
              <a:srgbClr val="D1D5D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4668012"/>
            <a:ext cx="8229600" cy="16459"/>
          </a:xfrm>
          <a:prstGeom prst="rect">
            <a:avLst/>
          </a:prstGeom>
          <a:solidFill>
            <a:srgbClr val="D1D5DB"/>
          </a:solidFill>
          <a:ln w="12700">
            <a:solidFill>
              <a:srgbClr val="D1D5DB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4713732"/>
            <a:ext cx="1481328" cy="32004"/>
          </a:xfrm>
          <a:prstGeom prst="rect">
            <a:avLst/>
          </a:prstGeom>
          <a:solidFill>
            <a:srgbClr val="C9302C"/>
          </a:solidFill>
          <a:ln w="12700">
            <a:solidFill>
              <a:srgbClr val="C9302C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92024"/>
            <a:ext cx="50292" cy="903224"/>
          </a:xfrm>
          <a:prstGeom prst="rect">
            <a:avLst/>
          </a:prstGeom>
          <a:solidFill>
            <a:srgbClr val="C9302C"/>
          </a:solidFill>
          <a:ln w="12700">
            <a:solidFill>
              <a:srgbClr val="C9302C"/>
            </a:solidFill>
            <a:prstDash val="solid"/>
          </a:ln>
        </p:spPr>
      </p:sp>
      <p:sp>
        <p:nvSpPr>
          <p:cNvPr id="9" name="slide-title:content"/>
          <p:cNvSpPr txBox="1"/>
          <p:nvPr/>
        </p:nvSpPr>
        <p:spPr>
          <a:xfrm>
            <a:off x="640080" y="173736"/>
            <a:ext cx="8046720" cy="528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283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One perturbed prediction, two views</a:t>
            </a:r>
            <a:endParaRPr lang="en-US" sz="2800" dirty="0"/>
          </a:p>
        </p:txBody>
      </p:sp>
      <p:sp>
        <p:nvSpPr>
          <p:cNvPr id="10" name="support:slide-subtitle"/>
          <p:cNvSpPr txBox="1"/>
          <p:nvPr/>
        </p:nvSpPr>
        <p:spPr>
          <a:xfrm>
            <a:off x="640080" y="738632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4B556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CDK2, Boltz-2, 13 contacts to glycine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086104"/>
            <a:ext cx="8229600" cy="12802"/>
          </a:xfrm>
          <a:prstGeom prst="rect">
            <a:avLst/>
          </a:prstGeom>
          <a:solidFill>
            <a:srgbClr val="D1D5DB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" y="1117194"/>
            <a:ext cx="1097280" cy="23774"/>
          </a:xfrm>
          <a:prstGeom prst="rect">
            <a:avLst/>
          </a:prstGeom>
          <a:solidFill>
            <a:srgbClr val="C9302C"/>
          </a:solidFill>
          <a:ln w="12700">
            <a:solidFill>
              <a:srgbClr val="C9302C"/>
            </a:solidFill>
            <a:prstDash val="solid"/>
          </a:ln>
        </p:spPr>
      </p:sp>
      <p:sp>
        <p:nvSpPr>
          <p:cNvPr id="13" name="role-contract-slot:comparison:option-0"/>
          <p:cNvSpPr/>
          <p:nvPr/>
        </p:nvSpPr>
        <p:spPr>
          <a:xfrm>
            <a:off x="457200" y="1415288"/>
            <a:ext cx="3950208" cy="3197860"/>
          </a:xfrm>
          <a:prstGeom prst="rect">
            <a:avLst/>
          </a:prstGeom>
          <a:solidFill>
            <a:srgbClr val="FFFFFF"/>
          </a:solidFill>
          <a:ln w="8255">
            <a:solidFill>
              <a:srgbClr val="D1D5DB"/>
            </a:solidFill>
            <a:prstDash val="solid"/>
          </a:ln>
        </p:spPr>
      </p:sp>
      <p:sp>
        <p:nvSpPr>
          <p:cNvPr id="14" name="comparison:0:title"/>
          <p:cNvSpPr txBox="1"/>
          <p:nvPr/>
        </p:nvSpPr>
        <p:spPr>
          <a:xfrm>
            <a:off x="603504" y="1561592"/>
            <a:ext cx="3657600" cy="397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B2545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Score only</a:t>
            </a:r>
            <a:endParaRPr lang="en-US" sz="1600" dirty="0"/>
          </a:p>
        </p:txBody>
      </p:sp>
      <p:sp>
        <p:nvSpPr>
          <p:cNvPr id="15" name="comparison:0:body"/>
          <p:cNvSpPr txBox="1"/>
          <p:nvPr/>
        </p:nvSpPr>
        <p:spPr>
          <a:xfrm>
            <a:off x="603504" y="2050288"/>
            <a:ext cx="3657600" cy="1697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83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Confidence: ligand_iptm 0.947,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B283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pocket_plddt 85,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B283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confidence_score 0.894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B283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Wild type: ligand_iptm 0.975,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B283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pocket_plddt 94.9,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B283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confidence_score 0.958</a:t>
            </a:r>
            <a:endParaRPr lang="en-US" sz="1600" dirty="0"/>
          </a:p>
        </p:txBody>
      </p:sp>
      <p:sp>
        <p:nvSpPr>
          <p:cNvPr id="16" name="role-contract-slot:comparison:option-1"/>
          <p:cNvSpPr/>
          <p:nvPr/>
        </p:nvSpPr>
        <p:spPr>
          <a:xfrm>
            <a:off x="4736592" y="1415288"/>
            <a:ext cx="3950208" cy="3197860"/>
          </a:xfrm>
          <a:prstGeom prst="rect">
            <a:avLst/>
          </a:prstGeom>
          <a:solidFill>
            <a:srgbClr val="FFFFFF"/>
          </a:solidFill>
          <a:ln w="8255">
            <a:solidFill>
              <a:srgbClr val="D1D5DB"/>
            </a:solidFill>
            <a:prstDash val="solid"/>
          </a:ln>
        </p:spPr>
      </p:sp>
      <p:sp>
        <p:nvSpPr>
          <p:cNvPr id="17" name="comparison:1:title"/>
          <p:cNvSpPr txBox="1"/>
          <p:nvPr/>
        </p:nvSpPr>
        <p:spPr>
          <a:xfrm>
            <a:off x="4882896" y="1561592"/>
            <a:ext cx="3657600" cy="397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C9302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Harness fact file</a:t>
            </a:r>
            <a:endParaRPr lang="en-US" sz="1600" dirty="0"/>
          </a:p>
        </p:txBody>
      </p:sp>
      <p:sp>
        <p:nvSpPr>
          <p:cNvPr id="18" name="comparison:1:body"/>
          <p:cNvSpPr txBox="1"/>
          <p:nvPr/>
        </p:nvSpPr>
        <p:spPr>
          <a:xfrm>
            <a:off x="4882896" y="2050288"/>
            <a:ext cx="3657600" cy="1697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83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PoseBusters 20 of 20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B283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Deposited interactions recovered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B283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 of 9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B283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Buried unsatisfied polars 5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B283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Ensemble spread 0.894 Å;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B283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cross-executor 2.66 Å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457200" y="4814316"/>
            <a:ext cx="8229600" cy="18288"/>
          </a:xfrm>
          <a:prstGeom prst="rect">
            <a:avLst/>
          </a:prstGeom>
          <a:solidFill>
            <a:srgbClr val="D1D5D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metadata:footer-sources"/>
          <p:cNvSpPr txBox="1"/>
          <p:nvPr/>
        </p:nvSpPr>
        <p:spPr>
          <a:xfrm>
            <a:off x="457200" y="4869180"/>
            <a:ext cx="75803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4B556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S1: bench/runs/2026-10-17T1611Z-426bfe9 (stats.json, facts, renders) · Sources: S1</a:t>
            </a:r>
            <a:endParaRPr lang="en-US" sz="900" dirty="0"/>
          </a:p>
        </p:txBody>
      </p:sp>
      <p:sp>
        <p:nvSpPr>
          <p:cNvPr id="21" name="metadata:footer-page-number"/>
          <p:cNvSpPr txBox="1"/>
          <p:nvPr/>
        </p:nvSpPr>
        <p:spPr>
          <a:xfrm>
            <a:off x="8183880" y="486918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B556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3/8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73152"/>
            <a:ext cx="841248" cy="50292"/>
          </a:xfrm>
          <a:prstGeom prst="rect">
            <a:avLst/>
          </a:prstGeom>
          <a:solidFill>
            <a:srgbClr val="D1D5DB">
              <a:alpha val="82000"/>
            </a:srgbClr>
          </a:solidFill>
          <a:ln w="12700">
            <a:solidFill>
              <a:srgbClr val="D1D5D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463040" y="73152"/>
            <a:ext cx="841248" cy="50292"/>
          </a:xfrm>
          <a:prstGeom prst="rect">
            <a:avLst/>
          </a:prstGeom>
          <a:solidFill>
            <a:srgbClr val="D1D5DB">
              <a:alpha val="82000"/>
            </a:srgbClr>
          </a:solidFill>
          <a:ln w="12700">
            <a:solidFill>
              <a:srgbClr val="D1D5D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468880" y="73152"/>
            <a:ext cx="841248" cy="50292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4720" y="73152"/>
            <a:ext cx="841248" cy="50292"/>
          </a:xfrm>
          <a:prstGeom prst="rect">
            <a:avLst/>
          </a:prstGeom>
          <a:solidFill>
            <a:srgbClr val="D1D5DB">
              <a:alpha val="82000"/>
            </a:srgbClr>
          </a:solidFill>
          <a:ln w="12700">
            <a:solidFill>
              <a:srgbClr val="D1D5D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4668012"/>
            <a:ext cx="8229600" cy="16459"/>
          </a:xfrm>
          <a:prstGeom prst="rect">
            <a:avLst/>
          </a:prstGeom>
          <a:solidFill>
            <a:srgbClr val="D1D5DB"/>
          </a:solidFill>
          <a:ln w="12700">
            <a:solidFill>
              <a:srgbClr val="D1D5DB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4713732"/>
            <a:ext cx="1481328" cy="32004"/>
          </a:xfrm>
          <a:prstGeom prst="rect">
            <a:avLst/>
          </a:prstGeom>
          <a:solidFill>
            <a:srgbClr val="C9302C"/>
          </a:solidFill>
          <a:ln w="12700">
            <a:solidFill>
              <a:srgbClr val="C9302C">
                <a:alpha val="0"/>
              </a:srgbClr>
            </a:solidFill>
            <a:prstDash val="solid"/>
          </a:ln>
        </p:spPr>
      </p:sp>
      <p:sp>
        <p:nvSpPr>
          <p:cNvPr id="8" name="slide-title:content"/>
          <p:cNvSpPr txBox="1"/>
          <p:nvPr/>
        </p:nvSpPr>
        <p:spPr>
          <a:xfrm>
            <a:off x="457200" y="173736"/>
            <a:ext cx="8229600" cy="528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283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Medoid poses, wild type and perturbed</a:t>
            </a:r>
            <a:endParaRPr lang="en-US" sz="2800" dirty="0"/>
          </a:p>
        </p:txBody>
      </p:sp>
      <p:sp>
        <p:nvSpPr>
          <p:cNvPr id="9" name="support:slide-subtitle"/>
          <p:cNvSpPr txBox="1"/>
          <p:nvPr/>
        </p:nvSpPr>
        <p:spPr>
          <a:xfrm>
            <a:off x="457200" y="738632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4B556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CDK2, Boltz-2</a:t>
            </a:r>
            <a:endParaRPr lang="en-US" sz="1300" dirty="0"/>
          </a:p>
        </p:txBody>
      </p:sp>
      <p:sp>
        <p:nvSpPr>
          <p:cNvPr id="10" name="support:scientific:A:title"/>
          <p:cNvSpPr txBox="1"/>
          <p:nvPr/>
        </p:nvSpPr>
        <p:spPr>
          <a:xfrm>
            <a:off x="530352" y="1442720"/>
            <a:ext cx="3831336" cy="348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B283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A. wild type</a:t>
            </a:r>
            <a:endParaRPr lang="en-US" sz="1300" dirty="0"/>
          </a:p>
        </p:txBody>
      </p:sp>
      <p:pic>
        <p:nvPicPr>
          <p:cNvPr id="11" name="scientific:A:image" descr="Each panel oriented on its ligand; grey: residues ≤ 5 Å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44092" y="1818640"/>
            <a:ext cx="2403856" cy="1802892"/>
          </a:xfrm>
          <a:prstGeom prst="rect">
            <a:avLst/>
          </a:prstGeom>
        </p:spPr>
      </p:pic>
      <p:sp>
        <p:nvSpPr>
          <p:cNvPr id="12" name="metadata:scientific:A:caption"/>
          <p:cNvSpPr txBox="1"/>
          <p:nvPr/>
        </p:nvSpPr>
        <p:spPr>
          <a:xfrm>
            <a:off x="530352" y="3694684"/>
            <a:ext cx="383133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4B556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Boltz-2 medoid pose</a:t>
            </a:r>
            <a:endParaRPr lang="en-US" sz="900" dirty="0"/>
          </a:p>
        </p:txBody>
      </p:sp>
      <p:sp>
        <p:nvSpPr>
          <p:cNvPr id="13" name="support:scientific:B:title"/>
          <p:cNvSpPr txBox="1"/>
          <p:nvPr/>
        </p:nvSpPr>
        <p:spPr>
          <a:xfrm>
            <a:off x="4782312" y="1442720"/>
            <a:ext cx="3831336" cy="348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B283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B. perturbed</a:t>
            </a:r>
            <a:endParaRPr lang="en-US" sz="1300" dirty="0"/>
          </a:p>
        </p:txBody>
      </p:sp>
      <p:pic>
        <p:nvPicPr>
          <p:cNvPr id="14" name="scientific:B:image" descr="Each panel oriented on its ligand; grey: residues ≤ 5 Å.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96052" y="1818640"/>
            <a:ext cx="2403856" cy="1802892"/>
          </a:xfrm>
          <a:prstGeom prst="rect">
            <a:avLst/>
          </a:prstGeom>
        </p:spPr>
      </p:pic>
      <p:sp>
        <p:nvSpPr>
          <p:cNvPr id="15" name="metadata:scientific:B:caption"/>
          <p:cNvSpPr txBox="1"/>
          <p:nvPr/>
        </p:nvSpPr>
        <p:spPr>
          <a:xfrm>
            <a:off x="4782312" y="3694684"/>
            <a:ext cx="383133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4B556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Boltz-2 medoid pose</a:t>
            </a:r>
            <a:endParaRPr lang="en-US" sz="900" dirty="0"/>
          </a:p>
        </p:txBody>
      </p:sp>
      <p:sp>
        <p:nvSpPr>
          <p:cNvPr id="16" name="scientific:complete-readout"/>
          <p:cNvSpPr txBox="1"/>
          <p:nvPr/>
        </p:nvSpPr>
        <p:spPr>
          <a:xfrm>
            <a:off x="585216" y="4197604"/>
            <a:ext cx="7973568" cy="397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83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Each panel oriented on its ligand; grey: residues ≤ 5 Å.</a:t>
            </a:r>
            <a:endParaRPr lang="en-US" sz="1600" dirty="0"/>
          </a:p>
        </p:txBody>
      </p:sp>
      <p:sp>
        <p:nvSpPr>
          <p:cNvPr id="17" name="Shape 13"/>
          <p:cNvSpPr/>
          <p:nvPr/>
        </p:nvSpPr>
        <p:spPr>
          <a:xfrm>
            <a:off x="457200" y="4814316"/>
            <a:ext cx="8229600" cy="18288"/>
          </a:xfrm>
          <a:prstGeom prst="rect">
            <a:avLst/>
          </a:prstGeom>
          <a:solidFill>
            <a:srgbClr val="D1D5D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metadata:footer-sources"/>
          <p:cNvSpPr txBox="1"/>
          <p:nvPr/>
        </p:nvSpPr>
        <p:spPr>
          <a:xfrm>
            <a:off x="457200" y="4869180"/>
            <a:ext cx="75803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4B556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S1: bench/runs/2026-10-17T1611Z-426bfe9 (stats.json, facts, renders) · Sources: S1</a:t>
            </a:r>
            <a:endParaRPr lang="en-US" sz="900" dirty="0"/>
          </a:p>
        </p:txBody>
      </p:sp>
      <p:sp>
        <p:nvSpPr>
          <p:cNvPr id="19" name="metadata:footer-page-number"/>
          <p:cNvSpPr txBox="1"/>
          <p:nvPr/>
        </p:nvSpPr>
        <p:spPr>
          <a:xfrm>
            <a:off x="8183880" y="486918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B556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4/8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73152"/>
            <a:ext cx="841248" cy="50292"/>
          </a:xfrm>
          <a:prstGeom prst="rect">
            <a:avLst/>
          </a:prstGeom>
          <a:solidFill>
            <a:srgbClr val="D1D5DB">
              <a:alpha val="82000"/>
            </a:srgbClr>
          </a:solidFill>
          <a:ln w="12700">
            <a:solidFill>
              <a:srgbClr val="D1D5D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463040" y="73152"/>
            <a:ext cx="841248" cy="50292"/>
          </a:xfrm>
          <a:prstGeom prst="rect">
            <a:avLst/>
          </a:prstGeom>
          <a:solidFill>
            <a:srgbClr val="D1D5DB">
              <a:alpha val="82000"/>
            </a:srgbClr>
          </a:solidFill>
          <a:ln w="12700">
            <a:solidFill>
              <a:srgbClr val="D1D5D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468880" y="73152"/>
            <a:ext cx="841248" cy="50292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4720" y="73152"/>
            <a:ext cx="841248" cy="50292"/>
          </a:xfrm>
          <a:prstGeom prst="rect">
            <a:avLst/>
          </a:prstGeom>
          <a:solidFill>
            <a:srgbClr val="D1D5DB">
              <a:alpha val="82000"/>
            </a:srgbClr>
          </a:solidFill>
          <a:ln w="12700">
            <a:solidFill>
              <a:srgbClr val="D1D5D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4668012"/>
            <a:ext cx="8229600" cy="16459"/>
          </a:xfrm>
          <a:prstGeom prst="rect">
            <a:avLst/>
          </a:prstGeom>
          <a:solidFill>
            <a:srgbClr val="D1D5DB"/>
          </a:solidFill>
          <a:ln w="12700">
            <a:solidFill>
              <a:srgbClr val="D1D5DB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4713732"/>
            <a:ext cx="1481328" cy="32004"/>
          </a:xfrm>
          <a:prstGeom prst="rect">
            <a:avLst/>
          </a:prstGeom>
          <a:solidFill>
            <a:srgbClr val="C9302C"/>
          </a:solidFill>
          <a:ln w="12700">
            <a:solidFill>
              <a:srgbClr val="C9302C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92024"/>
            <a:ext cx="50292" cy="528320"/>
          </a:xfrm>
          <a:prstGeom prst="rect">
            <a:avLst/>
          </a:prstGeom>
          <a:solidFill>
            <a:srgbClr val="C9302C"/>
          </a:solidFill>
          <a:ln w="12700">
            <a:solidFill>
              <a:srgbClr val="C9302C"/>
            </a:solidFill>
            <a:prstDash val="solid"/>
          </a:ln>
        </p:spPr>
      </p:sp>
      <p:sp>
        <p:nvSpPr>
          <p:cNvPr id="9" name="slide-title:content"/>
          <p:cNvSpPr txBox="1"/>
          <p:nvPr/>
        </p:nvSpPr>
        <p:spPr>
          <a:xfrm>
            <a:off x="640080" y="173736"/>
            <a:ext cx="8046720" cy="528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283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Confusion counts, executors pooled</a:t>
            </a:r>
            <a:endParaRPr lang="en-US" sz="2800" dirty="0"/>
          </a:p>
        </p:txBody>
      </p:sp>
      <p:sp>
        <p:nvSpPr>
          <p:cNvPr id="10" name="Shape 8"/>
          <p:cNvSpPr/>
          <p:nvPr/>
        </p:nvSpPr>
        <p:spPr>
          <a:xfrm>
            <a:off x="457200" y="756920"/>
            <a:ext cx="8229600" cy="12802"/>
          </a:xfrm>
          <a:prstGeom prst="rect">
            <a:avLst/>
          </a:prstGeom>
          <a:solidFill>
            <a:srgbClr val="D1D5DB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7200" y="788010"/>
            <a:ext cx="1097280" cy="23774"/>
          </a:xfrm>
          <a:prstGeom prst="rect">
            <a:avLst/>
          </a:prstGeom>
          <a:solidFill>
            <a:srgbClr val="C9302C"/>
          </a:solidFill>
          <a:ln w="12700">
            <a:solidFill>
              <a:srgbClr val="C9302C"/>
            </a:solidFill>
            <a:prstDash val="solid"/>
          </a:ln>
        </p:spPr>
      </p:sp>
      <p:sp>
        <p:nvSpPr>
          <p:cNvPr id="12" name="metadata:table-index-label"/>
          <p:cNvSpPr txBox="1"/>
          <p:nvPr/>
        </p:nvSpPr>
        <p:spPr>
          <a:xfrm>
            <a:off x="566928" y="1159256"/>
            <a:ext cx="96926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B2545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TABLE INDEX</a:t>
            </a:r>
            <a:endParaRPr lang="en-US" sz="900" dirty="0"/>
          </a:p>
        </p:txBody>
      </p:sp>
      <p:sp>
        <p:nvSpPr>
          <p:cNvPr id="13" name="metadata:table-index-detail"/>
          <p:cNvSpPr txBox="1"/>
          <p:nvPr/>
        </p:nvSpPr>
        <p:spPr>
          <a:xfrm>
            <a:off x="1645920" y="1159256"/>
            <a:ext cx="693115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1B283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2 rows | Arm | Valid kept | Valid rejected | Invalid kept | Invalid rejected</a:t>
            </a:r>
            <a:endParaRPr lang="en-US" sz="900" dirty="0"/>
          </a:p>
        </p:txBody>
      </p:sp>
      <p:graphicFrame>
        <p:nvGraphicFramePr>
          <p:cNvPr id="6" name="Editable table: Confusion counts, executors pooled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88810"/>
          <a:ext cx="8229600" cy="1876943"/>
        </p:xfrm>
        <a:graphic>
          <a:graphicData uri="http://schemas.openxmlformats.org/drawingml/2006/table">
            <a:tbl>
              <a:tblPr/>
              <a:tblGrid>
                <a:gridCol w="1645920"/>
                <a:gridCol w="1645920"/>
                <a:gridCol w="1645920"/>
                <a:gridCol w="1645920"/>
                <a:gridCol w="1645920"/>
              </a:tblGrid>
              <a:tr h="79904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Arm</a:t>
                      </a:r>
                      <a:endParaRPr lang="en-US" sz="16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Valid kept</a:t>
                      </a:r>
                      <a:endParaRPr lang="en-US" sz="16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Valid rejected</a:t>
                      </a:r>
                      <a:endParaRPr lang="en-US" sz="16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Invalid kept</a:t>
                      </a:r>
                      <a:endParaRPr lang="en-US" sz="16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Invalid rejected</a:t>
                      </a:r>
                      <a:endParaRPr lang="en-US" sz="16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B2545"/>
                    </a:solidFill>
                  </a:tcPr>
                </a:tc>
              </a:tr>
              <a:tr h="538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2838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Score only</a:t>
                      </a:r>
                      <a:endParaRPr lang="en-US" sz="16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2838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3</a:t>
                      </a:r>
                      <a:endParaRPr lang="en-US" sz="16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2838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3</a:t>
                      </a:r>
                      <a:endParaRPr lang="en-US" sz="16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2838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5</a:t>
                      </a:r>
                      <a:endParaRPr lang="en-US" sz="16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2838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5</a:t>
                      </a:r>
                      <a:endParaRPr lang="en-US" sz="16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538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2838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Fact file</a:t>
                      </a:r>
                      <a:endParaRPr lang="en-US" sz="16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2838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1</a:t>
                      </a:r>
                      <a:endParaRPr lang="en-US" sz="16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2838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5</a:t>
                      </a:r>
                      <a:endParaRPr lang="en-US" sz="16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2838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1</a:t>
                      </a:r>
                      <a:endParaRPr lang="en-US" sz="16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2838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9</a:t>
                      </a:r>
                      <a:endParaRPr lang="en-US" sz="16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" name="metadata:table-caption"/>
          <p:cNvSpPr txBox="1"/>
          <p:nvPr/>
        </p:nvSpPr>
        <p:spPr>
          <a:xfrm>
            <a:off x="457200" y="3638906"/>
            <a:ext cx="82296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4B556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16 predictions (6 valid, 10 invalid); majority verdict over three repeats.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457200" y="4814316"/>
            <a:ext cx="8229600" cy="18288"/>
          </a:xfrm>
          <a:prstGeom prst="rect">
            <a:avLst/>
          </a:prstGeom>
          <a:solidFill>
            <a:srgbClr val="D1D5D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metadata:footer-sources"/>
          <p:cNvSpPr txBox="1"/>
          <p:nvPr/>
        </p:nvSpPr>
        <p:spPr>
          <a:xfrm>
            <a:off x="457200" y="4869180"/>
            <a:ext cx="75803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4B556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S1: bench/runs/2026-10-17T1611Z-426bfe9 (stats.json, facts, renders) · Sources: S1</a:t>
            </a:r>
            <a:endParaRPr lang="en-US" sz="900" dirty="0"/>
          </a:p>
        </p:txBody>
      </p:sp>
      <p:sp>
        <p:nvSpPr>
          <p:cNvPr id="18" name="metadata:footer-page-number"/>
          <p:cNvSpPr txBox="1"/>
          <p:nvPr/>
        </p:nvSpPr>
        <p:spPr>
          <a:xfrm>
            <a:off x="8183880" y="486918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B556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5/8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73152"/>
            <a:ext cx="841248" cy="50292"/>
          </a:xfrm>
          <a:prstGeom prst="rect">
            <a:avLst/>
          </a:prstGeom>
          <a:solidFill>
            <a:srgbClr val="D1D5DB">
              <a:alpha val="82000"/>
            </a:srgbClr>
          </a:solidFill>
          <a:ln w="12700">
            <a:solidFill>
              <a:srgbClr val="D1D5D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463040" y="73152"/>
            <a:ext cx="841248" cy="50292"/>
          </a:xfrm>
          <a:prstGeom prst="rect">
            <a:avLst/>
          </a:prstGeom>
          <a:solidFill>
            <a:srgbClr val="D1D5DB">
              <a:alpha val="82000"/>
            </a:srgbClr>
          </a:solidFill>
          <a:ln w="12700">
            <a:solidFill>
              <a:srgbClr val="D1D5D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468880" y="73152"/>
            <a:ext cx="841248" cy="50292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4720" y="73152"/>
            <a:ext cx="841248" cy="50292"/>
          </a:xfrm>
          <a:prstGeom prst="rect">
            <a:avLst/>
          </a:prstGeom>
          <a:solidFill>
            <a:srgbClr val="D1D5DB">
              <a:alpha val="82000"/>
            </a:srgbClr>
          </a:solidFill>
          <a:ln w="12700">
            <a:solidFill>
              <a:srgbClr val="D1D5D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4668012"/>
            <a:ext cx="8229600" cy="16459"/>
          </a:xfrm>
          <a:prstGeom prst="rect">
            <a:avLst/>
          </a:prstGeom>
          <a:solidFill>
            <a:srgbClr val="D1D5DB"/>
          </a:solidFill>
          <a:ln w="12700">
            <a:solidFill>
              <a:srgbClr val="D1D5DB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4713732"/>
            <a:ext cx="1481328" cy="32004"/>
          </a:xfrm>
          <a:prstGeom prst="rect">
            <a:avLst/>
          </a:prstGeom>
          <a:solidFill>
            <a:srgbClr val="C9302C"/>
          </a:solidFill>
          <a:ln w="12700">
            <a:solidFill>
              <a:srgbClr val="C9302C">
                <a:alpha val="0"/>
              </a:srgbClr>
            </a:solidFill>
            <a:prstDash val="solid"/>
          </a:ln>
        </p:spPr>
      </p:sp>
      <p:sp>
        <p:nvSpPr>
          <p:cNvPr id="8" name="slide-title:content"/>
          <p:cNvSpPr txBox="1"/>
          <p:nvPr/>
        </p:nvSpPr>
        <p:spPr>
          <a:xfrm>
            <a:off x="457200" y="173736"/>
            <a:ext cx="8229600" cy="528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283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Balanced accuracy with 95% intervals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457200" y="745947"/>
            <a:ext cx="2377440" cy="31090"/>
          </a:xfrm>
          <a:prstGeom prst="rect">
            <a:avLst/>
          </a:prstGeom>
          <a:solidFill>
            <a:srgbClr val="C9302C"/>
          </a:solidFill>
          <a:ln w="12700">
            <a:solidFill>
              <a:srgbClr val="C9302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944368" y="756920"/>
            <a:ext cx="5742432" cy="12802"/>
          </a:xfrm>
          <a:prstGeom prst="rect">
            <a:avLst/>
          </a:prstGeom>
          <a:solidFill>
            <a:srgbClr val="D1D5DB"/>
          </a:solidFill>
          <a:ln w="12700">
            <a:solidFill>
              <a:srgbClr val="D1D5DB"/>
            </a:solidFill>
            <a:prstDash val="solid"/>
          </a:ln>
        </p:spPr>
      </p:sp>
      <p:pic>
        <p:nvPicPr>
          <p:cNvPr id="11" name="sidebar:figure" descr="Bootstrap over predictions; dashed line at 0.5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32132"/>
            <a:ext cx="4608576" cy="2805220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5340096" y="1049528"/>
            <a:ext cx="36576" cy="818896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13" name="support:sidebar:0:title"/>
          <p:cNvSpPr txBox="1"/>
          <p:nvPr/>
        </p:nvSpPr>
        <p:spPr>
          <a:xfrm>
            <a:off x="5468112" y="1049528"/>
            <a:ext cx="3218688" cy="348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B2545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Score only, pooled</a:t>
            </a:r>
            <a:endParaRPr lang="en-US" sz="1300" dirty="0"/>
          </a:p>
        </p:txBody>
      </p:sp>
      <p:sp>
        <p:nvSpPr>
          <p:cNvPr id="14" name="sidebar:0:body"/>
          <p:cNvSpPr txBox="1"/>
          <p:nvPr/>
        </p:nvSpPr>
        <p:spPr>
          <a:xfrm>
            <a:off x="5468112" y="1471168"/>
            <a:ext cx="3218688" cy="397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83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0.5 (0.236 to 0.767)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5340096" y="1996440"/>
            <a:ext cx="36576" cy="818896"/>
          </a:xfrm>
          <a:prstGeom prst="rect">
            <a:avLst/>
          </a:prstGeom>
          <a:solidFill>
            <a:srgbClr val="C9302C"/>
          </a:solidFill>
          <a:ln w="12700">
            <a:solidFill>
              <a:srgbClr val="C9302C"/>
            </a:solidFill>
            <a:prstDash val="solid"/>
          </a:ln>
        </p:spPr>
      </p:sp>
      <p:sp>
        <p:nvSpPr>
          <p:cNvPr id="16" name="support:sidebar:1:title"/>
          <p:cNvSpPr txBox="1"/>
          <p:nvPr/>
        </p:nvSpPr>
        <p:spPr>
          <a:xfrm>
            <a:off x="5468112" y="1996440"/>
            <a:ext cx="3218688" cy="348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C9302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Fact file, pooled</a:t>
            </a:r>
            <a:endParaRPr lang="en-US" sz="1300" dirty="0"/>
          </a:p>
        </p:txBody>
      </p:sp>
      <p:sp>
        <p:nvSpPr>
          <p:cNvPr id="17" name="sidebar:1:body"/>
          <p:cNvSpPr txBox="1"/>
          <p:nvPr/>
        </p:nvSpPr>
        <p:spPr>
          <a:xfrm>
            <a:off x="5468112" y="2418080"/>
            <a:ext cx="3218688" cy="397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83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0.533 (0.375 to 0.75)</a:t>
            </a:r>
            <a:endParaRPr lang="en-US" sz="1600" dirty="0"/>
          </a:p>
        </p:txBody>
      </p:sp>
      <p:sp>
        <p:nvSpPr>
          <p:cNvPr id="18" name="Shape 15"/>
          <p:cNvSpPr/>
          <p:nvPr/>
        </p:nvSpPr>
        <p:spPr>
          <a:xfrm>
            <a:off x="5340096" y="2943352"/>
            <a:ext cx="36576" cy="818896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19" name="support:sidebar:2:title"/>
          <p:cNvSpPr txBox="1"/>
          <p:nvPr/>
        </p:nvSpPr>
        <p:spPr>
          <a:xfrm>
            <a:off x="5468112" y="2943352"/>
            <a:ext cx="3218688" cy="348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B2545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McNemar exact p</a:t>
            </a:r>
            <a:endParaRPr lang="en-US" sz="1300" dirty="0"/>
          </a:p>
        </p:txBody>
      </p:sp>
      <p:sp>
        <p:nvSpPr>
          <p:cNvPr id="20" name="sidebar:2:body"/>
          <p:cNvSpPr txBox="1"/>
          <p:nvPr/>
        </p:nvSpPr>
        <p:spPr>
          <a:xfrm>
            <a:off x="5468112" y="3364992"/>
            <a:ext cx="3218688" cy="397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83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0.6875; discordant 4 and 2</a:t>
            </a:r>
            <a:endParaRPr lang="en-US" sz="1600" dirty="0"/>
          </a:p>
        </p:txBody>
      </p:sp>
      <p:sp>
        <p:nvSpPr>
          <p:cNvPr id="21" name="metadata:sidebar:caption"/>
          <p:cNvSpPr txBox="1"/>
          <p:nvPr/>
        </p:nvSpPr>
        <p:spPr>
          <a:xfrm>
            <a:off x="457200" y="4384548"/>
            <a:ext cx="82296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4B556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Bootstrap over predictions; dashed line at 0.5.</a:t>
            </a:r>
            <a:endParaRPr lang="en-US" sz="900" dirty="0"/>
          </a:p>
        </p:txBody>
      </p:sp>
      <p:sp>
        <p:nvSpPr>
          <p:cNvPr id="22" name="Shape 19"/>
          <p:cNvSpPr/>
          <p:nvPr/>
        </p:nvSpPr>
        <p:spPr>
          <a:xfrm>
            <a:off x="457200" y="4814316"/>
            <a:ext cx="8229600" cy="18288"/>
          </a:xfrm>
          <a:prstGeom prst="rect">
            <a:avLst/>
          </a:prstGeom>
          <a:solidFill>
            <a:srgbClr val="D1D5D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metadata:footer-sources"/>
          <p:cNvSpPr txBox="1"/>
          <p:nvPr/>
        </p:nvSpPr>
        <p:spPr>
          <a:xfrm>
            <a:off x="457200" y="4869180"/>
            <a:ext cx="75803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4B556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S1: bench/runs/2026-10-17T1611Z-426bfe9 (stats.json, facts, renders) · Sources: S1</a:t>
            </a:r>
            <a:endParaRPr lang="en-US" sz="900" dirty="0"/>
          </a:p>
        </p:txBody>
      </p:sp>
      <p:sp>
        <p:nvSpPr>
          <p:cNvPr id="24" name="metadata:footer-page-number"/>
          <p:cNvSpPr txBox="1"/>
          <p:nvPr/>
        </p:nvSpPr>
        <p:spPr>
          <a:xfrm>
            <a:off x="8183880" y="486918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B556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6/8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73152"/>
            <a:ext cx="841248" cy="50292"/>
          </a:xfrm>
          <a:prstGeom prst="rect">
            <a:avLst/>
          </a:prstGeom>
          <a:solidFill>
            <a:srgbClr val="D1D5DB">
              <a:alpha val="82000"/>
            </a:srgbClr>
          </a:solidFill>
          <a:ln w="12700">
            <a:solidFill>
              <a:srgbClr val="D1D5D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463040" y="73152"/>
            <a:ext cx="841248" cy="50292"/>
          </a:xfrm>
          <a:prstGeom prst="rect">
            <a:avLst/>
          </a:prstGeom>
          <a:solidFill>
            <a:srgbClr val="D1D5DB">
              <a:alpha val="82000"/>
            </a:srgbClr>
          </a:solidFill>
          <a:ln w="12700">
            <a:solidFill>
              <a:srgbClr val="D1D5D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468880" y="73152"/>
            <a:ext cx="841248" cy="50292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4720" y="73152"/>
            <a:ext cx="841248" cy="50292"/>
          </a:xfrm>
          <a:prstGeom prst="rect">
            <a:avLst/>
          </a:prstGeom>
          <a:solidFill>
            <a:srgbClr val="D1D5DB">
              <a:alpha val="82000"/>
            </a:srgbClr>
          </a:solidFill>
          <a:ln w="12700">
            <a:solidFill>
              <a:srgbClr val="D1D5D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4668012"/>
            <a:ext cx="8229600" cy="16459"/>
          </a:xfrm>
          <a:prstGeom prst="rect">
            <a:avLst/>
          </a:prstGeom>
          <a:solidFill>
            <a:srgbClr val="D1D5DB"/>
          </a:solidFill>
          <a:ln w="12700">
            <a:solidFill>
              <a:srgbClr val="D1D5DB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4713732"/>
            <a:ext cx="1481328" cy="32004"/>
          </a:xfrm>
          <a:prstGeom prst="rect">
            <a:avLst/>
          </a:prstGeom>
          <a:solidFill>
            <a:srgbClr val="C9302C"/>
          </a:solidFill>
          <a:ln w="12700">
            <a:solidFill>
              <a:srgbClr val="C9302C">
                <a:alpha val="0"/>
              </a:srgbClr>
            </a:solidFill>
            <a:prstDash val="solid"/>
          </a:ln>
        </p:spPr>
      </p:sp>
      <p:sp>
        <p:nvSpPr>
          <p:cNvPr id="8" name="slide-title:content"/>
          <p:cNvSpPr txBox="1"/>
          <p:nvPr/>
        </p:nvSpPr>
        <p:spPr>
          <a:xfrm>
            <a:off x="457200" y="173736"/>
            <a:ext cx="8229600" cy="528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283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Decision per prediction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457200" y="756920"/>
            <a:ext cx="8229600" cy="16459"/>
          </a:xfrm>
          <a:prstGeom prst="rect">
            <a:avLst/>
          </a:prstGeom>
          <a:solidFill>
            <a:srgbClr val="D1D5DB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7200" y="724916"/>
            <a:ext cx="777240" cy="32004"/>
          </a:xfrm>
          <a:prstGeom prst="rect">
            <a:avLst/>
          </a:prstGeom>
          <a:solidFill>
            <a:srgbClr val="C9302C"/>
          </a:solidFill>
          <a:ln w="12700">
            <a:solidFill>
              <a:srgbClr val="C9302C"/>
            </a:solidFill>
            <a:prstDash val="solid"/>
          </a:ln>
        </p:spPr>
      </p:sp>
      <p:sp>
        <p:nvSpPr>
          <p:cNvPr id="11" name="support:scientific:A:title"/>
          <p:cNvSpPr txBox="1"/>
          <p:nvPr/>
        </p:nvSpPr>
        <p:spPr>
          <a:xfrm>
            <a:off x="530352" y="1113536"/>
            <a:ext cx="8083296" cy="348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B283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A. Ground truth and majority verdict per prediction</a:t>
            </a:r>
            <a:endParaRPr lang="en-US" sz="1300" dirty="0"/>
          </a:p>
        </p:txBody>
      </p:sp>
      <p:pic>
        <p:nvPicPr>
          <p:cNvPr id="12" name="scientific:A:image" descr="B2 Boltz-2, DD DiffDock-L. V valid, I invalid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2064" y="1542930"/>
            <a:ext cx="8119872" cy="2308591"/>
          </a:xfrm>
          <a:prstGeom prst="rect">
            <a:avLst/>
          </a:prstGeom>
        </p:spPr>
      </p:pic>
      <p:sp>
        <p:nvSpPr>
          <p:cNvPr id="13" name="scientific:complete-readout"/>
          <p:cNvSpPr txBox="1"/>
          <p:nvPr/>
        </p:nvSpPr>
        <p:spPr>
          <a:xfrm>
            <a:off x="585216" y="4197604"/>
            <a:ext cx="7973568" cy="397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83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B2 Boltz-2, DD DiffDock-L. V valid, I invalid.</a:t>
            </a:r>
            <a:endParaRPr lang="en-US" sz="1600" dirty="0"/>
          </a:p>
        </p:txBody>
      </p:sp>
      <p:sp>
        <p:nvSpPr>
          <p:cNvPr id="14" name="Shape 11"/>
          <p:cNvSpPr/>
          <p:nvPr/>
        </p:nvSpPr>
        <p:spPr>
          <a:xfrm>
            <a:off x="457200" y="4814316"/>
            <a:ext cx="8229600" cy="18288"/>
          </a:xfrm>
          <a:prstGeom prst="rect">
            <a:avLst/>
          </a:prstGeom>
          <a:solidFill>
            <a:srgbClr val="D1D5D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metadata:footer-sources"/>
          <p:cNvSpPr txBox="1"/>
          <p:nvPr/>
        </p:nvSpPr>
        <p:spPr>
          <a:xfrm>
            <a:off x="457200" y="4869180"/>
            <a:ext cx="75803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4B556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S1: bench/runs/2026-10-17T1611Z-426bfe9 (stats.json, facts, renders) · Sources: S1</a:t>
            </a:r>
            <a:endParaRPr lang="en-US" sz="900" dirty="0"/>
          </a:p>
        </p:txBody>
      </p:sp>
      <p:sp>
        <p:nvSpPr>
          <p:cNvPr id="16" name="metadata:footer-page-number"/>
          <p:cNvSpPr txBox="1"/>
          <p:nvPr/>
        </p:nvSpPr>
        <p:spPr>
          <a:xfrm>
            <a:off x="8183880" y="486918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B556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7/8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73152"/>
            <a:ext cx="841248" cy="50292"/>
          </a:xfrm>
          <a:prstGeom prst="rect">
            <a:avLst/>
          </a:prstGeom>
          <a:solidFill>
            <a:srgbClr val="D1D5DB">
              <a:alpha val="82000"/>
            </a:srgbClr>
          </a:solidFill>
          <a:ln w="12700">
            <a:solidFill>
              <a:srgbClr val="D1D5D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463040" y="73152"/>
            <a:ext cx="841248" cy="50292"/>
          </a:xfrm>
          <a:prstGeom prst="rect">
            <a:avLst/>
          </a:prstGeom>
          <a:solidFill>
            <a:srgbClr val="D1D5DB">
              <a:alpha val="82000"/>
            </a:srgbClr>
          </a:solidFill>
          <a:ln w="12700">
            <a:solidFill>
              <a:srgbClr val="D1D5D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468880" y="73152"/>
            <a:ext cx="841248" cy="50292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4720" y="73152"/>
            <a:ext cx="841248" cy="50292"/>
          </a:xfrm>
          <a:prstGeom prst="rect">
            <a:avLst/>
          </a:prstGeom>
          <a:solidFill>
            <a:srgbClr val="D1D5DB">
              <a:alpha val="82000"/>
            </a:srgbClr>
          </a:solidFill>
          <a:ln w="12700">
            <a:solidFill>
              <a:srgbClr val="D1D5D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4668012"/>
            <a:ext cx="8229600" cy="16459"/>
          </a:xfrm>
          <a:prstGeom prst="rect">
            <a:avLst/>
          </a:prstGeom>
          <a:solidFill>
            <a:srgbClr val="D1D5DB"/>
          </a:solidFill>
          <a:ln w="12700">
            <a:solidFill>
              <a:srgbClr val="D1D5DB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4713732"/>
            <a:ext cx="1481328" cy="32004"/>
          </a:xfrm>
          <a:prstGeom prst="rect">
            <a:avLst/>
          </a:prstGeom>
          <a:solidFill>
            <a:srgbClr val="C9302C"/>
          </a:solidFill>
          <a:ln w="12700">
            <a:solidFill>
              <a:srgbClr val="C9302C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92024"/>
            <a:ext cx="50292" cy="528320"/>
          </a:xfrm>
          <a:prstGeom prst="rect">
            <a:avLst/>
          </a:prstGeom>
          <a:solidFill>
            <a:srgbClr val="C9302C"/>
          </a:solidFill>
          <a:ln w="12700">
            <a:solidFill>
              <a:srgbClr val="C9302C"/>
            </a:solidFill>
            <a:prstDash val="solid"/>
          </a:ln>
        </p:spPr>
      </p:sp>
      <p:sp>
        <p:nvSpPr>
          <p:cNvPr id="9" name="slide-title:content"/>
          <p:cNvSpPr txBox="1"/>
          <p:nvPr/>
        </p:nvSpPr>
        <p:spPr>
          <a:xfrm>
            <a:off x="640080" y="173736"/>
            <a:ext cx="8046720" cy="528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283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What this run does and does not establish</a:t>
            </a:r>
            <a:endParaRPr lang="en-US" sz="2800" dirty="0"/>
          </a:p>
        </p:txBody>
      </p:sp>
      <p:sp>
        <p:nvSpPr>
          <p:cNvPr id="10" name="Shape 8"/>
          <p:cNvSpPr/>
          <p:nvPr/>
        </p:nvSpPr>
        <p:spPr>
          <a:xfrm>
            <a:off x="457200" y="756920"/>
            <a:ext cx="8229600" cy="12802"/>
          </a:xfrm>
          <a:prstGeom prst="rect">
            <a:avLst/>
          </a:prstGeom>
          <a:solidFill>
            <a:srgbClr val="D1D5DB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7200" y="788010"/>
            <a:ext cx="1097280" cy="23774"/>
          </a:xfrm>
          <a:prstGeom prst="rect">
            <a:avLst/>
          </a:prstGeom>
          <a:solidFill>
            <a:srgbClr val="C9302C"/>
          </a:solidFill>
          <a:ln w="12700">
            <a:solidFill>
              <a:srgbClr val="C9302C"/>
            </a:solidFill>
            <a:prstDash val="solid"/>
          </a:ln>
        </p:spPr>
      </p:sp>
      <p:sp>
        <p:nvSpPr>
          <p:cNvPr id="12" name="role-contract-slot:comparison:option-0"/>
          <p:cNvSpPr/>
          <p:nvPr/>
        </p:nvSpPr>
        <p:spPr>
          <a:xfrm>
            <a:off x="457200" y="1086104"/>
            <a:ext cx="3950208" cy="2257308"/>
          </a:xfrm>
          <a:prstGeom prst="rect">
            <a:avLst/>
          </a:prstGeom>
          <a:solidFill>
            <a:srgbClr val="FFFFFF"/>
          </a:solidFill>
          <a:ln w="8255">
            <a:solidFill>
              <a:srgbClr val="D1D5DB"/>
            </a:solidFill>
            <a:prstDash val="solid"/>
          </a:ln>
        </p:spPr>
      </p:sp>
      <p:sp>
        <p:nvSpPr>
          <p:cNvPr id="13" name="comparison:0:title"/>
          <p:cNvSpPr txBox="1"/>
          <p:nvPr/>
        </p:nvSpPr>
        <p:spPr>
          <a:xfrm>
            <a:off x="603504" y="1232408"/>
            <a:ext cx="3657600" cy="397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B2545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Measured</a:t>
            </a:r>
            <a:endParaRPr lang="en-US" sz="1600" dirty="0"/>
          </a:p>
        </p:txBody>
      </p:sp>
      <p:sp>
        <p:nvSpPr>
          <p:cNvPr id="14" name="comparison:0:body"/>
          <p:cNvSpPr txBox="1"/>
          <p:nvPr/>
        </p:nvSpPr>
        <p:spPr>
          <a:xfrm>
            <a:off x="603504" y="1721104"/>
            <a:ext cx="3657600" cy="917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83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16 predictions, 2 executors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B283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Every prompt and response logged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B283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Ground truth fixed in advance</a:t>
            </a:r>
            <a:endParaRPr lang="en-US" sz="1600" dirty="0"/>
          </a:p>
        </p:txBody>
      </p:sp>
      <p:sp>
        <p:nvSpPr>
          <p:cNvPr id="15" name="role-contract-slot:comparison:option-1"/>
          <p:cNvSpPr/>
          <p:nvPr/>
        </p:nvSpPr>
        <p:spPr>
          <a:xfrm>
            <a:off x="4736592" y="1086104"/>
            <a:ext cx="3950208" cy="2257308"/>
          </a:xfrm>
          <a:prstGeom prst="rect">
            <a:avLst/>
          </a:prstGeom>
          <a:solidFill>
            <a:srgbClr val="FFFFFF"/>
          </a:solidFill>
          <a:ln w="8255">
            <a:solidFill>
              <a:srgbClr val="D1D5DB"/>
            </a:solidFill>
            <a:prstDash val="solid"/>
          </a:ln>
        </p:spPr>
      </p:sp>
      <p:sp>
        <p:nvSpPr>
          <p:cNvPr id="16" name="comparison:1:title"/>
          <p:cNvSpPr txBox="1"/>
          <p:nvPr/>
        </p:nvSpPr>
        <p:spPr>
          <a:xfrm>
            <a:off x="4882896" y="1232408"/>
            <a:ext cx="3657600" cy="397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C9302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Not established</a:t>
            </a:r>
            <a:endParaRPr lang="en-US" sz="1600" dirty="0"/>
          </a:p>
        </p:txBody>
      </p:sp>
      <p:sp>
        <p:nvSpPr>
          <p:cNvPr id="17" name="comparison:1:body"/>
          <p:cNvSpPr txBox="1"/>
          <p:nvPr/>
        </p:nvSpPr>
        <p:spPr>
          <a:xfrm>
            <a:off x="4882896" y="1721104"/>
            <a:ext cx="3657600" cy="917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83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 significant difference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B283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Loss of binding (assumed)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B283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Effect of prompt length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457200" y="4814316"/>
            <a:ext cx="8229600" cy="18288"/>
          </a:xfrm>
          <a:prstGeom prst="rect">
            <a:avLst/>
          </a:prstGeom>
          <a:solidFill>
            <a:srgbClr val="D1D5D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metadata:footer-sources"/>
          <p:cNvSpPr txBox="1"/>
          <p:nvPr/>
        </p:nvSpPr>
        <p:spPr>
          <a:xfrm>
            <a:off x="457200" y="4869180"/>
            <a:ext cx="75803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4B556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S1: bench/runs/2026-10-17T1611Z-426bfe9 (stats.json, facts, renders) · Sources: S1</a:t>
            </a:r>
            <a:endParaRPr lang="en-US" sz="900" dirty="0"/>
          </a:p>
        </p:txBody>
      </p:sp>
      <p:sp>
        <p:nvSpPr>
          <p:cNvPr id="20" name="metadata:footer-page-number"/>
          <p:cNvSpPr txBox="1"/>
          <p:nvPr/>
        </p:nvSpPr>
        <p:spPr>
          <a:xfrm>
            <a:off x="8183880" y="486918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B556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8/8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Perturbation benchmark</dc:title>
  <dc:subject/>
  <dc:creator>Presentation Team</dc:creator>
  <cp:lastModifiedBy>Presentation Team</cp:lastModifiedBy>
  <cp:revision>1</cp:revision>
  <dcterms:created xsi:type="dcterms:W3CDTF">2026-10-17T18:48:45Z</dcterms:created>
  <dcterms:modified xsi:type="dcterms:W3CDTF">2026-10-17T18:48:45Z</dcterms:modified>
</cp:coreProperties>
</file>