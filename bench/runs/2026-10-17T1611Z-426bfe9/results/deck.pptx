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agent, same predictions, two kinds of evidence: the model confidence score alone, or the harness fact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system is predicted by Boltz-2 and DiffDock-L with three seeds. A wild-type prediction is valid when its medoid lies within 2 Å of the deposited ligand.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contact residues were cut to glycine. The confidence the model reports and the fact file for the same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recovery is the signal that separates the states. Confidence and PoseBusters stay clean on the perturbed 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only kept 5 of 10 invalid predictions; the fact file arm kept 1 of 6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Boltz-2: score only 0.5 (0.5 to 0.5), fact file 0.567 (0.25 to 0.929). DiffDock-L: score only 0.5 (0.5 to 0.5), fact file 0.5 (0.5 to 0.5).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systems per executor support a demonstration, not a statistical claim. A length-matched control arm was not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metadata:title-kicker"/>
          <p:cNvSpPr txBox="1"/>
          <p:nvPr/>
        </p:nvSpPr>
        <p:spPr>
          <a:xfrm>
            <a:off x="1645920" y="1265301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9" name="decorative:role-contract-accent:title:heading"/>
          <p:cNvSpPr/>
          <p:nvPr/>
        </p:nvSpPr>
        <p:spPr>
          <a:xfrm>
            <a:off x="1645920" y="1484757"/>
            <a:ext cx="1051560" cy="411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slide-title:title"/>
          <p:cNvSpPr txBox="1"/>
          <p:nvPr/>
        </p:nvSpPr>
        <p:spPr>
          <a:xfrm>
            <a:off x="1645920" y="1594485"/>
            <a:ext cx="58521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the fact file help reject invalid poses?</a:t>
            </a:r>
            <a:endParaRPr lang="en-US" sz="3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549015"/>
            <a:ext cx="5852160" cy="68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Perturbation benchmark, run 2026-10-17T1611Z-426bfe9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systems, each wild type and perturbed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Perturbed systems are invalid by construction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076960"/>
            <a:ext cx="288036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1086104"/>
            <a:ext cx="522122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metadata:table-index-label"/>
          <p:cNvSpPr txBox="1"/>
          <p:nvPr/>
        </p:nvSpPr>
        <p:spPr>
          <a:xfrm>
            <a:off x="566928" y="14884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3" name="metadata:table-index-detail"/>
          <p:cNvSpPr txBox="1"/>
          <p:nvPr/>
        </p:nvSpPr>
        <p:spPr>
          <a:xfrm>
            <a:off x="1645920" y="1488440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 | System | Entry | Ligand | Perturbation</a:t>
            </a:r>
            <a:endParaRPr lang="en-US" sz="900" dirty="0"/>
          </a:p>
        </p:txBody>
      </p:sp>
      <p:graphicFrame>
        <p:nvGraphicFramePr>
          <p:cNvPr id="3" name="Editable table: Four systems, each wild type and perturb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2033"/>
          <a:ext cx="8229600" cy="2026173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Entry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Ligand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Perturbation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CDK2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1B38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13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FtsE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8X61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33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glucose dehydrogenase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2VWH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BGC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 hydroxyls methylated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3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MEK1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7XLP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FZC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 contacts to Gly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bench/runs/2026-10-17T1611Z-426bfe9 (stats.json, facts, renders) · Sources: S1</a:t>
            </a:r>
            <a:endParaRPr lang="en-US" sz="900" dirty="0"/>
          </a:p>
        </p:txBody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90322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640080" y="173736"/>
            <a:ext cx="80467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perturbed prediction, two views</a:t>
            </a:r>
            <a:endParaRPr lang="en-US" sz="2800" dirty="0"/>
          </a:p>
        </p:txBody>
      </p:sp>
      <p:sp>
        <p:nvSpPr>
          <p:cNvPr id="10" name="support:slide-subtitle"/>
          <p:cNvSpPr txBox="1"/>
          <p:nvPr/>
        </p:nvSpPr>
        <p:spPr>
          <a:xfrm>
            <a:off x="640080" y="7386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CDK2, Boltz-2, 13 contacts to glycine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08610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117194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3" name="role-contract-slot:comparison:option-0"/>
          <p:cNvSpPr/>
          <p:nvPr/>
        </p:nvSpPr>
        <p:spPr>
          <a:xfrm>
            <a:off x="457200" y="1415288"/>
            <a:ext cx="3950208" cy="31978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4" name="comparison:0:title"/>
          <p:cNvSpPr txBox="1"/>
          <p:nvPr/>
        </p:nvSpPr>
        <p:spPr>
          <a:xfrm>
            <a:off x="603504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only</a:t>
            </a:r>
            <a:endParaRPr lang="en-US" sz="1600" dirty="0"/>
          </a:p>
        </p:txBody>
      </p:sp>
      <p:sp>
        <p:nvSpPr>
          <p:cNvPr id="15" name="comparison:0:body"/>
          <p:cNvSpPr txBox="1"/>
          <p:nvPr/>
        </p:nvSpPr>
        <p:spPr>
          <a:xfrm>
            <a:off x="603504" y="2050288"/>
            <a:ext cx="3657600" cy="169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Confidence: ligand_iptm 0.947,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pocket_plddt 85,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confidence_score 0.894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Wild type: ligand_iptm 0.975,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pocket_plddt 94.9,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confidence_score 0.958</a:t>
            </a:r>
            <a:endParaRPr lang="en-US" sz="1600" dirty="0"/>
          </a:p>
        </p:txBody>
      </p:sp>
      <p:sp>
        <p:nvSpPr>
          <p:cNvPr id="16" name="role-contract-slot:comparison:option-1"/>
          <p:cNvSpPr/>
          <p:nvPr/>
        </p:nvSpPr>
        <p:spPr>
          <a:xfrm>
            <a:off x="4736592" y="1415288"/>
            <a:ext cx="3950208" cy="319786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7" name="comparison:1:title"/>
          <p:cNvSpPr txBox="1"/>
          <p:nvPr/>
        </p:nvSpPr>
        <p:spPr>
          <a:xfrm>
            <a:off x="4882896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Harness fact file</a:t>
            </a:r>
            <a:endParaRPr lang="en-US" sz="1600" dirty="0"/>
          </a:p>
        </p:txBody>
      </p:sp>
      <p:sp>
        <p:nvSpPr>
          <p:cNvPr id="18" name="comparison:1:body"/>
          <p:cNvSpPr txBox="1"/>
          <p:nvPr/>
        </p:nvSpPr>
        <p:spPr>
          <a:xfrm>
            <a:off x="4882896" y="2050288"/>
            <a:ext cx="3657600" cy="169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PoseBusters 20 of 20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Deposited interactions recovered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of 9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Buried unsatisfied polars 5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Ensemble spread 0.894 Å;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cross-executor 2.66 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bench/runs/2026-10-17T1611Z-426bfe9 (stats.json, facts, renders) · Sources: S1</a:t>
            </a:r>
            <a:endParaRPr lang="en-US" sz="900" dirty="0"/>
          </a:p>
        </p:txBody>
      </p:sp>
      <p:sp>
        <p:nvSpPr>
          <p:cNvPr id="2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Medoid poses, wild type and perturbed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CDK2, Boltz-2</a:t>
            </a:r>
            <a:endParaRPr lang="en-US" sz="1300" dirty="0"/>
          </a:p>
        </p:txBody>
      </p:sp>
      <p:sp>
        <p:nvSpPr>
          <p:cNvPr id="10" name="support:scientific:A:title"/>
          <p:cNvSpPr txBox="1"/>
          <p:nvPr/>
        </p:nvSpPr>
        <p:spPr>
          <a:xfrm>
            <a:off x="530352" y="144272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wild type</a:t>
            </a:r>
            <a:endParaRPr lang="en-US" sz="1300" dirty="0"/>
          </a:p>
        </p:txBody>
      </p:sp>
      <p:pic>
        <p:nvPicPr>
          <p:cNvPr id="11" name="scientific:A:image" descr="Each panel oriented on its ligand; grey: residues ≤ 5 Å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092" y="1818640"/>
            <a:ext cx="2403856" cy="1802892"/>
          </a:xfrm>
          <a:prstGeom prst="rect">
            <a:avLst/>
          </a:prstGeom>
        </p:spPr>
      </p:pic>
      <p:sp>
        <p:nvSpPr>
          <p:cNvPr id="12" name="metadata:scientific:A:caption"/>
          <p:cNvSpPr txBox="1"/>
          <p:nvPr/>
        </p:nvSpPr>
        <p:spPr>
          <a:xfrm>
            <a:off x="530352" y="3694684"/>
            <a:ext cx="3831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 medoid pose</a:t>
            </a:r>
            <a:endParaRPr lang="en-US" sz="900" dirty="0"/>
          </a:p>
        </p:txBody>
      </p:sp>
      <p:sp>
        <p:nvSpPr>
          <p:cNvPr id="13" name="support:scientific:B:title"/>
          <p:cNvSpPr txBox="1"/>
          <p:nvPr/>
        </p:nvSpPr>
        <p:spPr>
          <a:xfrm>
            <a:off x="4782312" y="1442720"/>
            <a:ext cx="383133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 perturbed</a:t>
            </a:r>
            <a:endParaRPr lang="en-US" sz="1300" dirty="0"/>
          </a:p>
        </p:txBody>
      </p:sp>
      <p:pic>
        <p:nvPicPr>
          <p:cNvPr id="14" name="scientific:B:image" descr="Each panel oriented on its ligand; grey: residues ≤ 5 Å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052" y="1818640"/>
            <a:ext cx="2403856" cy="1802892"/>
          </a:xfrm>
          <a:prstGeom prst="rect">
            <a:avLst/>
          </a:prstGeom>
        </p:spPr>
      </p:pic>
      <p:sp>
        <p:nvSpPr>
          <p:cNvPr id="15" name="metadata:scientific:B:caption"/>
          <p:cNvSpPr txBox="1"/>
          <p:nvPr/>
        </p:nvSpPr>
        <p:spPr>
          <a:xfrm>
            <a:off x="4782312" y="3694684"/>
            <a:ext cx="3831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Boltz-2 medoid pose</a:t>
            </a:r>
            <a:endParaRPr lang="en-US" sz="900" dirty="0"/>
          </a:p>
        </p:txBody>
      </p:sp>
      <p:sp>
        <p:nvSpPr>
          <p:cNvPr id="16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panel oriented on its ligand; grey: residues ≤ 5 Å.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bench/runs/2026-10-17T1611Z-426bfe9 (stats.json, facts, renders) · Sources: S1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perturbation did, by system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Deposited contacts the medoid reproduces, wild type against perturbed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1D5DB">
              <a:alpha val="26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08610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metadata:table-index-label"/>
          <p:cNvSpPr txBox="1"/>
          <p:nvPr/>
        </p:nvSpPr>
        <p:spPr>
          <a:xfrm>
            <a:off x="566928" y="14884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4" name="metadata:table-index-detail"/>
          <p:cNvSpPr txBox="1"/>
          <p:nvPr/>
        </p:nvSpPr>
        <p:spPr>
          <a:xfrm>
            <a:off x="1645920" y="1488440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 | System | Wild type contacts | Perturbed contacts | Perturbed medoid (Å)</a:t>
            </a:r>
            <a:endParaRPr lang="en-US" sz="900" dirty="0"/>
          </a:p>
        </p:txBody>
      </p:sp>
      <p:graphicFrame>
        <p:nvGraphicFramePr>
          <p:cNvPr id="6" name="Editable table: What the perturbation did, by sys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2033"/>
          <a:ext cx="8229600" cy="2277872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Wild type contacts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Perturbed contacts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Perturbed medoid (Å)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CDK2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/ 9 of 9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 / 0 of 9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2.392 / 0.918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FtsE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 / 10 of 16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 / 0 of 16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15.415 / 17.74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glucose dehydrogenase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 / 0 of 6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 / 0 of 6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n/a / n/a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MEK1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 / 2 of 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 / 0 of 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3.036 / 1.463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metadata:table-caption"/>
          <p:cNvSpPr txBox="1"/>
          <p:nvPr/>
        </p:nvSpPr>
        <p:spPr>
          <a:xfrm>
            <a:off x="457200" y="4313057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cell Boltz-2 / DiffDock-L. Medoid RMSD is to the deposited ligand; n/a where the perturbation modifies the ligand.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bench/runs/2026-10-17T1611Z-426bfe9 (stats.json, facts, renders) · Sources: S1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per prediction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45947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756920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upport:scientific:A:title"/>
          <p:cNvSpPr txBox="1"/>
          <p:nvPr/>
        </p:nvSpPr>
        <p:spPr>
          <a:xfrm>
            <a:off x="530352" y="1113536"/>
            <a:ext cx="80832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Ground truth and majority verdict per prediction</a:t>
            </a:r>
            <a:endParaRPr lang="en-US" sz="1300" dirty="0"/>
          </a:p>
        </p:txBody>
      </p:sp>
      <p:pic>
        <p:nvPicPr>
          <p:cNvPr id="12" name="scientific:A:image" descr="B2 Boltz-2, DD DiffDock-L. V valid, I invali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542930"/>
            <a:ext cx="8119872" cy="2308591"/>
          </a:xfrm>
          <a:prstGeom prst="rect">
            <a:avLst/>
          </a:prstGeom>
        </p:spPr>
      </p:pic>
      <p:sp>
        <p:nvSpPr>
          <p:cNvPr id="13" name="scientific:complete-readout"/>
          <p:cNvSpPr txBox="1"/>
          <p:nvPr/>
        </p:nvSpPr>
        <p:spPr>
          <a:xfrm>
            <a:off x="585216" y="4197604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 Boltz-2, DD DiffDock-L. V valid, I invalid.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bench/runs/2026-10-17T1611Z-426bfe9 (stats.json, facts, renders) · Sources: S1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Aggregate over this run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75692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724916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pic>
        <p:nvPicPr>
          <p:cNvPr id="11" name="sidebar:figure" descr="16 predictions; intervals are wide at this size. Invalid kept: score only 5 of 10, fact file 1 of 10. Dashed line at 0.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2132"/>
            <a:ext cx="4608576" cy="28052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40096" y="1049528"/>
            <a:ext cx="36576" cy="818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support:sidebar:0:title"/>
          <p:cNvSpPr txBox="1"/>
          <p:nvPr/>
        </p:nvSpPr>
        <p:spPr>
          <a:xfrm>
            <a:off x="5468112" y="1049528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only, pooled</a:t>
            </a:r>
            <a:endParaRPr lang="en-US" sz="1300" dirty="0"/>
          </a:p>
        </p:txBody>
      </p:sp>
      <p:sp>
        <p:nvSpPr>
          <p:cNvPr id="14" name="sidebar:0:body"/>
          <p:cNvSpPr txBox="1"/>
          <p:nvPr/>
        </p:nvSpPr>
        <p:spPr>
          <a:xfrm>
            <a:off x="5468112" y="1471168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0.5 (0.236 to 0.767)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40096" y="1996440"/>
            <a:ext cx="36576" cy="818896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6" name="support:sidebar:1:title"/>
          <p:cNvSpPr txBox="1"/>
          <p:nvPr/>
        </p:nvSpPr>
        <p:spPr>
          <a:xfrm>
            <a:off x="5468112" y="1996440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Fact file, pooled</a:t>
            </a:r>
            <a:endParaRPr lang="en-US" sz="1300" dirty="0"/>
          </a:p>
        </p:txBody>
      </p:sp>
      <p:sp>
        <p:nvSpPr>
          <p:cNvPr id="17" name="sidebar:1:body"/>
          <p:cNvSpPr txBox="1"/>
          <p:nvPr/>
        </p:nvSpPr>
        <p:spPr>
          <a:xfrm>
            <a:off x="5468112" y="2418080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0.533 (0.375 to 0.75)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40096" y="2943352"/>
            <a:ext cx="36576" cy="8188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support:sidebar:2:title"/>
          <p:cNvSpPr txBox="1"/>
          <p:nvPr/>
        </p:nvSpPr>
        <p:spPr>
          <a:xfrm>
            <a:off x="5468112" y="2943352"/>
            <a:ext cx="3218688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McNemar exact p</a:t>
            </a:r>
            <a:endParaRPr lang="en-US" sz="1300" dirty="0"/>
          </a:p>
        </p:txBody>
      </p:sp>
      <p:sp>
        <p:nvSpPr>
          <p:cNvPr id="20" name="sidebar:2:body"/>
          <p:cNvSpPr txBox="1"/>
          <p:nvPr/>
        </p:nvSpPr>
        <p:spPr>
          <a:xfrm>
            <a:off x="5468112" y="3364992"/>
            <a:ext cx="321868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0.6875; discordant 4 and 2</a:t>
            </a:r>
            <a:endParaRPr lang="en-US" sz="1600" dirty="0"/>
          </a:p>
        </p:txBody>
      </p:sp>
      <p:sp>
        <p:nvSpPr>
          <p:cNvPr id="21" name="metadata:sidebar:caption"/>
          <p:cNvSpPr txBox="1"/>
          <p:nvPr/>
        </p:nvSpPr>
        <p:spPr>
          <a:xfrm>
            <a:off x="457200" y="438454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predictions; intervals are wide at this size. Invalid kept: score only 5 of 10, fact file 1 of 10. Dashed line at 0.5.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bench/runs/2026-10-17T1611Z-426bfe9 (stats.json, facts, renders) · Sources: S1</a:t>
            </a:r>
            <a:endParaRPr lang="en-US" sz="900" dirty="0"/>
          </a:p>
        </p:txBody>
      </p:sp>
      <p:sp>
        <p:nvSpPr>
          <p:cNvPr id="2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"/>
            <a:ext cx="50292" cy="52832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9" name="slide-title:content"/>
          <p:cNvSpPr txBox="1"/>
          <p:nvPr/>
        </p:nvSpPr>
        <p:spPr>
          <a:xfrm>
            <a:off x="640080" y="173736"/>
            <a:ext cx="80467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run does and does not establish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756920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88010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role-contract-slot:comparison:option-0"/>
          <p:cNvSpPr/>
          <p:nvPr/>
        </p:nvSpPr>
        <p:spPr>
          <a:xfrm>
            <a:off x="457200" y="1086104"/>
            <a:ext cx="3950208" cy="225730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3" name="comparison:0:title"/>
          <p:cNvSpPr txBox="1"/>
          <p:nvPr/>
        </p:nvSpPr>
        <p:spPr>
          <a:xfrm>
            <a:off x="603504" y="1232408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Measured</a:t>
            </a:r>
            <a:endParaRPr lang="en-US" sz="1600" dirty="0"/>
          </a:p>
        </p:txBody>
      </p:sp>
      <p:sp>
        <p:nvSpPr>
          <p:cNvPr id="14" name="comparison:0:body"/>
          <p:cNvSpPr txBox="1"/>
          <p:nvPr/>
        </p:nvSpPr>
        <p:spPr>
          <a:xfrm>
            <a:off x="603504" y="1721104"/>
            <a:ext cx="365760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predictions, 2 executors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prompt and response logged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Ground truth fixed in advance</a:t>
            </a:r>
            <a:endParaRPr lang="en-US" sz="1600" dirty="0"/>
          </a:p>
        </p:txBody>
      </p:sp>
      <p:sp>
        <p:nvSpPr>
          <p:cNvPr id="15" name="role-contract-slot:comparison:option-1"/>
          <p:cNvSpPr/>
          <p:nvPr/>
        </p:nvSpPr>
        <p:spPr>
          <a:xfrm>
            <a:off x="4736592" y="1086104"/>
            <a:ext cx="3950208" cy="225730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6" name="comparison:1:title"/>
          <p:cNvSpPr txBox="1"/>
          <p:nvPr/>
        </p:nvSpPr>
        <p:spPr>
          <a:xfrm>
            <a:off x="4882896" y="1232408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established</a:t>
            </a:r>
            <a:endParaRPr lang="en-US" sz="1600" dirty="0"/>
          </a:p>
        </p:txBody>
      </p:sp>
      <p:sp>
        <p:nvSpPr>
          <p:cNvPr id="17" name="comparison:1:body"/>
          <p:cNvSpPr txBox="1"/>
          <p:nvPr/>
        </p:nvSpPr>
        <p:spPr>
          <a:xfrm>
            <a:off x="4882896" y="1721104"/>
            <a:ext cx="365760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significant difference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Loss of binding (assumed)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Effect of prompt length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S1: bench/runs/2026-10-17T1611Z-426bfe9 (stats.json, facts, renders) · Sources: S1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Perturbation benchmark</dc:title>
  <dc:subject/>
  <dc:creator>Presentation Team</dc:creator>
  <cp:lastModifiedBy>Presentation Team</cp:lastModifiedBy>
  <cp:revision>1</cp:revision>
  <dcterms:created xsi:type="dcterms:W3CDTF">2026-10-17T20:39:52Z</dcterms:created>
  <dcterms:modified xsi:type="dcterms:W3CDTF">2026-10-17T20:39:54Z</dcterms:modified>
</cp:coreProperties>
</file>