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agent, same predictions, two kinds of evidence: the model confidence score alone, or the harness fact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system is predicted by Boltz-2 and DiffDock-L with three seeds. A wild-type prediction is valid when its medoid lies within 2 Å of the deposited ligand.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contact residues were cut to glycine. The confidence the model reports and the fact file for the same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Boltz-2: score only 0.5 (0.5 to 0.5), fact file 0.567 (0.25 to 0.929). DiffDock-L: score only 0.5 (0.5 to 0.5), fact file 0.5 (0.5 to 0.5).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 only kept 5 of 10 invalid predictions; the fact file arm kept 1 of 6 valid.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systems per executor support a demonstration, not a statistical claim. A length-matched control arm was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metadata:title-kicker"/>
          <p:cNvSpPr txBox="1"/>
          <p:nvPr/>
        </p:nvSpPr>
        <p:spPr>
          <a:xfrm>
            <a:off x="1645920" y="1265301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10" kern="0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9" name="decorative:role-contract-accent:title:heading"/>
          <p:cNvSpPr/>
          <p:nvPr/>
        </p:nvSpPr>
        <p:spPr>
          <a:xfrm>
            <a:off x="1645920" y="1484757"/>
            <a:ext cx="1051560" cy="411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slide-title:title"/>
          <p:cNvSpPr txBox="1"/>
          <p:nvPr/>
        </p:nvSpPr>
        <p:spPr>
          <a:xfrm>
            <a:off x="1645920" y="1594485"/>
            <a:ext cx="5852160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Does the fact file help reject invalid poses?</a:t>
            </a:r>
            <a:endParaRPr lang="en-US" sz="35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549015"/>
            <a:ext cx="5852160" cy="680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Perturbation benchmark, run 2026-10-17T1611Z-426bfe9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1/8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systems, each wild type and perturbed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738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Perturbed systems are invalid by construction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076960"/>
            <a:ext cx="2880360" cy="2743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65576" y="1086104"/>
            <a:ext cx="5221224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metadata:table-index-label"/>
          <p:cNvSpPr txBox="1"/>
          <p:nvPr/>
        </p:nvSpPr>
        <p:spPr>
          <a:xfrm>
            <a:off x="566928" y="1488440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 INDEX</a:t>
            </a:r>
            <a:endParaRPr lang="en-US" sz="900" dirty="0"/>
          </a:p>
        </p:txBody>
      </p:sp>
      <p:sp>
        <p:nvSpPr>
          <p:cNvPr id="13" name="metadata:table-index-detail"/>
          <p:cNvSpPr txBox="1"/>
          <p:nvPr/>
        </p:nvSpPr>
        <p:spPr>
          <a:xfrm>
            <a:off x="1645920" y="1488440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rows | System | Entry | Ligand | Perturbation</a:t>
            </a:r>
            <a:endParaRPr lang="en-US" sz="900" dirty="0"/>
          </a:p>
        </p:txBody>
      </p:sp>
      <p:graphicFrame>
        <p:nvGraphicFramePr>
          <p:cNvPr id="3" name="Editable table: Four systems, each wild type and perturb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2033"/>
          <a:ext cx="8229600" cy="2026173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System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Entry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Ligand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Perturbation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CDK2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1B38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FtsE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8X61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133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glucose dehydrogenase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2VWH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BGC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 hydroxyls methylated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MEK1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7XLP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FZC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7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2/8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983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perturbed prediction, two views (CDK2,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201115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1212088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role-contract-slot:comparison:option-0"/>
          <p:cNvSpPr/>
          <p:nvPr/>
        </p:nvSpPr>
        <p:spPr>
          <a:xfrm>
            <a:off x="457200" y="1541272"/>
            <a:ext cx="3950208" cy="3071876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2" name="comparison:0:title"/>
          <p:cNvSpPr txBox="1"/>
          <p:nvPr/>
        </p:nvSpPr>
        <p:spPr>
          <a:xfrm>
            <a:off x="603504" y="1687576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</a:t>
            </a:r>
            <a:endParaRPr lang="en-US" sz="1600" dirty="0"/>
          </a:p>
        </p:txBody>
      </p:sp>
      <p:sp>
        <p:nvSpPr>
          <p:cNvPr id="13" name="comparison:0:body"/>
          <p:cNvSpPr txBox="1"/>
          <p:nvPr/>
        </p:nvSpPr>
        <p:spPr>
          <a:xfrm>
            <a:off x="603504" y="2176272"/>
            <a:ext cx="3657600" cy="169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Confidence: ligand_iptm 0.947,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pocket_plddt 85,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confidence_score 0.894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Wild type: ligand_iptm 0.975,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pocket_plddt 94.9,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confidence_score 0.958</a:t>
            </a:r>
            <a:endParaRPr lang="en-US" sz="1600" dirty="0"/>
          </a:p>
        </p:txBody>
      </p:sp>
      <p:sp>
        <p:nvSpPr>
          <p:cNvPr id="14" name="role-contract-slot:comparison:option-1"/>
          <p:cNvSpPr/>
          <p:nvPr/>
        </p:nvSpPr>
        <p:spPr>
          <a:xfrm>
            <a:off x="4736592" y="1541272"/>
            <a:ext cx="3950208" cy="3071876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5" name="comparison:1:title"/>
          <p:cNvSpPr txBox="1"/>
          <p:nvPr/>
        </p:nvSpPr>
        <p:spPr>
          <a:xfrm>
            <a:off x="4882896" y="1687576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Harness fact file</a:t>
            </a:r>
            <a:endParaRPr lang="en-US" sz="1600" dirty="0"/>
          </a:p>
        </p:txBody>
      </p:sp>
      <p:sp>
        <p:nvSpPr>
          <p:cNvPr id="16" name="comparison:1:body"/>
          <p:cNvSpPr txBox="1"/>
          <p:nvPr/>
        </p:nvSpPr>
        <p:spPr>
          <a:xfrm>
            <a:off x="4882896" y="2176272"/>
            <a:ext cx="3657600" cy="169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PoseBusters 20 of 20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Deposited interactions recovered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of 9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Buried unsatisfied polars 5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Ensemble spread 0.894 Å;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cross-executor 2.66 Å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9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3/8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983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ligand stays in a pocket whose contacts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are gone</a:t>
            </a:r>
            <a:endParaRPr lang="en-US" sz="2800" dirty="0"/>
          </a:p>
        </p:txBody>
      </p:sp>
      <p:sp>
        <p:nvSpPr>
          <p:cNvPr id="9" name="support:scientific:A:title"/>
          <p:cNvSpPr txBox="1"/>
          <p:nvPr/>
        </p:nvSpPr>
        <p:spPr>
          <a:xfrm>
            <a:off x="530352" y="1568704"/>
            <a:ext cx="383133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wild type</a:t>
            </a:r>
            <a:endParaRPr lang="en-US" sz="1300" dirty="0"/>
          </a:p>
        </p:txBody>
      </p:sp>
      <p:pic>
        <p:nvPicPr>
          <p:cNvPr id="10" name="scientific:A:image" descr="PyMOL renders of the medoid poses, same view per pane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081" y="1944624"/>
            <a:ext cx="2235877" cy="1676908"/>
          </a:xfrm>
          <a:prstGeom prst="rect">
            <a:avLst/>
          </a:prstGeom>
        </p:spPr>
      </p:pic>
      <p:sp>
        <p:nvSpPr>
          <p:cNvPr id="11" name="metadata:scientific:A:caption"/>
          <p:cNvSpPr txBox="1"/>
          <p:nvPr/>
        </p:nvSpPr>
        <p:spPr>
          <a:xfrm>
            <a:off x="530352" y="3694684"/>
            <a:ext cx="3831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 medoid pose</a:t>
            </a:r>
            <a:endParaRPr lang="en-US" sz="900" dirty="0"/>
          </a:p>
        </p:txBody>
      </p:sp>
      <p:sp>
        <p:nvSpPr>
          <p:cNvPr id="12" name="support:scientific:B:title"/>
          <p:cNvSpPr txBox="1"/>
          <p:nvPr/>
        </p:nvSpPr>
        <p:spPr>
          <a:xfrm>
            <a:off x="4782312" y="1568704"/>
            <a:ext cx="383133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B. perturbed</a:t>
            </a:r>
            <a:endParaRPr lang="en-US" sz="1300" dirty="0"/>
          </a:p>
        </p:txBody>
      </p:sp>
      <p:pic>
        <p:nvPicPr>
          <p:cNvPr id="13" name="scientific:B:image" descr="PyMOL renders of the medoid poses, same view per panel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041" y="1944624"/>
            <a:ext cx="2235877" cy="1676908"/>
          </a:xfrm>
          <a:prstGeom prst="rect">
            <a:avLst/>
          </a:prstGeom>
        </p:spPr>
      </p:pic>
      <p:sp>
        <p:nvSpPr>
          <p:cNvPr id="14" name="metadata:scientific:B:caption"/>
          <p:cNvSpPr txBox="1"/>
          <p:nvPr/>
        </p:nvSpPr>
        <p:spPr>
          <a:xfrm>
            <a:off x="4782312" y="3694684"/>
            <a:ext cx="3831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 medoid pose</a:t>
            </a:r>
            <a:endParaRPr lang="en-US" sz="900" dirty="0"/>
          </a:p>
        </p:txBody>
      </p:sp>
      <p:sp>
        <p:nvSpPr>
          <p:cNvPr id="15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PyMOL renders of the medoid poses, same view per panel.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8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4/8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Confusion counts, pooled over both executors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50292"/>
            <a:ext cx="8229600" cy="20117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70409"/>
            <a:ext cx="8229600" cy="82296"/>
          </a:xfrm>
          <a:prstGeom prst="rect">
            <a:avLst/>
          </a:prstGeom>
          <a:solidFill>
            <a:srgbClr val="D1D5DB">
              <a:alpha val="26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metadata:table-index-label"/>
          <p:cNvSpPr txBox="1"/>
          <p:nvPr/>
        </p:nvSpPr>
        <p:spPr>
          <a:xfrm>
            <a:off x="566928" y="1159256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 INDEX</a:t>
            </a:r>
            <a:endParaRPr lang="en-US" sz="900" dirty="0"/>
          </a:p>
        </p:txBody>
      </p:sp>
      <p:sp>
        <p:nvSpPr>
          <p:cNvPr id="13" name="metadata:table-index-detail"/>
          <p:cNvSpPr txBox="1"/>
          <p:nvPr/>
        </p:nvSpPr>
        <p:spPr>
          <a:xfrm>
            <a:off x="1645920" y="1159256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rows | Arm | Valid kept | Valid rejected | Invalid kept | Invalid rejected</a:t>
            </a:r>
            <a:endParaRPr lang="en-US" sz="900" dirty="0"/>
          </a:p>
        </p:txBody>
      </p:sp>
      <p:graphicFrame>
        <p:nvGraphicFramePr>
          <p:cNvPr id="6" name="Editable table: Confusion counts, pooled over both executo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88810"/>
          <a:ext cx="8229600" cy="1876943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7990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Arm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Valid kept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Valid rejected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Invalid kept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Invalid rejected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538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Score only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8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Fact file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metadata:table-caption"/>
          <p:cNvSpPr txBox="1"/>
          <p:nvPr/>
        </p:nvSpPr>
        <p:spPr>
          <a:xfrm>
            <a:off x="457200" y="3638906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predictions (6 valid, 10 invalid); majority verdict over three repeats.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8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5/8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Balanced accuracy with 95% intervals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45947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756920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1" name="sidebar:figure" descr="Bootstrap over predictions; dashed line at 0.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2132"/>
            <a:ext cx="4608576" cy="28052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40096" y="1049528"/>
            <a:ext cx="36576" cy="133908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support:sidebar:0:title"/>
          <p:cNvSpPr txBox="1"/>
          <p:nvPr/>
        </p:nvSpPr>
        <p:spPr>
          <a:xfrm>
            <a:off x="5468112" y="1049528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Pooled</a:t>
            </a:r>
            <a:endParaRPr lang="en-US" sz="1300" dirty="0"/>
          </a:p>
        </p:txBody>
      </p:sp>
      <p:sp>
        <p:nvSpPr>
          <p:cNvPr id="14" name="sidebar:0:body"/>
          <p:cNvSpPr txBox="1"/>
          <p:nvPr/>
        </p:nvSpPr>
        <p:spPr>
          <a:xfrm>
            <a:off x="5468112" y="1471168"/>
            <a:ext cx="3218688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 0.5 (0.236 to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0.767); fact file 0.533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(0.375 to 0.75)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340096" y="2516632"/>
            <a:ext cx="36576" cy="107899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6" name="support:sidebar:1:title"/>
          <p:cNvSpPr txBox="1"/>
          <p:nvPr/>
        </p:nvSpPr>
        <p:spPr>
          <a:xfrm>
            <a:off x="5468112" y="2516632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McNemar</a:t>
            </a:r>
            <a:endParaRPr lang="en-US" sz="1300" dirty="0"/>
          </a:p>
        </p:txBody>
      </p:sp>
      <p:sp>
        <p:nvSpPr>
          <p:cNvPr id="17" name="sidebar:1:body"/>
          <p:cNvSpPr txBox="1"/>
          <p:nvPr/>
        </p:nvSpPr>
        <p:spPr>
          <a:xfrm>
            <a:off x="5468112" y="2938272"/>
            <a:ext cx="3218688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Exact p 0.6875 (4 for,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against)</a:t>
            </a:r>
            <a:endParaRPr lang="en-US" sz="1600" dirty="0"/>
          </a:p>
        </p:txBody>
      </p:sp>
      <p:sp>
        <p:nvSpPr>
          <p:cNvPr id="18" name="metadata:sidebar:caption"/>
          <p:cNvSpPr txBox="1"/>
          <p:nvPr/>
        </p:nvSpPr>
        <p:spPr>
          <a:xfrm>
            <a:off x="457200" y="4384548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Bootstrap over predictions; dashed line at 0.5.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21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6/8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per prediction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5692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724916"/>
            <a:ext cx="777240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upport:scientific:A:title"/>
          <p:cNvSpPr txBox="1"/>
          <p:nvPr/>
        </p:nvSpPr>
        <p:spPr>
          <a:xfrm>
            <a:off x="530352" y="1113536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300" dirty="0"/>
          </a:p>
        </p:txBody>
      </p:sp>
      <p:pic>
        <p:nvPicPr>
          <p:cNvPr id="12" name="scientific:A:image" descr="B2 Boltz-2, DD DiffDock-L. V valid, I invali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542930"/>
            <a:ext cx="8119872" cy="2308591"/>
          </a:xfrm>
          <a:prstGeom prst="rect">
            <a:avLst/>
          </a:prstGeom>
        </p:spPr>
      </p:pic>
      <p:sp>
        <p:nvSpPr>
          <p:cNvPr id="13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B2 Boltz-2, DD DiffDock-L. V valid, I invalid.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6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7/8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52832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this run does and does not establish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88010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role-contract-slot:comparison:option-0"/>
          <p:cNvSpPr/>
          <p:nvPr/>
        </p:nvSpPr>
        <p:spPr>
          <a:xfrm>
            <a:off x="457200" y="1086104"/>
            <a:ext cx="3950208" cy="225730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3" name="comparison:0:title"/>
          <p:cNvSpPr txBox="1"/>
          <p:nvPr/>
        </p:nvSpPr>
        <p:spPr>
          <a:xfrm>
            <a:off x="512064" y="1140968"/>
            <a:ext cx="384048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Measured</a:t>
            </a:r>
            <a:endParaRPr lang="en-US" sz="1600" dirty="0"/>
          </a:p>
        </p:txBody>
      </p:sp>
      <p:sp>
        <p:nvSpPr>
          <p:cNvPr id="14" name="comparison:0:body"/>
          <p:cNvSpPr txBox="1"/>
          <p:nvPr/>
        </p:nvSpPr>
        <p:spPr>
          <a:xfrm>
            <a:off x="512064" y="1629664"/>
            <a:ext cx="3840480" cy="143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predictions of 4 systems,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executors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prompt and response recorded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Ground truth fixed before any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</a:t>
            </a:r>
            <a:endParaRPr lang="en-US" sz="1600" dirty="0"/>
          </a:p>
        </p:txBody>
      </p:sp>
      <p:sp>
        <p:nvSpPr>
          <p:cNvPr id="15" name="role-contract-slot:comparison:option-1"/>
          <p:cNvSpPr/>
          <p:nvPr/>
        </p:nvSpPr>
        <p:spPr>
          <a:xfrm>
            <a:off x="4736592" y="1086104"/>
            <a:ext cx="3950208" cy="225730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6" name="comparison:1:title"/>
          <p:cNvSpPr txBox="1"/>
          <p:nvPr/>
        </p:nvSpPr>
        <p:spPr>
          <a:xfrm>
            <a:off x="4882896" y="1232408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established</a:t>
            </a:r>
            <a:endParaRPr lang="en-US" sz="1600" dirty="0"/>
          </a:p>
        </p:txBody>
      </p:sp>
      <p:sp>
        <p:nvSpPr>
          <p:cNvPr id="17" name="comparison:1:body"/>
          <p:cNvSpPr txBox="1"/>
          <p:nvPr/>
        </p:nvSpPr>
        <p:spPr>
          <a:xfrm>
            <a:off x="4882896" y="1721104"/>
            <a:ext cx="3657600" cy="143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statistical difference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between arms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Binding loss beyond the source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studies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Effect of prompt length alone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20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8/8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Perturbation benchmark</dc:title>
  <dc:subject/>
  <dc:creator>Presentation Team</dc:creator>
  <cp:lastModifiedBy>Presentation Team</cp:lastModifiedBy>
  <cp:revision>1</cp:revision>
  <dcterms:created xsi:type="dcterms:W3CDTF">2026-10-17T17:41:18Z</dcterms:created>
  <dcterms:modified xsi:type="dcterms:W3CDTF">2026-10-17T17:41:18Z</dcterms:modified>
</cp:coreProperties>
</file>