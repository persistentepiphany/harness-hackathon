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agent, same predictions, two kinds of evidence: the model confidence score alone, or the harness fact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system is predicted by Boltz-2 and DiffDock-L with three seeds. A wild-type prediction is valid when its medoid lies within 2 Å of the deposited ligand.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contact residues were cut to glycine. The confidence the model reports and the fact file for the same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Boltz-2: score only 0.5 (0.5 to 0.5), fact file 0.667 (0.5 to 1.0). DiffDock-L: score only 0.5 (0.5 to 0.5), fact file 0.5 (0.5 to 0.5).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only kept 5 of 10 invalid predictions; the fact file arm kept 1 of 6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systems per executor support a demonstration, not a statistical claim. A length-matched control arm was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1645920" y="1265301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1645920" y="1484757"/>
            <a:ext cx="1051560" cy="411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1645920" y="1594485"/>
            <a:ext cx="58521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the fact file help reject invalid poses?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49015"/>
            <a:ext cx="5852160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Perturbation benchmark, run 2026-10-17T1752Z-2f5a1c7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systems, each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Perturbed systems are invalid by construction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076960"/>
            <a:ext cx="28803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086104"/>
            <a:ext cx="52212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3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| System | Entry | Ligand | Perturbation</a:t>
            </a:r>
            <a:endParaRPr lang="en-US" sz="900" dirty="0"/>
          </a:p>
        </p:txBody>
      </p:sp>
      <p:graphicFrame>
        <p:nvGraphicFramePr>
          <p:cNvPr id="3" name="Editable table: Four systems, each wild type and perturb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2033"/>
          <a:ext cx="8229600" cy="2026173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Entry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Ligand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Perturbation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CDK2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1B38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FtsE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8X61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glucose dehydrogenase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2VWH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BGC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hydroxyls methylated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MEK1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7XLP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FZC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9032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perturbed prediction, two views</a:t>
            </a:r>
            <a:endParaRPr lang="en-US" sz="2800" dirty="0"/>
          </a:p>
        </p:txBody>
      </p:sp>
      <p:sp>
        <p:nvSpPr>
          <p:cNvPr id="10" name="support:slide-subtitle"/>
          <p:cNvSpPr txBox="1"/>
          <p:nvPr/>
        </p:nvSpPr>
        <p:spPr>
          <a:xfrm>
            <a:off x="640080" y="738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Boltz-2, 13 contacts to glycine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08610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17194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role-contract-slot:comparison:option-0"/>
          <p:cNvSpPr/>
          <p:nvPr/>
        </p:nvSpPr>
        <p:spPr>
          <a:xfrm>
            <a:off x="457200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</a:t>
            </a:r>
            <a:endParaRPr lang="en-US" sz="1600" dirty="0"/>
          </a:p>
        </p:txBody>
      </p:sp>
      <p:sp>
        <p:nvSpPr>
          <p:cNvPr id="15" name="comparison:0:body"/>
          <p:cNvSpPr txBox="1"/>
          <p:nvPr/>
        </p:nvSpPr>
        <p:spPr>
          <a:xfrm>
            <a:off x="603504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Confidence: ligand_iptm 0.951,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83.8,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0.895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Wild type: ligand_iptm 0.976,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94.5,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0.956</a:t>
            </a:r>
            <a:endParaRPr lang="en-US" sz="1600" dirty="0"/>
          </a:p>
        </p:txBody>
      </p:sp>
      <p:sp>
        <p:nvSpPr>
          <p:cNvPr id="16" name="role-contract-slot:comparison:option-1"/>
          <p:cNvSpPr/>
          <p:nvPr/>
        </p:nvSpPr>
        <p:spPr>
          <a:xfrm>
            <a:off x="4736592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Harness fact file</a:t>
            </a:r>
            <a:endParaRPr lang="en-US" sz="1600" dirty="0"/>
          </a:p>
        </p:txBody>
      </p:sp>
      <p:sp>
        <p:nvSpPr>
          <p:cNvPr id="18" name="comparison:1:body"/>
          <p:cNvSpPr txBox="1"/>
          <p:nvPr/>
        </p:nvSpPr>
        <p:spPr>
          <a:xfrm>
            <a:off x="4882896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PoseBusters 20 of 20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Deposited interactions recovered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of 9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Buried unsatisfied polars 6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Ensemble spread 7.96 Å;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cross-executor 2.51 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Medoid poses,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</a:t>
            </a:r>
            <a:endParaRPr lang="en-US" sz="1300" dirty="0"/>
          </a:p>
        </p:txBody>
      </p:sp>
      <p:sp>
        <p:nvSpPr>
          <p:cNvPr id="10" name="support:scientific:A:title"/>
          <p:cNvSpPr txBox="1"/>
          <p:nvPr/>
        </p:nvSpPr>
        <p:spPr>
          <a:xfrm>
            <a:off x="53035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wild type</a:t>
            </a:r>
            <a:endParaRPr lang="en-US" sz="1300" dirty="0"/>
          </a:p>
        </p:txBody>
      </p:sp>
      <p:pic>
        <p:nvPicPr>
          <p:cNvPr id="11" name="scientific:A:image" descr="Each panel oriented on its ligand; grey: residues ≤ 5 Å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092" y="1818640"/>
            <a:ext cx="2403856" cy="1802892"/>
          </a:xfrm>
          <a:prstGeom prst="rect">
            <a:avLst/>
          </a:prstGeom>
        </p:spPr>
      </p:pic>
      <p:sp>
        <p:nvSpPr>
          <p:cNvPr id="12" name="metadata:scientific:A:caption"/>
          <p:cNvSpPr txBox="1"/>
          <p:nvPr/>
        </p:nvSpPr>
        <p:spPr>
          <a:xfrm>
            <a:off x="53035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3" name="support:scientific:B:title"/>
          <p:cNvSpPr txBox="1"/>
          <p:nvPr/>
        </p:nvSpPr>
        <p:spPr>
          <a:xfrm>
            <a:off x="478231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perturbed</a:t>
            </a:r>
            <a:endParaRPr lang="en-US" sz="1300" dirty="0"/>
          </a:p>
        </p:txBody>
      </p:sp>
      <p:pic>
        <p:nvPicPr>
          <p:cNvPr id="14" name="scientific:B:image" descr="Each panel oriented on its ligand; grey: residues ≤ 5 Å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052" y="1818640"/>
            <a:ext cx="2403856" cy="1802892"/>
          </a:xfrm>
          <a:prstGeom prst="rect">
            <a:avLst/>
          </a:prstGeom>
        </p:spPr>
      </p:pic>
      <p:sp>
        <p:nvSpPr>
          <p:cNvPr id="15" name="metadata:scientific:B:caption"/>
          <p:cNvSpPr txBox="1"/>
          <p:nvPr/>
        </p:nvSpPr>
        <p:spPr>
          <a:xfrm>
            <a:off x="478231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6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panel oriented on its ligand; grey: residues ≤ 5 Å.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528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Confusion counts, executors pooled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75692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8801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metadata:table-index-label"/>
          <p:cNvSpPr txBox="1"/>
          <p:nvPr/>
        </p:nvSpPr>
        <p:spPr>
          <a:xfrm>
            <a:off x="566928" y="115925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3" name="metadata:table-index-detail"/>
          <p:cNvSpPr txBox="1"/>
          <p:nvPr/>
        </p:nvSpPr>
        <p:spPr>
          <a:xfrm>
            <a:off x="1645920" y="1159256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rows | Arm | Valid kept | Valid rejected | Invalid kept | Invalid rejected</a:t>
            </a:r>
            <a:endParaRPr lang="en-US" sz="900" dirty="0"/>
          </a:p>
        </p:txBody>
      </p:sp>
      <p:graphicFrame>
        <p:nvGraphicFramePr>
          <p:cNvPr id="6" name="Editable table: Confusion counts, executors pool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88810"/>
          <a:ext cx="8229600" cy="1876943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99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Valid kept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Valid rejected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Invalid kept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Invalid rejected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538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Score only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8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Fact file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metadata:table-caption"/>
          <p:cNvSpPr txBox="1"/>
          <p:nvPr/>
        </p:nvSpPr>
        <p:spPr>
          <a:xfrm>
            <a:off x="457200" y="363890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 (6 valid, 10 invalid); majority verdict over three repeats.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1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Balanced accuracy with 95% intervals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sidebar:figure" descr="Bootstrap over predictions; dashed line at 0.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2132"/>
            <a:ext cx="4608576" cy="28052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0096" y="1049528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upport:sidebar:0:title"/>
          <p:cNvSpPr txBox="1"/>
          <p:nvPr/>
        </p:nvSpPr>
        <p:spPr>
          <a:xfrm>
            <a:off x="5468112" y="1049528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only, pooled</a:t>
            </a:r>
            <a:endParaRPr lang="en-US" sz="1300" dirty="0"/>
          </a:p>
        </p:txBody>
      </p:sp>
      <p:sp>
        <p:nvSpPr>
          <p:cNvPr id="14" name="sidebar:0:body"/>
          <p:cNvSpPr txBox="1"/>
          <p:nvPr/>
        </p:nvSpPr>
        <p:spPr>
          <a:xfrm>
            <a:off x="5468112" y="1471168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 (0.236 to 0.767)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0096" y="1996440"/>
            <a:ext cx="36576" cy="81889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support:sidebar:1:title"/>
          <p:cNvSpPr txBox="1"/>
          <p:nvPr/>
        </p:nvSpPr>
        <p:spPr>
          <a:xfrm>
            <a:off x="5468112" y="1996440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file, pooled</a:t>
            </a:r>
            <a:endParaRPr lang="en-US" sz="1300" dirty="0"/>
          </a:p>
        </p:txBody>
      </p:sp>
      <p:sp>
        <p:nvSpPr>
          <p:cNvPr id="17" name="sidebar:1:body"/>
          <p:cNvSpPr txBox="1"/>
          <p:nvPr/>
        </p:nvSpPr>
        <p:spPr>
          <a:xfrm>
            <a:off x="5468112" y="2418080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0.583 (0.5 to 0.75)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0096" y="2943352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upport:sidebar:2:title"/>
          <p:cNvSpPr txBox="1"/>
          <p:nvPr/>
        </p:nvSpPr>
        <p:spPr>
          <a:xfrm>
            <a:off x="5468112" y="2943352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McNemar exact p</a:t>
            </a:r>
            <a:endParaRPr lang="en-US" sz="1300" dirty="0"/>
          </a:p>
        </p:txBody>
      </p:sp>
      <p:sp>
        <p:nvSpPr>
          <p:cNvPr id="20" name="sidebar:2:body"/>
          <p:cNvSpPr txBox="1"/>
          <p:nvPr/>
        </p:nvSpPr>
        <p:spPr>
          <a:xfrm>
            <a:off x="5468112" y="3364992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0.4531; discordant 5 and 2</a:t>
            </a:r>
            <a:endParaRPr lang="en-US" sz="1600" dirty="0"/>
          </a:p>
        </p:txBody>
      </p:sp>
      <p:sp>
        <p:nvSpPr>
          <p:cNvPr id="21" name="metadata:sidebar:caption"/>
          <p:cNvSpPr txBox="1"/>
          <p:nvPr/>
        </p:nvSpPr>
        <p:spPr>
          <a:xfrm>
            <a:off x="457200" y="43845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Bootstrap over predictions; dashed line at 0.5.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per prediction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5692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4916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Ground truth and majority verdict per prediction</a:t>
            </a:r>
            <a:endParaRPr lang="en-US" sz="1300" dirty="0"/>
          </a:p>
        </p:txBody>
      </p:sp>
      <p:pic>
        <p:nvPicPr>
          <p:cNvPr id="12" name="scientific:A:image" descr="B2 Boltz-2, DD DiffDock-L. V valid, I invali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542930"/>
            <a:ext cx="8119872" cy="2308591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 Boltz-2, DD DiffDock-L. V valid, I invalid.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528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run does and does not establish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75692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8801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role-contract-slot:comparison:option-0"/>
          <p:cNvSpPr/>
          <p:nvPr/>
        </p:nvSpPr>
        <p:spPr>
          <a:xfrm>
            <a:off x="457200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comparison:0:title"/>
          <p:cNvSpPr txBox="1"/>
          <p:nvPr/>
        </p:nvSpPr>
        <p:spPr>
          <a:xfrm>
            <a:off x="603504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4" name="comparison:0:body"/>
          <p:cNvSpPr txBox="1"/>
          <p:nvPr/>
        </p:nvSpPr>
        <p:spPr>
          <a:xfrm>
            <a:off x="603504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predictions, 2 executors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prompt and response logged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 truth fixed in advance</a:t>
            </a:r>
            <a:endParaRPr lang="en-US" sz="1600" dirty="0"/>
          </a:p>
        </p:txBody>
      </p:sp>
      <p:sp>
        <p:nvSpPr>
          <p:cNvPr id="15" name="role-contract-slot:comparison:option-1"/>
          <p:cNvSpPr/>
          <p:nvPr/>
        </p:nvSpPr>
        <p:spPr>
          <a:xfrm>
            <a:off x="4736592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6" name="comparison:1:title"/>
          <p:cNvSpPr txBox="1"/>
          <p:nvPr/>
        </p:nvSpPr>
        <p:spPr>
          <a:xfrm>
            <a:off x="4882896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established</a:t>
            </a:r>
            <a:endParaRPr lang="en-US" sz="1600" dirty="0"/>
          </a:p>
        </p:txBody>
      </p:sp>
      <p:sp>
        <p:nvSpPr>
          <p:cNvPr id="17" name="comparison:1:body"/>
          <p:cNvSpPr txBox="1"/>
          <p:nvPr/>
        </p:nvSpPr>
        <p:spPr>
          <a:xfrm>
            <a:off x="4882896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significant difference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Loss of binding (assumed)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Effect of prompt length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bench/runs/2026-10-17T1752Z-2f5a1c7 (stats.json, facts, renders) · Sources: S1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Perturbation benchmark</dc:title>
  <dc:subject/>
  <dc:creator>Presentation Team</dc:creator>
  <cp:lastModifiedBy>Presentation Team</cp:lastModifiedBy>
  <cp:revision>1</cp:revision>
  <dcterms:created xsi:type="dcterms:W3CDTF">2026-10-17T18:48:51Z</dcterms:created>
  <dcterms:modified xsi:type="dcterms:W3CDTF">2026-10-17T18:48:51Z</dcterms:modified>
</cp:coreProperties>
</file>