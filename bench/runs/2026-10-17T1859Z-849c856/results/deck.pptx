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agent, same predictions, two kinds of evidence: the model confidence score alone, or the harness fact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system is predicted by Boltz-2 and DiffDock-L with three seeds. A wild-type prediction is valid when its medoid lies within 2 Å of the deposited ligand.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contact residues were cut to glycine. The confidence the model reports and the fact file for the same prediction.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Boltz-2: score only 0.5 (0.5 to 0.5), fact file 0.833 (0.5 to 1.0). DiffDock-L: score only 0.5 (0.5 to 0.5), fact file 0.667 (0.5 to 1.0).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Score only kept 5 of 10 invalid predictions; the fact file arm kept 3 of 6 valid.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systems per executor support a demonstration, not a statistical claim. A length-matched control arm was not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metadata:title-kicker"/>
          <p:cNvSpPr txBox="1"/>
          <p:nvPr/>
        </p:nvSpPr>
        <p:spPr>
          <a:xfrm>
            <a:off x="1645920" y="1265301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110" kern="0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PRESENTATION</a:t>
            </a:r>
            <a:endParaRPr lang="en-US" sz="900" dirty="0"/>
          </a:p>
        </p:txBody>
      </p:sp>
      <p:sp>
        <p:nvSpPr>
          <p:cNvPr id="9" name="decorative:role-contract-accent:title:heading"/>
          <p:cNvSpPr/>
          <p:nvPr/>
        </p:nvSpPr>
        <p:spPr>
          <a:xfrm>
            <a:off x="1645920" y="1484757"/>
            <a:ext cx="1051560" cy="4114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0" name="slide-title:title"/>
          <p:cNvSpPr txBox="1"/>
          <p:nvPr/>
        </p:nvSpPr>
        <p:spPr>
          <a:xfrm>
            <a:off x="1645920" y="1594485"/>
            <a:ext cx="5852160" cy="1543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Does the fact file help reject invalid poses?</a:t>
            </a:r>
            <a:endParaRPr lang="en-US" sz="35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549015"/>
            <a:ext cx="5852160" cy="680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Perturbation benchmark, run 2026-10-17T1859Z-849c856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1/8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Four systems, each wild type and perturbed</a:t>
            </a:r>
            <a:endParaRPr lang="en-US" sz="2800" dirty="0"/>
          </a:p>
        </p:txBody>
      </p:sp>
      <p:sp>
        <p:nvSpPr>
          <p:cNvPr id="9" name="support:slide-subtitle"/>
          <p:cNvSpPr txBox="1"/>
          <p:nvPr/>
        </p:nvSpPr>
        <p:spPr>
          <a:xfrm>
            <a:off x="457200" y="7386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Perturbed systems are invalid by construction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076960"/>
            <a:ext cx="2880360" cy="27432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65576" y="1086104"/>
            <a:ext cx="5221224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metadata:table-index-label"/>
          <p:cNvSpPr txBox="1"/>
          <p:nvPr/>
        </p:nvSpPr>
        <p:spPr>
          <a:xfrm>
            <a:off x="566928" y="1488440"/>
            <a:ext cx="9692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TABLE INDEX</a:t>
            </a:r>
            <a:endParaRPr lang="en-US" sz="900" dirty="0"/>
          </a:p>
        </p:txBody>
      </p:sp>
      <p:sp>
        <p:nvSpPr>
          <p:cNvPr id="13" name="metadata:table-index-detail"/>
          <p:cNvSpPr txBox="1"/>
          <p:nvPr/>
        </p:nvSpPr>
        <p:spPr>
          <a:xfrm>
            <a:off x="1645920" y="1488440"/>
            <a:ext cx="69311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rows | System | Entry | Ligand | Perturbation</a:t>
            </a:r>
            <a:endParaRPr lang="en-US" sz="900" dirty="0"/>
          </a:p>
        </p:txBody>
      </p:sp>
      <p:graphicFrame>
        <p:nvGraphicFramePr>
          <p:cNvPr id="3" name="Editable table: Four systems, each wild type and perturbe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2033"/>
          <a:ext cx="8229600" cy="2026173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3532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System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Entry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Ligand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Perturbation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3532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CDK2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1B38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ATP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13 contacts to Gly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532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FtsE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8X61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ATP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 contacts to Gly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133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glucose dehydrogenase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2VWH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BGC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 hydroxyls methylated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532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MEK1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7XLP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FZC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11 contacts to Gly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bench/runs/2026-10-17T1859Z-849c856 (stats.json, facts, renders) · Sources: S1</a:t>
            </a:r>
            <a:endParaRPr lang="en-US" sz="900" dirty="0"/>
          </a:p>
        </p:txBody>
      </p:sp>
      <p:sp>
        <p:nvSpPr>
          <p:cNvPr id="17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2/8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92024"/>
            <a:ext cx="50292" cy="90322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9" name="slide-title:content"/>
          <p:cNvSpPr txBox="1"/>
          <p:nvPr/>
        </p:nvSpPr>
        <p:spPr>
          <a:xfrm>
            <a:off x="640080" y="173736"/>
            <a:ext cx="804672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perturbed prediction, two views</a:t>
            </a:r>
            <a:endParaRPr lang="en-US" sz="2800" dirty="0"/>
          </a:p>
        </p:txBody>
      </p:sp>
      <p:sp>
        <p:nvSpPr>
          <p:cNvPr id="10" name="support:slide-subtitle"/>
          <p:cNvSpPr txBox="1"/>
          <p:nvPr/>
        </p:nvSpPr>
        <p:spPr>
          <a:xfrm>
            <a:off x="640080" y="73863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CDK2, Boltz-2, 13 contacts to glycine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086104"/>
            <a:ext cx="8229600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117194"/>
            <a:ext cx="1097280" cy="2377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3" name="role-contract-slot:comparison:option-0"/>
          <p:cNvSpPr/>
          <p:nvPr/>
        </p:nvSpPr>
        <p:spPr>
          <a:xfrm>
            <a:off x="457200" y="1415288"/>
            <a:ext cx="3950208" cy="3197860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</p:sp>
      <p:sp>
        <p:nvSpPr>
          <p:cNvPr id="14" name="comparison:0:title"/>
          <p:cNvSpPr txBox="1"/>
          <p:nvPr/>
        </p:nvSpPr>
        <p:spPr>
          <a:xfrm>
            <a:off x="603504" y="1561592"/>
            <a:ext cx="365760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Score only</a:t>
            </a:r>
            <a:endParaRPr lang="en-US" sz="1600" dirty="0"/>
          </a:p>
        </p:txBody>
      </p:sp>
      <p:sp>
        <p:nvSpPr>
          <p:cNvPr id="15" name="comparison:0:body"/>
          <p:cNvSpPr txBox="1"/>
          <p:nvPr/>
        </p:nvSpPr>
        <p:spPr>
          <a:xfrm>
            <a:off x="603504" y="2050288"/>
            <a:ext cx="3657600" cy="1697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Confidence: ligand_iptm 0.925,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pocket_plddt 82.3,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confidence_score 0.877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Wild type: ligand_iptm 0.978,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pocket_plddt 95.1,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confidence_score 0.958</a:t>
            </a:r>
            <a:endParaRPr lang="en-US" sz="1600" dirty="0"/>
          </a:p>
        </p:txBody>
      </p:sp>
      <p:sp>
        <p:nvSpPr>
          <p:cNvPr id="16" name="role-contract-slot:comparison:option-1"/>
          <p:cNvSpPr/>
          <p:nvPr/>
        </p:nvSpPr>
        <p:spPr>
          <a:xfrm>
            <a:off x="4736592" y="1415288"/>
            <a:ext cx="3950208" cy="3197860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</p:sp>
      <p:sp>
        <p:nvSpPr>
          <p:cNvPr id="17" name="comparison:1:title"/>
          <p:cNvSpPr txBox="1"/>
          <p:nvPr/>
        </p:nvSpPr>
        <p:spPr>
          <a:xfrm>
            <a:off x="4882896" y="1561592"/>
            <a:ext cx="365760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3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Harness fact file</a:t>
            </a:r>
            <a:endParaRPr lang="en-US" sz="1600" dirty="0"/>
          </a:p>
        </p:txBody>
      </p:sp>
      <p:sp>
        <p:nvSpPr>
          <p:cNvPr id="18" name="comparison:1:body"/>
          <p:cNvSpPr txBox="1"/>
          <p:nvPr/>
        </p:nvSpPr>
        <p:spPr>
          <a:xfrm>
            <a:off x="4882896" y="2050288"/>
            <a:ext cx="3657600" cy="1697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PoseBusters 20 of 20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Deposited interactions recovered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 of 9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Buried unsatisfied polars 4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Ensemble spread 1.3 Å;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cross-executor 2.31 Å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bench/runs/2026-10-17T1859Z-849c856 (stats.json, facts, renders) · Sources: S1</a:t>
            </a:r>
            <a:endParaRPr lang="en-US" sz="900" dirty="0"/>
          </a:p>
        </p:txBody>
      </p:sp>
      <p:sp>
        <p:nvSpPr>
          <p:cNvPr id="21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3/8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Medoid poses, wild type and perturbed</a:t>
            </a:r>
            <a:endParaRPr lang="en-US" sz="2800" dirty="0"/>
          </a:p>
        </p:txBody>
      </p:sp>
      <p:sp>
        <p:nvSpPr>
          <p:cNvPr id="9" name="support:slide-subtitle"/>
          <p:cNvSpPr txBox="1"/>
          <p:nvPr/>
        </p:nvSpPr>
        <p:spPr>
          <a:xfrm>
            <a:off x="457200" y="7386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CDK2, Boltz-2</a:t>
            </a:r>
            <a:endParaRPr lang="en-US" sz="1300" dirty="0"/>
          </a:p>
        </p:txBody>
      </p:sp>
      <p:sp>
        <p:nvSpPr>
          <p:cNvPr id="10" name="support:scientific:A:title"/>
          <p:cNvSpPr txBox="1"/>
          <p:nvPr/>
        </p:nvSpPr>
        <p:spPr>
          <a:xfrm>
            <a:off x="530352" y="1442720"/>
            <a:ext cx="3831336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A. wild type</a:t>
            </a:r>
            <a:endParaRPr lang="en-US" sz="1300" dirty="0"/>
          </a:p>
        </p:txBody>
      </p:sp>
      <p:pic>
        <p:nvPicPr>
          <p:cNvPr id="11" name="scientific:A:image" descr="Each panel oriented on its ligand; grey: residues ≤ 5 Å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4092" y="1818640"/>
            <a:ext cx="2403856" cy="1802892"/>
          </a:xfrm>
          <a:prstGeom prst="rect">
            <a:avLst/>
          </a:prstGeom>
        </p:spPr>
      </p:pic>
      <p:sp>
        <p:nvSpPr>
          <p:cNvPr id="12" name="metadata:scientific:A:caption"/>
          <p:cNvSpPr txBox="1"/>
          <p:nvPr/>
        </p:nvSpPr>
        <p:spPr>
          <a:xfrm>
            <a:off x="530352" y="3694684"/>
            <a:ext cx="38313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Boltz-2 medoid pose</a:t>
            </a:r>
            <a:endParaRPr lang="en-US" sz="900" dirty="0"/>
          </a:p>
        </p:txBody>
      </p:sp>
      <p:sp>
        <p:nvSpPr>
          <p:cNvPr id="13" name="support:scientific:B:title"/>
          <p:cNvSpPr txBox="1"/>
          <p:nvPr/>
        </p:nvSpPr>
        <p:spPr>
          <a:xfrm>
            <a:off x="4782312" y="1442720"/>
            <a:ext cx="3831336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B. perturbed</a:t>
            </a:r>
            <a:endParaRPr lang="en-US" sz="1300" dirty="0"/>
          </a:p>
        </p:txBody>
      </p:sp>
      <p:pic>
        <p:nvPicPr>
          <p:cNvPr id="14" name="scientific:B:image" descr="Each panel oriented on its ligand; grey: residues ≤ 5 Å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6052" y="1818640"/>
            <a:ext cx="2403856" cy="1802892"/>
          </a:xfrm>
          <a:prstGeom prst="rect">
            <a:avLst/>
          </a:prstGeom>
        </p:spPr>
      </p:pic>
      <p:sp>
        <p:nvSpPr>
          <p:cNvPr id="15" name="metadata:scientific:B:caption"/>
          <p:cNvSpPr txBox="1"/>
          <p:nvPr/>
        </p:nvSpPr>
        <p:spPr>
          <a:xfrm>
            <a:off x="4782312" y="3694684"/>
            <a:ext cx="38313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Boltz-2 medoid pose</a:t>
            </a:r>
            <a:endParaRPr lang="en-US" sz="900" dirty="0"/>
          </a:p>
        </p:txBody>
      </p:sp>
      <p:sp>
        <p:nvSpPr>
          <p:cNvPr id="16" name="scientific:complete-readout"/>
          <p:cNvSpPr txBox="1"/>
          <p:nvPr/>
        </p:nvSpPr>
        <p:spPr>
          <a:xfrm>
            <a:off x="585216" y="4197604"/>
            <a:ext cx="797356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panel oriented on its ligand; grey: residues ≤ 5 Å.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bench/runs/2026-10-17T1859Z-849c856 (stats.json, facts, renders) · Sources: S1</a:t>
            </a:r>
            <a:endParaRPr lang="en-US" sz="900" dirty="0"/>
          </a:p>
        </p:txBody>
      </p:sp>
      <p:sp>
        <p:nvSpPr>
          <p:cNvPr id="19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4/8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92024"/>
            <a:ext cx="50292" cy="528320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9" name="slide-title:content"/>
          <p:cNvSpPr txBox="1"/>
          <p:nvPr/>
        </p:nvSpPr>
        <p:spPr>
          <a:xfrm>
            <a:off x="640080" y="173736"/>
            <a:ext cx="804672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Confusion counts, executors pooled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57200" y="756920"/>
            <a:ext cx="8229600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788010"/>
            <a:ext cx="1097280" cy="2377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2" name="metadata:table-index-label"/>
          <p:cNvSpPr txBox="1"/>
          <p:nvPr/>
        </p:nvSpPr>
        <p:spPr>
          <a:xfrm>
            <a:off x="566928" y="1159256"/>
            <a:ext cx="9692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TABLE INDEX</a:t>
            </a:r>
            <a:endParaRPr lang="en-US" sz="900" dirty="0"/>
          </a:p>
        </p:txBody>
      </p:sp>
      <p:sp>
        <p:nvSpPr>
          <p:cNvPr id="13" name="metadata:table-index-detail"/>
          <p:cNvSpPr txBox="1"/>
          <p:nvPr/>
        </p:nvSpPr>
        <p:spPr>
          <a:xfrm>
            <a:off x="1645920" y="1159256"/>
            <a:ext cx="69311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rows | Arm | Valid kept | Valid rejected | Invalid kept | Invalid rejected</a:t>
            </a:r>
            <a:endParaRPr lang="en-US" sz="900" dirty="0"/>
          </a:p>
        </p:txBody>
      </p:sp>
      <p:graphicFrame>
        <p:nvGraphicFramePr>
          <p:cNvPr id="6" name="Editable table: Confusion counts, executors poole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88810"/>
          <a:ext cx="8229600" cy="1876943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79904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Arm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Valid kept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Valid rejected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Invalid kept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Invalid rejected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538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Score only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38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Fact file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10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metadata:table-caption"/>
          <p:cNvSpPr txBox="1"/>
          <p:nvPr/>
        </p:nvSpPr>
        <p:spPr>
          <a:xfrm>
            <a:off x="457200" y="3638906"/>
            <a:ext cx="8229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 predictions (6 valid, 10 invalid); majority verdict over three repeats.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bench/runs/2026-10-17T1859Z-849c856 (stats.json, facts, renders) · Sources: S1</a:t>
            </a:r>
            <a:endParaRPr lang="en-US" sz="900" dirty="0"/>
          </a:p>
        </p:txBody>
      </p:sp>
      <p:sp>
        <p:nvSpPr>
          <p:cNvPr id="18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5/8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Balanced accuracy with 95% intervals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745947"/>
            <a:ext cx="2377440" cy="31090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4368" y="756920"/>
            <a:ext cx="5742432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11" name="sidebar:figure" descr="Bootstrap over predictions; dashed line at 0.5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2132"/>
            <a:ext cx="4608576" cy="28052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340096" y="1049528"/>
            <a:ext cx="36576" cy="81889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3" name="support:sidebar:0:title"/>
          <p:cNvSpPr txBox="1"/>
          <p:nvPr/>
        </p:nvSpPr>
        <p:spPr>
          <a:xfrm>
            <a:off x="5468112" y="1049528"/>
            <a:ext cx="3218688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Score only, pooled</a:t>
            </a:r>
            <a:endParaRPr lang="en-US" sz="1300" dirty="0"/>
          </a:p>
        </p:txBody>
      </p:sp>
      <p:sp>
        <p:nvSpPr>
          <p:cNvPr id="14" name="sidebar:0:body"/>
          <p:cNvSpPr txBox="1"/>
          <p:nvPr/>
        </p:nvSpPr>
        <p:spPr>
          <a:xfrm>
            <a:off x="5468112" y="1471168"/>
            <a:ext cx="321868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0.5 (0.236 to 0.767)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340096" y="1996440"/>
            <a:ext cx="36576" cy="818896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6" name="support:sidebar:1:title"/>
          <p:cNvSpPr txBox="1"/>
          <p:nvPr/>
        </p:nvSpPr>
        <p:spPr>
          <a:xfrm>
            <a:off x="5468112" y="1996440"/>
            <a:ext cx="3218688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3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Fact file, pooled</a:t>
            </a:r>
            <a:endParaRPr lang="en-US" sz="1300" dirty="0"/>
          </a:p>
        </p:txBody>
      </p:sp>
      <p:sp>
        <p:nvSpPr>
          <p:cNvPr id="17" name="sidebar:1:body"/>
          <p:cNvSpPr txBox="1"/>
          <p:nvPr/>
        </p:nvSpPr>
        <p:spPr>
          <a:xfrm>
            <a:off x="5468112" y="2418080"/>
            <a:ext cx="321868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0.75 (0.5 to 1.0)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340096" y="2943352"/>
            <a:ext cx="36576" cy="81889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9" name="support:sidebar:2:title"/>
          <p:cNvSpPr txBox="1"/>
          <p:nvPr/>
        </p:nvSpPr>
        <p:spPr>
          <a:xfrm>
            <a:off x="5468112" y="2943352"/>
            <a:ext cx="3218688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McNemar exact p</a:t>
            </a:r>
            <a:endParaRPr lang="en-US" sz="1300" dirty="0"/>
          </a:p>
        </p:txBody>
      </p:sp>
      <p:sp>
        <p:nvSpPr>
          <p:cNvPr id="20" name="sidebar:2:body"/>
          <p:cNvSpPr txBox="1"/>
          <p:nvPr/>
        </p:nvSpPr>
        <p:spPr>
          <a:xfrm>
            <a:off x="5468112" y="3364992"/>
            <a:ext cx="321868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0.125; discordant 6 and 1</a:t>
            </a:r>
            <a:endParaRPr lang="en-US" sz="1600" dirty="0"/>
          </a:p>
        </p:txBody>
      </p:sp>
      <p:sp>
        <p:nvSpPr>
          <p:cNvPr id="21" name="metadata:sidebar:caption"/>
          <p:cNvSpPr txBox="1"/>
          <p:nvPr/>
        </p:nvSpPr>
        <p:spPr>
          <a:xfrm>
            <a:off x="457200" y="4384548"/>
            <a:ext cx="8229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Bootstrap over predictions; dashed line at 0.5.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bench/runs/2026-10-17T1859Z-849c856 (stats.json, facts, renders) · Sources: S1</a:t>
            </a:r>
            <a:endParaRPr lang="en-US" sz="900" dirty="0"/>
          </a:p>
        </p:txBody>
      </p:sp>
      <p:sp>
        <p:nvSpPr>
          <p:cNvPr id="24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6/8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 per prediction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75692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724916"/>
            <a:ext cx="777240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1" name="support:scientific:A:title"/>
          <p:cNvSpPr txBox="1"/>
          <p:nvPr/>
        </p:nvSpPr>
        <p:spPr>
          <a:xfrm>
            <a:off x="530352" y="1113536"/>
            <a:ext cx="8083296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A. Ground truth and majority verdict per prediction</a:t>
            </a:r>
            <a:endParaRPr lang="en-US" sz="1300" dirty="0"/>
          </a:p>
        </p:txBody>
      </p:sp>
      <p:pic>
        <p:nvPicPr>
          <p:cNvPr id="12" name="scientific:A:image" descr="B2 Boltz-2, DD DiffDock-L. V valid, I invali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542930"/>
            <a:ext cx="8119872" cy="2308591"/>
          </a:xfrm>
          <a:prstGeom prst="rect">
            <a:avLst/>
          </a:prstGeom>
        </p:spPr>
      </p:pic>
      <p:sp>
        <p:nvSpPr>
          <p:cNvPr id="13" name="scientific:complete-readout"/>
          <p:cNvSpPr txBox="1"/>
          <p:nvPr/>
        </p:nvSpPr>
        <p:spPr>
          <a:xfrm>
            <a:off x="585216" y="4197604"/>
            <a:ext cx="797356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B2 Boltz-2, DD DiffDock-L. V valid, I invalid.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bench/runs/2026-10-17T1859Z-849c856 (stats.json, facts, renders) · Sources: S1</a:t>
            </a:r>
            <a:endParaRPr lang="en-US" sz="900" dirty="0"/>
          </a:p>
        </p:txBody>
      </p:sp>
      <p:sp>
        <p:nvSpPr>
          <p:cNvPr id="16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7/8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92024"/>
            <a:ext cx="50292" cy="528320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9" name="slide-title:content"/>
          <p:cNvSpPr txBox="1"/>
          <p:nvPr/>
        </p:nvSpPr>
        <p:spPr>
          <a:xfrm>
            <a:off x="640080" y="173736"/>
            <a:ext cx="804672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this run does and does not establish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57200" y="756920"/>
            <a:ext cx="8229600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788010"/>
            <a:ext cx="1097280" cy="2377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2" name="role-contract-slot:comparison:option-0"/>
          <p:cNvSpPr/>
          <p:nvPr/>
        </p:nvSpPr>
        <p:spPr>
          <a:xfrm>
            <a:off x="457200" y="1086104"/>
            <a:ext cx="3950208" cy="225730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</p:sp>
      <p:sp>
        <p:nvSpPr>
          <p:cNvPr id="13" name="comparison:0:title"/>
          <p:cNvSpPr txBox="1"/>
          <p:nvPr/>
        </p:nvSpPr>
        <p:spPr>
          <a:xfrm>
            <a:off x="603504" y="1232408"/>
            <a:ext cx="365760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Measured</a:t>
            </a:r>
            <a:endParaRPr lang="en-US" sz="1600" dirty="0"/>
          </a:p>
        </p:txBody>
      </p:sp>
      <p:sp>
        <p:nvSpPr>
          <p:cNvPr id="14" name="comparison:0:body"/>
          <p:cNvSpPr txBox="1"/>
          <p:nvPr/>
        </p:nvSpPr>
        <p:spPr>
          <a:xfrm>
            <a:off x="603504" y="1721104"/>
            <a:ext cx="3657600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 predictions, 2 executors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prompt and response logged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Ground truth fixed in advance</a:t>
            </a:r>
            <a:endParaRPr lang="en-US" sz="1600" dirty="0"/>
          </a:p>
        </p:txBody>
      </p:sp>
      <p:sp>
        <p:nvSpPr>
          <p:cNvPr id="15" name="role-contract-slot:comparison:option-1"/>
          <p:cNvSpPr/>
          <p:nvPr/>
        </p:nvSpPr>
        <p:spPr>
          <a:xfrm>
            <a:off x="4736592" y="1086104"/>
            <a:ext cx="3950208" cy="225730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</p:sp>
      <p:sp>
        <p:nvSpPr>
          <p:cNvPr id="16" name="comparison:1:title"/>
          <p:cNvSpPr txBox="1"/>
          <p:nvPr/>
        </p:nvSpPr>
        <p:spPr>
          <a:xfrm>
            <a:off x="4882896" y="1232408"/>
            <a:ext cx="365760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3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established</a:t>
            </a:r>
            <a:endParaRPr lang="en-US" sz="1600" dirty="0"/>
          </a:p>
        </p:txBody>
      </p:sp>
      <p:sp>
        <p:nvSpPr>
          <p:cNvPr id="17" name="comparison:1:body"/>
          <p:cNvSpPr txBox="1"/>
          <p:nvPr/>
        </p:nvSpPr>
        <p:spPr>
          <a:xfrm>
            <a:off x="4882896" y="1721104"/>
            <a:ext cx="3657600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significant difference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Loss of binding (assumed)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Effect of prompt length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bench/runs/2026-10-17T1859Z-849c856 (stats.json, facts, renders) · Sources: S1</a:t>
            </a:r>
            <a:endParaRPr lang="en-US" sz="900" dirty="0"/>
          </a:p>
        </p:txBody>
      </p:sp>
      <p:sp>
        <p:nvSpPr>
          <p:cNvPr id="20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8/8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Perturbation benchmark</dc:title>
  <dc:subject/>
  <dc:creator>Presentation Team</dc:creator>
  <cp:lastModifiedBy>Presentation Team</cp:lastModifiedBy>
  <cp:revision>1</cp:revision>
  <dcterms:created xsi:type="dcterms:W3CDTF">2026-10-17T19:56:14Z</dcterms:created>
  <dcterms:modified xsi:type="dcterms:W3CDTF">2026-10-17T19:56:14Z</dcterms:modified>
</cp:coreProperties>
</file>